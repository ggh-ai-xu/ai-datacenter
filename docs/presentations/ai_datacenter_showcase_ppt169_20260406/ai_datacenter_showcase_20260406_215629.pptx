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2.xml"/>
</Relationships>
</file>

<file path=ppt/notesSlides/_rels/notesSlide2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3.xml"/>
</Relationships>
</file>

<file path=ppt/notesSlides/_rels/notesSlide2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4.xml"/>
</Relationships>
</file>

<file path=ppt/notesSlides/_rels/notesSlide2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这页先把项目定位立住。我们的目标不是做一个只会展示 GPU 数据的面板，而是做一套共享算力治理平台。[停顿] 后面所有页面都围绕登录、导入、范围和治理这四个关键词展开。</a:t>
            </a:r>
          </a:p>
          <a:p>
            <a:endParaRPr lang="zh-CN" dirty="0"/>
          </a:p>
          <a:p>
            <a:r>
              <a:rPr lang="zh-CN" dirty="0"/>
              <a:t>要点：① 项目是治理平台而非监控看板 ② 共享算力场景是主要应用背景 ③ 后续内容围绕闭环能力展开</a:t>
            </a:r>
          </a:p>
          <a:p>
            <a:r>
              <a:rPr lang="zh-CN" dirty="0"/>
              <a:t>时长：0.8 分钟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在进入细节之前，先回答一个最核心的问题：我们到底做的是什么。AI DataCenter 把平台身份、导入边界和控制台治理组织成了一条完整主线，因此它首先是平台而不是单页工具。</a:t>
            </a:r>
          </a:p>
          <a:p>
            <a:endParaRPr lang="zh-CN" dirty="0"/>
          </a:p>
          <a:p>
            <a:r>
              <a:rPr lang="zh-CN" dirty="0"/>
              <a:t>要点：① 一句话项目定义 ② 登录、导入、控制台职责分离 ③ 平台化是核心差异</a:t>
            </a:r>
          </a:p>
          <a:p>
            <a:r>
              <a:rPr lang="zh-CN" dirty="0"/>
              <a:t>时长：0.8 分钟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为什么会需要这样一套平台？因为共享 GPU 已经不是少数人的场景。多角色、多机器、多任务同时出现之后，管理成本不再是线性的。</a:t>
            </a:r>
          </a:p>
          <a:p>
            <a:endParaRPr lang="zh-CN" dirty="0"/>
          </a:p>
          <a:p>
            <a:r>
              <a:rPr lang="zh-CN" dirty="0"/>
              <a:t>要点：① 共享 GPU 场景普及 ② 三类结构性矛盾 ③ 看得到资源不等于能治理资源</a:t>
            </a:r>
          </a:p>
          <a:p>
            <a:r>
              <a:rPr lang="zh-CN" dirty="0"/>
              <a:t>时长：0.9 分钟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如果沿用传统 SSH、脚本和零散监控页，平台会把复杂性转移给人。[停顿] 入口分散、边界模糊、安全薄弱和复盘困难，是当前方式最集中的四个问题。</a:t>
            </a:r>
          </a:p>
          <a:p>
            <a:endParaRPr lang="zh-CN" dirty="0"/>
          </a:p>
          <a:p>
            <a:r>
              <a:rPr lang="zh-CN" dirty="0"/>
              <a:t>要点：① 四类典型痛点 ② 传统方式治理阻力高 ③ 问题集中在边界和协同</a:t>
            </a:r>
          </a:p>
          <a:p>
            <a:r>
              <a:rPr lang="zh-CN" dirty="0"/>
              <a:t>时长：0.9 分钟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因此我们的方案不是给旧流程再贴一层 UI，而是重构整条治理路径。登录、导入、选卡和控制台分别承担不同职责，系统边界随之变得稳定。</a:t>
            </a:r>
          </a:p>
          <a:p>
            <a:endParaRPr lang="zh-CN" dirty="0"/>
          </a:p>
          <a:p>
            <a:r>
              <a:rPr lang="zh-CN" dirty="0"/>
              <a:t>要点：① 四步闭环 ② 身份先于连接 ③ 范围先于动作</a:t>
            </a:r>
          </a:p>
          <a:p>
            <a:r>
              <a:rPr lang="zh-CN" dirty="0"/>
              <a:t>时长：0.8 分钟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这套平台面向的不是单一用户，而是多类角色共同使用的治理底座。管理员、负责人、工程师和展示者都可以在同一个系统里获得自己的工作视角。</a:t>
            </a:r>
          </a:p>
          <a:p>
            <a:endParaRPr lang="zh-CN" dirty="0"/>
          </a:p>
          <a:p>
            <a:r>
              <a:rPr lang="zh-CN" dirty="0"/>
              <a:t>要点：① 四类核心角色 ② 同一平台服务不同目标 ③ 产品表达兼顾使用和展示</a:t>
            </a:r>
          </a:p>
          <a:p>
            <a:r>
              <a:rPr lang="zh-CN" dirty="0"/>
              <a:t>时长：0.8 分钟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接下来我们看用户真正的使用路径。平台把复杂的接入过程拆成六个稳定步骤，因此用户不会在控制台里临时切换连接和范围。</a:t>
            </a:r>
          </a:p>
          <a:p>
            <a:endParaRPr lang="zh-CN" dirty="0"/>
          </a:p>
          <a:p>
            <a:r>
              <a:rPr lang="zh-CN" dirty="0"/>
              <a:t>要点：① 六步主流程 ② 导入层在控制台之前 ③ 使用路径可预测</a:t>
            </a:r>
          </a:p>
          <a:p>
            <a:r>
              <a:rPr lang="zh-CN" dirty="0"/>
              <a:t>时长：0.9 分钟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首先是登录入口。平台用户身份必须先建立，因为已保存主机、凭据复用和可见范围都依赖这层身份边界。</a:t>
            </a:r>
          </a:p>
          <a:p>
            <a:endParaRPr lang="zh-CN" dirty="0"/>
          </a:p>
          <a:p>
            <a:r>
              <a:rPr lang="zh-CN" dirty="0"/>
              <a:t>要点：① 先登录再导入 ② 默认管理员与首登改密 ③ 管理员和普通用户范围不同</a:t>
            </a:r>
          </a:p>
          <a:p>
            <a:r>
              <a:rPr lang="zh-CN" dirty="0"/>
              <a:t>时长：0.9 分钟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登录之后并不是直接进入控制台，而是先进入准备页。[停顿] 这一步把接入逻辑和治理逻辑完全剥离，是产品结构上的关键变化。</a:t>
            </a:r>
          </a:p>
          <a:p>
            <a:endParaRPr lang="zh-CN" dirty="0"/>
          </a:p>
          <a:p>
            <a:r>
              <a:rPr lang="zh-CN" dirty="0"/>
              <a:t>要点：① 独立准备页 ② 四个稳定阶段 ③ 控制台不再承担接入切换</a:t>
            </a:r>
          </a:p>
          <a:p>
            <a:r>
              <a:rPr lang="zh-CN" dirty="0"/>
              <a:t>时长：0.9 分钟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在准备页里，平台支持三种接入方式：本机 Agent、远程 Agent 和 SSH Linux。它们适用于不同部署环境，但最终在前端都被收敛成同一套导入语义。</a:t>
            </a:r>
          </a:p>
          <a:p>
            <a:endParaRPr lang="zh-CN" dirty="0"/>
          </a:p>
          <a:p>
            <a:r>
              <a:rPr lang="zh-CN" dirty="0"/>
              <a:t>要点：① 三种接入方式 ② 部署环境覆盖更广 ③ 前端语义保持统一</a:t>
            </a:r>
          </a:p>
          <a:p>
            <a:r>
              <a:rPr lang="zh-CN" dirty="0"/>
              <a:t>时长：0.9 分钟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一旦接入成功，用户首先看到的是真实硬件状态，而不是直接进入管理页。CPU、GPU、利用率和当前卡状态都会先被确认，然后再选择导入范围。</a:t>
            </a:r>
          </a:p>
          <a:p>
            <a:endParaRPr lang="zh-CN" dirty="0"/>
          </a:p>
          <a:p>
            <a:r>
              <a:rPr lang="zh-CN" dirty="0"/>
              <a:t>要点：① 扫描先于导入 ② 入台前确认 CPU/GPU 状态 ③ 用户主动选择治理范围</a:t>
            </a:r>
          </a:p>
          <a:p>
            <a:r>
              <a:rPr lang="zh-CN" dirty="0"/>
              <a:t>时长：0.9 分钟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这是整套系统最关键的产品边界。控制台只显示和治理本次导入选中的卡，因此误操作和信息噪声都会明显下降。</a:t>
            </a:r>
          </a:p>
          <a:p>
            <a:endParaRPr lang="zh-CN" dirty="0"/>
          </a:p>
          <a:p>
            <a:r>
              <a:rPr lang="zh-CN" dirty="0"/>
              <a:t>要点：① 本次导入范围收束 ② 控制台不混入无关 GPU ③ 责任边界更加清晰</a:t>
            </a:r>
          </a:p>
          <a:p>
            <a:r>
              <a:rPr lang="zh-CN" dirty="0"/>
              <a:t>时长：1.0 分钟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如果用户已经连接过某台机器，平台会把它保存成可复用的主机记录。下次登录时，用户可以直接扫描并继续，而不是重新输入所有 SSH 信息。</a:t>
            </a:r>
          </a:p>
          <a:p>
            <a:endParaRPr lang="zh-CN" dirty="0"/>
          </a:p>
          <a:p>
            <a:r>
              <a:rPr lang="zh-CN" dirty="0"/>
              <a:t>要点：① 已保存主机入口 ② 扫描并继续 ③ 凭据失效时显式恢复</a:t>
            </a:r>
          </a:p>
          <a:p>
            <a:r>
              <a:rPr lang="zh-CN" dirty="0"/>
              <a:t>时长：0.9 分钟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完成导入后，控制台才真正开始发挥作用。它只保留治理相关能力，不再混入连接选择和接入切换逻辑。</a:t>
            </a:r>
          </a:p>
          <a:p>
            <a:endParaRPr lang="zh-CN" dirty="0"/>
          </a:p>
          <a:p>
            <a:r>
              <a:rPr lang="zh-CN" dirty="0"/>
              <a:t>要点：① 控制台专注治理 ② 模块入口清晰 ③ 工作区围绕导入范围展开</a:t>
            </a:r>
          </a:p>
          <a:p>
            <a:r>
              <a:rPr lang="zh-CN" dirty="0"/>
              <a:t>时长：0.8 分钟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监控与治理是一体的，这也是平台化价值所在。用户可以从状态观察直接走到治理动作，再回到结果观察，形成闭环。</a:t>
            </a:r>
          </a:p>
          <a:p>
            <a:endParaRPr lang="zh-CN" dirty="0"/>
          </a:p>
          <a:p>
            <a:r>
              <a:rPr lang="zh-CN" dirty="0"/>
              <a:t>要点：① 监控与治理联动 ② 支持真实动作 ③ 结果可即时回流</a:t>
            </a:r>
          </a:p>
          <a:p>
            <a:r>
              <a:rPr lang="zh-CN" dirty="0"/>
              <a:t>时长：0.9 分钟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当底层治理能力成立之后，平台自然会进入运营层。[停顿] 告警中心、任务管理和调度能力让系统从“能用”走向“能运营”。</a:t>
            </a:r>
          </a:p>
          <a:p>
            <a:endParaRPr lang="zh-CN" dirty="0"/>
          </a:p>
          <a:p>
            <a:r>
              <a:rPr lang="zh-CN" dirty="0"/>
              <a:t>要点：① 告警任务调度三工作台 ② 平台从监控走向运营 ③ 适合长期使用场景</a:t>
            </a:r>
          </a:p>
          <a:p>
            <a:r>
              <a:rPr lang="zh-CN" dirty="0"/>
              <a:t>时长：0.8 分钟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为了适应本地演示和内网交付场景，平台还提供了 Electron 桌面壳。它把前端、后端和 agent 的启动关系打包成更完整的交付形态。</a:t>
            </a:r>
          </a:p>
          <a:p>
            <a:endParaRPr lang="zh-CN" dirty="0"/>
          </a:p>
          <a:p>
            <a:r>
              <a:rPr lang="zh-CN" dirty="0"/>
              <a:t>要点：① 桌面壳交付 ② 本地运行脚本 ③ 适合 Windows 与内网环境</a:t>
            </a:r>
          </a:p>
          <a:p>
            <a:r>
              <a:rPr lang="zh-CN" dirty="0"/>
              <a:t>时长：0.8 分钟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下面进入技术实现部分。整体上，系统采用展示层、平台层、接入层和目标与存储层四层结构，这让产品边界和工程边界保持一致。</a:t>
            </a:r>
          </a:p>
          <a:p>
            <a:endParaRPr lang="zh-CN" dirty="0"/>
          </a:p>
          <a:p>
            <a:r>
              <a:rPr lang="zh-CN" dirty="0"/>
              <a:t>要点：① 四层架构 ② 前端后端 provider 分层 ③ 有利于扩展和维护</a:t>
            </a:r>
          </a:p>
          <a:p>
            <a:r>
              <a:rPr lang="zh-CN" dirty="0"/>
              <a:t>时长：1.0 分钟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导入层不仅是界面入口，也是运行时状态入口。import context 会把 provider 类型和导入 GPU 索引固定下来，后续控制台只消费过滤后的数据。</a:t>
            </a:r>
          </a:p>
          <a:p>
            <a:endParaRPr lang="zh-CN" dirty="0"/>
          </a:p>
          <a:p>
            <a:r>
              <a:rPr lang="zh-CN" dirty="0"/>
              <a:t>要点：① import context 是核心状态 ② provider_type 与 GPU 索引被持久化 ③ 控制台基于范围过滤数据</a:t>
            </a:r>
          </a:p>
          <a:p>
            <a:r>
              <a:rPr lang="zh-CN" dirty="0"/>
              <a:t>时长：1.0 分钟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平台之所以能够同时兼容部署 Agent 和不部署 Agent 的机器，是因为内部做了 provider 抽象。Agent 和 SSH Linux 两条链路都被纳入统一运行时模型。</a:t>
            </a:r>
          </a:p>
          <a:p>
            <a:endParaRPr lang="zh-CN" dirty="0"/>
          </a:p>
          <a:p>
            <a:r>
              <a:rPr lang="zh-CN" dirty="0"/>
              <a:t>要点：① 双 provider 架构 ② Agent 与 SSH 模式并行 ③ 对外保持同一产品流程</a:t>
            </a:r>
          </a:p>
          <a:p>
            <a:r>
              <a:rPr lang="zh-CN" dirty="0"/>
              <a:t>时长：1.0 分钟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在安全设计上，平台登录和 SSH 认证被严格拆成两条链路。平台身份决定 API 可见范围，SSH 凭据只负责连接目标主机。</a:t>
            </a:r>
          </a:p>
          <a:p>
            <a:endParaRPr lang="zh-CN" dirty="0"/>
          </a:p>
          <a:p>
            <a:r>
              <a:rPr lang="zh-CN" dirty="0"/>
              <a:t>要点：① 两条认证链路 ② 平台身份与 SSH 解耦 ③ 角色可见范围明确</a:t>
            </a:r>
          </a:p>
          <a:p>
            <a:r>
              <a:rPr lang="zh-CN" dirty="0"/>
              <a:t>时长：0.9 分钟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进一步地，用户输入的 SSH 密码、私钥和 sudo 密码不会被明文保存。主密钥负责加密和解密复用，而且一旦失效就显式报错。</a:t>
            </a:r>
          </a:p>
          <a:p>
            <a:endParaRPr lang="zh-CN" dirty="0"/>
          </a:p>
          <a:p>
            <a:r>
              <a:rPr lang="zh-CN" dirty="0"/>
              <a:t>要点：① 主密钥加密机制 ② 凭据可复用但不明文落盘 ③ 坚持显式失败原则</a:t>
            </a:r>
          </a:p>
          <a:p>
            <a:r>
              <a:rPr lang="zh-CN" dirty="0"/>
              <a:t>时长：1.0 分钟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除了功能本身，工程化链路也决定了项目是否真的可交付。start-dev、install-deps、测试和桌面壳共同提高了系统的稳定性与展示完成度。</a:t>
            </a:r>
          </a:p>
          <a:p>
            <a:endParaRPr lang="zh-CN" dirty="0"/>
          </a:p>
          <a:p>
            <a:r>
              <a:rPr lang="zh-CN" dirty="0"/>
              <a:t>要点：① 启动与依赖脚本 ② 前后端测试与构建 ③ 从 demo 走向可交付系统</a:t>
            </a:r>
          </a:p>
          <a:p>
            <a:r>
              <a:rPr lang="zh-CN" dirty="0"/>
              <a:t>时长：0.9 分钟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现在可以把整个项目收束成三类优势：产品边界、技术边界和工程边界。[停顿] 这三条边界同时成立，说明它不仅能展示，也具备继续扩展的基础。</a:t>
            </a:r>
          </a:p>
          <a:p>
            <a:endParaRPr lang="zh-CN" dirty="0"/>
          </a:p>
          <a:p>
            <a:r>
              <a:rPr lang="zh-CN" dirty="0"/>
              <a:t>要点：① 三重边界优势 ② 当前成果已成体系 ③ 具有持续扩展空间</a:t>
            </a:r>
          </a:p>
          <a:p>
            <a:r>
              <a:rPr lang="zh-CN" dirty="0"/>
              <a:t>时长：0.9 分钟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最后看未来空间。当前版本已经形成共享 GPU 治理闭环，后续可以继续扩展到多机、多协议和智能调度能力，完成从单平台到组织级资源治理平台的演进。</a:t>
            </a:r>
          </a:p>
          <a:p>
            <a:endParaRPr lang="zh-CN" dirty="0"/>
          </a:p>
          <a:p>
            <a:r>
              <a:rPr lang="zh-CN" dirty="0"/>
              <a:t>要点：① 当前已形成闭环 ② 中短期扩展多机与更多协议 ③ 长期走向智能调度与组织级治理</a:t>
            </a:r>
          </a:p>
          <a:p>
            <a:r>
              <a:rPr lang="zh-CN" dirty="0"/>
              <a:t>时长：0.8 分钟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20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2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22.xml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23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24.xml"/>
</Relationships>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2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2686050"/>
          </a:xfrm>
          <a:prstGeom prst="rect">
            <a:avLst/>
          </a:prstGeom>
          <a:gradFill>
            <a:gsLst>
              <a:gs pos="0">
                <a:srgbClr val="17313A"/>
              </a:gs>
              <a:gs pos="100000">
                <a:srgbClr val="19A38C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B8DEF">
                  <a:alpha val="22000"/>
                </a:srgbClr>
              </a:gs>
              <a:gs pos="100000">
                <a:srgbClr val="5B8D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8191500" y="-952500"/>
            <a:ext cx="4191000" cy="4191000"/>
          </a:xfrm>
          <a:prstGeom prst="ellipse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8953500" y="-190500"/>
            <a:ext cx="2667000" cy="2667000"/>
          </a:xfrm>
          <a:prstGeom prst="ellipse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9620250" y="476250"/>
            <a:ext cx="1333500" cy="133350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</p:sp>
      <p:sp>
        <p:nvSpPr>
          <p:cNvPr id="8" name="Line 8"/>
          <p:cNvSpPr/>
          <p:nvPr/>
        </p:nvSpPr>
        <p:spPr>
          <a:xfrm>
            <a:off x="0" y="66103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D8E0E8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371475" y="6691312"/>
            <a:ext cx="36776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Source: AI DataCenter repository and implemented product features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947285" y="6691312"/>
            <a:ext cx="229743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STRICTLY CONFIDENTIAL | PROJECT SHOWCASE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68614" y="6691312"/>
            <a:ext cx="5191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2472" y="425291"/>
            <a:ext cx="32281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GPU GOVERNANCE WORKBENCH · PRODUCT PRESENTATION</a:t>
            </a:r>
          </a:p>
        </p:txBody>
      </p:sp>
      <p:sp>
        <p:nvSpPr>
          <p:cNvPr id="13" name="Line 13"/>
          <p:cNvSpPr/>
          <p:nvPr/>
        </p:nvSpPr>
        <p:spPr>
          <a:xfrm>
            <a:off x="742950" y="609600"/>
            <a:ext cx="3257550" cy="9525"/>
          </a:xfrm>
          <a:custGeom>
            <a:avLst/>
            <a:gdLst/>
            <a:ahLst/>
            <a:cxnLst/>
            <a:rect l="l" t="t" r="r" b="b"/>
            <a:pathLst>
              <a:path w="3257550" h="9525">
                <a:moveTo>
                  <a:pt x="0" y="0"/>
                </a:moveTo>
                <a:lnTo>
                  <a:pt x="3257550" y="0"/>
                </a:lnTo>
              </a:path>
            </a:pathLst>
          </a:custGeom>
          <a:noFill/>
          <a:ln w="9525">
            <a:solidFill>
              <a:srgbClr val="FFFFFF">
                <a:alpha val="25000"/>
              </a:srgbClr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10565" y="991552"/>
            <a:ext cx="4233036" cy="822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AI DataCenter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2950" y="2066925"/>
            <a:ext cx="46934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面向共享算力场景的 GPU 导入、监控与治理平台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6760" y="2518410"/>
            <a:ext cx="45521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9F5EF"/>
                </a:solidFill>
                <a:latin typeface="Arial"/>
                <a:ea typeface="Microsoft YaHei"/>
                <a:cs typeface="Arial"/>
              </a:rPr>
              <a:t>登录 -&gt; 导入准备 -&gt; 扫描硬件 -&gt; 选卡导入 -&gt; 控制台治理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00100" y="3352800"/>
            <a:ext cx="5810250" cy="16764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762000" y="3295650"/>
            <a:ext cx="581025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762000" y="3295650"/>
            <a:ext cx="5810250" cy="57150"/>
          </a:xfrm>
          <a:prstGeom prst="rect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017270" y="3503295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项目定位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05840" y="3834765"/>
            <a:ext cx="255763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把“资源可见”升级为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05840" y="4158615"/>
            <a:ext cx="295788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“范围清晰、动作可控、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05840" y="4482465"/>
            <a:ext cx="413103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结果可复盘”的共享 GPU 治理平台</a:t>
            </a:r>
          </a:p>
        </p:txBody>
      </p:sp>
      <p:sp>
        <p:nvSpPr>
          <p:cNvPr id="24" name="Ellipse 24"/>
          <p:cNvSpPr/>
          <p:nvPr/>
        </p:nvSpPr>
        <p:spPr>
          <a:xfrm>
            <a:off x="1019175" y="4657725"/>
            <a:ext cx="95250" cy="95250"/>
          </a:xfrm>
          <a:prstGeom prst="ellipse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204912" y="4641056"/>
            <a:ext cx="16716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平台身份先于机器连接</a:t>
            </a:r>
          </a:p>
        </p:txBody>
      </p:sp>
      <p:sp>
        <p:nvSpPr>
          <p:cNvPr id="26" name="Ellipse 26"/>
          <p:cNvSpPr/>
          <p:nvPr/>
        </p:nvSpPr>
        <p:spPr>
          <a:xfrm>
            <a:off x="1019175" y="4905375"/>
            <a:ext cx="95250" cy="95250"/>
          </a:xfrm>
          <a:prstGeom prst="ellipse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204912" y="4888706"/>
            <a:ext cx="1835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治理范围先于控制台入口</a:t>
            </a:r>
          </a:p>
        </p:txBody>
      </p:sp>
      <p:sp>
        <p:nvSpPr>
          <p:cNvPr id="28" name="Ellipse 28"/>
          <p:cNvSpPr/>
          <p:nvPr/>
        </p:nvSpPr>
        <p:spPr>
          <a:xfrm>
            <a:off x="1019175" y="5153025"/>
            <a:ext cx="95250" cy="95250"/>
          </a:xfrm>
          <a:prstGeom prst="ellipse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204912" y="5136356"/>
            <a:ext cx="21645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凭据复用与安全边界同时成立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162800" y="3219450"/>
            <a:ext cx="1981200" cy="15240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7124700" y="3162300"/>
            <a:ext cx="198120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7124700" y="3162300"/>
            <a:ext cx="1981200" cy="57150"/>
          </a:xfrm>
          <a:prstGeom prst="rect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285672" y="3339941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接入模式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263765" y="3572828"/>
            <a:ext cx="279847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9A38C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284720" y="3941445"/>
            <a:ext cx="68665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本机 Agent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284720" y="4112895"/>
            <a:ext cx="68665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远程 Agent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284720" y="4284345"/>
            <a:ext cx="6077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SSH Linux</a:t>
            </a:r>
          </a:p>
        </p:txBody>
      </p:sp>
      <p:sp>
        <p:nvSpPr>
          <p:cNvPr id="38" name="Rectangle 38"/>
          <p:cNvSpPr/>
          <p:nvPr/>
        </p:nvSpPr>
        <p:spPr>
          <a:xfrm>
            <a:off x="9372600" y="3219450"/>
            <a:ext cx="1981200" cy="15240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9334500" y="3162300"/>
            <a:ext cx="198120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9334500" y="3162300"/>
            <a:ext cx="1981200" cy="57150"/>
          </a:xfrm>
          <a:prstGeom prst="rect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9495472" y="3339941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导入阶段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473565" y="3572828"/>
            <a:ext cx="279847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5B8DEF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494520" y="3941445"/>
            <a:ext cx="13373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已保存主机、连接来源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494520" y="4112895"/>
            <a:ext cx="12058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硬件概览、选卡导入</a:t>
            </a:r>
          </a:p>
        </p:txBody>
      </p:sp>
      <p:sp>
        <p:nvSpPr>
          <p:cNvPr id="45" name="Rectangle 45"/>
          <p:cNvSpPr/>
          <p:nvPr/>
        </p:nvSpPr>
        <p:spPr>
          <a:xfrm>
            <a:off x="7162800" y="4953000"/>
            <a:ext cx="1981200" cy="12001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46" name="Rectangle 46"/>
          <p:cNvSpPr/>
          <p:nvPr/>
        </p:nvSpPr>
        <p:spPr>
          <a:xfrm>
            <a:off x="7124700" y="4895850"/>
            <a:ext cx="198120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47" name="Rectangle 47"/>
          <p:cNvSpPr/>
          <p:nvPr/>
        </p:nvSpPr>
        <p:spPr>
          <a:xfrm>
            <a:off x="7124700" y="4895850"/>
            <a:ext cx="1981200" cy="5715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7285672" y="5073491"/>
            <a:ext cx="6535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控制台模块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263765" y="5306378"/>
            <a:ext cx="49492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6+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284720" y="5713095"/>
            <a:ext cx="20536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监控、任务、告警、调度与 AI 辅助</a:t>
            </a:r>
          </a:p>
        </p:txBody>
      </p:sp>
      <p:sp>
        <p:nvSpPr>
          <p:cNvPr id="51" name="Rectangle 51"/>
          <p:cNvSpPr/>
          <p:nvPr/>
        </p:nvSpPr>
        <p:spPr>
          <a:xfrm>
            <a:off x="9372600" y="4953000"/>
            <a:ext cx="1981200" cy="12001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52" name="Rectangle 52"/>
          <p:cNvSpPr/>
          <p:nvPr/>
        </p:nvSpPr>
        <p:spPr>
          <a:xfrm>
            <a:off x="9334500" y="4895850"/>
            <a:ext cx="198120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53" name="Rectangle 53"/>
          <p:cNvSpPr/>
          <p:nvPr/>
        </p:nvSpPr>
        <p:spPr>
          <a:xfrm>
            <a:off x="9334500" y="4895850"/>
            <a:ext cx="1981200" cy="57150"/>
          </a:xfrm>
          <a:prstGeom prst="rect">
            <a:avLst/>
          </a:prstGeom>
          <a:solidFill>
            <a:srgbClr val="1F9D68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9495472" y="5073491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核心边界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473565" y="5306378"/>
            <a:ext cx="182085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F9D68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496425" y="5729288"/>
            <a:ext cx="155257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控制台只治理本次导入选中的卡</a:t>
            </a:r>
          </a:p>
        </p:txBody>
      </p:sp>
      <p:sp>
        <p:nvSpPr>
          <p:cNvPr id="57" name="Rectangle 57"/>
          <p:cNvSpPr/>
          <p:nvPr/>
        </p:nvSpPr>
        <p:spPr>
          <a:xfrm>
            <a:off x="762000" y="5334000"/>
            <a:ext cx="742950" cy="26670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984028" y="541782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登录</a:t>
            </a:r>
          </a:p>
        </p:txBody>
      </p:sp>
      <p:sp>
        <p:nvSpPr>
          <p:cNvPr id="59" name="Rectangle 59"/>
          <p:cNvSpPr/>
          <p:nvPr/>
        </p:nvSpPr>
        <p:spPr>
          <a:xfrm>
            <a:off x="1676400" y="5334000"/>
            <a:ext cx="742950" cy="266700"/>
          </a:xfrm>
          <a:prstGeom prst="rect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1898428" y="541782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导入</a:t>
            </a:r>
          </a:p>
        </p:txBody>
      </p:sp>
      <p:sp>
        <p:nvSpPr>
          <p:cNvPr id="61" name="Rectangle 61"/>
          <p:cNvSpPr/>
          <p:nvPr/>
        </p:nvSpPr>
        <p:spPr>
          <a:xfrm>
            <a:off x="2590800" y="5334000"/>
            <a:ext cx="742950" cy="266700"/>
          </a:xfrm>
          <a:prstGeom prst="rect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2812828" y="541782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治理</a:t>
            </a:r>
          </a:p>
        </p:txBody>
      </p:sp>
      <p:sp>
        <p:nvSpPr>
          <p:cNvPr id="63" name="Rectangle 63"/>
          <p:cNvSpPr/>
          <p:nvPr/>
        </p:nvSpPr>
        <p:spPr>
          <a:xfrm>
            <a:off x="3505200" y="5334000"/>
            <a:ext cx="742950" cy="266700"/>
          </a:xfrm>
          <a:prstGeom prst="rect">
            <a:avLst/>
          </a:prstGeom>
          <a:solidFill>
            <a:srgbClr val="1F9D68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3727228" y="541782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安全</a:t>
            </a:r>
          </a:p>
        </p:txBody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B8DEF">
                  <a:alpha val="8000"/>
                </a:srgbClr>
              </a:gs>
              <a:gs pos="100000">
                <a:srgbClr val="5B8D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7313A"/>
              </a:gs>
              <a:gs pos="100000">
                <a:srgbClr val="19A38C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05778" y="193834"/>
            <a:ext cx="4057745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共享算力治理而非数据看板</a:t>
            </a:r>
          </a:p>
        </p:txBody>
      </p:sp>
      <p:sp>
        <p:nvSpPr>
          <p:cNvPr id="6" name="Rectangle 6"/>
          <p:cNvSpPr/>
          <p:nvPr/>
        </p:nvSpPr>
        <p:spPr>
          <a:xfrm>
            <a:off x="533400" y="609600"/>
            <a:ext cx="11125200" cy="41910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25805" y="730568"/>
            <a:ext cx="52099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平台把身份、导入范围与治理动作收拢为一条清晰主线。</a:t>
            </a:r>
          </a:p>
        </p:txBody>
      </p:sp>
      <p:sp>
        <p:nvSpPr>
          <p:cNvPr id="8" name="Line 8"/>
          <p:cNvSpPr/>
          <p:nvPr/>
        </p:nvSpPr>
        <p:spPr>
          <a:xfrm>
            <a:off x="0" y="66103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D8E0E8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371475" y="6691312"/>
            <a:ext cx="36776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Source: AI DataCenter repository and implemented product features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04886" y="6691312"/>
            <a:ext cx="258222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STRICTLY CONFIDENTIAL | AI DATACENTER SHOWCASE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41229" y="6691312"/>
            <a:ext cx="7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181100" y="1600200"/>
            <a:ext cx="9906000" cy="16764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1143000" y="1543050"/>
            <a:ext cx="990600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1143000" y="1543050"/>
            <a:ext cx="9906000" cy="5715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2145830" y="1884045"/>
            <a:ext cx="790034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AI DataCenter 不是一个“看 GPU 数据”的页面，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857244" y="2303145"/>
            <a:ext cx="447751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而是一套共享算力治理平台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219926" y="2597468"/>
            <a:ext cx="575214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平台把身份、连接、范围与治理动作组织成一个可交付的软件系统</a:t>
            </a:r>
          </a:p>
        </p:txBody>
      </p:sp>
      <p:sp>
        <p:nvSpPr>
          <p:cNvPr id="18" name="Rectangle 18"/>
          <p:cNvSpPr/>
          <p:nvPr/>
        </p:nvSpPr>
        <p:spPr>
          <a:xfrm>
            <a:off x="1181100" y="3733800"/>
            <a:ext cx="3048000" cy="20193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1143000" y="3676650"/>
            <a:ext cx="3048000" cy="2019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1143000" y="3676650"/>
            <a:ext cx="3048000" cy="5715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1443038" y="4017169"/>
            <a:ext cx="200025" cy="233362"/>
            <a:chOff x="1443038" y="4017169"/>
            <a:chExt cx="200025" cy="233362"/>
          </a:xfrm>
        </p:grpSpPr>
        <p:sp>
          <p:nvSpPr>
            <p:cNvPr id="21" name="Freeform 21"/>
            <p:cNvSpPr/>
            <p:nvPr/>
          </p:nvSpPr>
          <p:spPr>
            <a:xfrm>
              <a:off x="1493044" y="4017169"/>
              <a:ext cx="100012" cy="100012"/>
            </a:xfrm>
            <a:custGeom>
              <a:avLst/>
              <a:gdLst/>
              <a:ahLst/>
              <a:cxnLst/>
              <a:rect l="l" t="t" r="r" b="b"/>
              <a:pathLst>
                <a:path w="100012" h="100012">
                  <a:moveTo>
                    <a:pt x="50006" y="100012"/>
                  </a:moveTo>
                  <a:cubicBezTo>
                    <a:pt x="77624" y="100012"/>
                    <a:pt x="100012" y="77624"/>
                    <a:pt x="100012" y="50006"/>
                  </a:cubicBezTo>
                  <a:cubicBezTo>
                    <a:pt x="100012" y="22389"/>
                    <a:pt x="77624" y="0"/>
                    <a:pt x="50006" y="0"/>
                  </a:cubicBezTo>
                  <a:cubicBezTo>
                    <a:pt x="22389" y="0"/>
                    <a:pt x="0" y="22389"/>
                    <a:pt x="0" y="50006"/>
                  </a:cubicBezTo>
                  <a:cubicBezTo>
                    <a:pt x="0" y="77624"/>
                    <a:pt x="22389" y="100012"/>
                    <a:pt x="50006" y="100012"/>
                  </a:cubicBezTo>
                  <a:close/>
                </a:path>
              </a:pathLst>
            </a:custGeom>
            <a:solidFill>
              <a:srgbClr val="17313A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1443038" y="4150519"/>
              <a:ext cx="200025" cy="100012"/>
            </a:xfrm>
            <a:custGeom>
              <a:avLst/>
              <a:gdLst/>
              <a:ahLst/>
              <a:cxnLst/>
              <a:rect l="l" t="t" r="r" b="b"/>
              <a:pathLst>
                <a:path w="200025" h="100012">
                  <a:moveTo>
                    <a:pt x="200025" y="50006"/>
                  </a:moveTo>
                  <a:cubicBezTo>
                    <a:pt x="200025" y="22388"/>
                    <a:pt x="177637" y="0"/>
                    <a:pt x="150019" y="0"/>
                  </a:cubicBezTo>
                  <a:lnTo>
                    <a:pt x="50006" y="0"/>
                  </a:lnTo>
                  <a:cubicBezTo>
                    <a:pt x="22389" y="0"/>
                    <a:pt x="0" y="22388"/>
                    <a:pt x="0" y="50006"/>
                  </a:cubicBezTo>
                  <a:lnTo>
                    <a:pt x="0" y="100012"/>
                  </a:lnTo>
                  <a:lnTo>
                    <a:pt x="200025" y="100012"/>
                  </a:lnTo>
                  <a:lnTo>
                    <a:pt x="200025" y="50006"/>
                  </a:lnTo>
                  <a:close/>
                </a:path>
              </a:pathLst>
            </a:custGeom>
            <a:solidFill>
              <a:srgbClr val="17313A"/>
            </a:solidFill>
            <a:ln>
              <a:noFill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1788795" y="4012882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平台先登录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94460" y="4385310"/>
            <a:ext cx="26593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用户先获得平台身份，系统再决定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94460" y="4652010"/>
            <a:ext cx="26593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谁可以看到哪些主机和主机记录。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610100" y="3733800"/>
            <a:ext cx="3048000" cy="20193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4572000" y="3676650"/>
            <a:ext cx="3048000" cy="2019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4572000" y="3676650"/>
            <a:ext cx="3048000" cy="57150"/>
          </a:xfrm>
          <a:prstGeom prst="rect">
            <a:avLst/>
          </a:prstGeom>
          <a:solidFill>
            <a:srgbClr val="19A38C"/>
          </a:solidFill>
          <a:ln>
            <a:noFill/>
          </a:ln>
        </p:spPr>
      </p:sp>
      <p:grpSp>
        <p:nvGrpSpPr>
          <p:cNvPr id="32" name="Group 32"/>
          <p:cNvGrpSpPr/>
          <p:nvPr/>
        </p:nvGrpSpPr>
        <p:grpSpPr>
          <a:xfrm>
            <a:off x="4838700" y="4000500"/>
            <a:ext cx="266700" cy="266700"/>
            <a:chOff x="4838700" y="4000500"/>
            <a:chExt cx="266700" cy="266700"/>
          </a:xfrm>
        </p:grpSpPr>
        <p:sp>
          <p:nvSpPr>
            <p:cNvPr id="30" name="Freeform 30"/>
            <p:cNvSpPr/>
            <p:nvPr/>
          </p:nvSpPr>
          <p:spPr>
            <a:xfrm>
              <a:off x="4905375" y="406717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66675" y="0"/>
                  </a:moveTo>
                  <a:cubicBezTo>
                    <a:pt x="29851" y="0"/>
                    <a:pt x="0" y="29851"/>
                    <a:pt x="0" y="66675"/>
                  </a:cubicBezTo>
                  <a:cubicBezTo>
                    <a:pt x="0" y="103498"/>
                    <a:pt x="29851" y="133350"/>
                    <a:pt x="66675" y="133350"/>
                  </a:cubicBezTo>
                  <a:cubicBezTo>
                    <a:pt x="103498" y="133350"/>
                    <a:pt x="133350" y="103498"/>
                    <a:pt x="133350" y="66675"/>
                  </a:cubicBezTo>
                  <a:cubicBezTo>
                    <a:pt x="133350" y="29851"/>
                    <a:pt x="103498" y="0"/>
                    <a:pt x="66675" y="0"/>
                  </a:cubicBezTo>
                  <a:close/>
                  <a:moveTo>
                    <a:pt x="33338" y="66675"/>
                  </a:moveTo>
                  <a:cubicBezTo>
                    <a:pt x="33338" y="48263"/>
                    <a:pt x="48263" y="33338"/>
                    <a:pt x="66675" y="33338"/>
                  </a:cubicBezTo>
                  <a:cubicBezTo>
                    <a:pt x="85087" y="33338"/>
                    <a:pt x="100012" y="48263"/>
                    <a:pt x="100012" y="66675"/>
                  </a:cubicBezTo>
                  <a:cubicBezTo>
                    <a:pt x="100012" y="85087"/>
                    <a:pt x="85087" y="100012"/>
                    <a:pt x="66675" y="100012"/>
                  </a:cubicBezTo>
                  <a:cubicBezTo>
                    <a:pt x="48263" y="100012"/>
                    <a:pt x="33338" y="85087"/>
                    <a:pt x="33338" y="66675"/>
                  </a:cubicBezTo>
                  <a:close/>
                </a:path>
              </a:pathLst>
            </a:custGeom>
            <a:solidFill>
              <a:srgbClr val="19A38C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4838700" y="40005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50" y="0"/>
                  </a:moveTo>
                  <a:cubicBezTo>
                    <a:pt x="59703" y="0"/>
                    <a:pt x="0" y="59703"/>
                    <a:pt x="0" y="133350"/>
                  </a:cubicBezTo>
                  <a:cubicBezTo>
                    <a:pt x="0" y="206998"/>
                    <a:pt x="59703" y="266700"/>
                    <a:pt x="133350" y="266700"/>
                  </a:cubicBezTo>
                  <a:cubicBezTo>
                    <a:pt x="206998" y="266700"/>
                    <a:pt x="266700" y="206998"/>
                    <a:pt x="266700" y="133350"/>
                  </a:cubicBezTo>
                  <a:cubicBezTo>
                    <a:pt x="266700" y="59703"/>
                    <a:pt x="206998" y="0"/>
                    <a:pt x="133350" y="0"/>
                  </a:cubicBezTo>
                  <a:close/>
                  <a:moveTo>
                    <a:pt x="33338" y="133350"/>
                  </a:moveTo>
                  <a:cubicBezTo>
                    <a:pt x="33338" y="78115"/>
                    <a:pt x="78115" y="33338"/>
                    <a:pt x="133350" y="33338"/>
                  </a:cubicBezTo>
                  <a:cubicBezTo>
                    <a:pt x="188585" y="33338"/>
                    <a:pt x="233362" y="78115"/>
                    <a:pt x="233362" y="133350"/>
                  </a:cubicBezTo>
                  <a:cubicBezTo>
                    <a:pt x="233362" y="188585"/>
                    <a:pt x="188585" y="233362"/>
                    <a:pt x="133350" y="233362"/>
                  </a:cubicBezTo>
                  <a:cubicBezTo>
                    <a:pt x="78115" y="233362"/>
                    <a:pt x="33338" y="188585"/>
                    <a:pt x="33338" y="133350"/>
                  </a:cubicBezTo>
                  <a:close/>
                </a:path>
              </a:pathLst>
            </a:custGeom>
            <a:solidFill>
              <a:srgbClr val="19A38C"/>
            </a:solidFill>
            <a:ln>
              <a:noFill/>
            </a:ln>
          </p:spPr>
        </p:sp>
      </p:grpSp>
      <p:sp>
        <p:nvSpPr>
          <p:cNvPr id="33" name="TextBox 33"/>
          <p:cNvSpPr txBox="1"/>
          <p:nvPr/>
        </p:nvSpPr>
        <p:spPr>
          <a:xfrm>
            <a:off x="5217795" y="401288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导入先定范围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823460" y="4385310"/>
            <a:ext cx="30099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进入控制台前先扫描硬件、选卡导入，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823460" y="4652010"/>
            <a:ext cx="26593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后续动作都只围绕当前范围展开。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039100" y="3733800"/>
            <a:ext cx="3048000" cy="20193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8001000" y="3676650"/>
            <a:ext cx="3048000" cy="2019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8001000" y="3676650"/>
            <a:ext cx="3048000" cy="57150"/>
          </a:xfrm>
          <a:prstGeom prst="rect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39" name="Freeform 39"/>
          <p:cNvSpPr/>
          <p:nvPr/>
        </p:nvSpPr>
        <p:spPr>
          <a:xfrm>
            <a:off x="8273064" y="4000500"/>
            <a:ext cx="255972" cy="266700"/>
          </a:xfrm>
          <a:custGeom>
            <a:avLst/>
            <a:gdLst/>
            <a:ahLst/>
            <a:cxnLst/>
            <a:rect l="l" t="t" r="r" b="b"/>
            <a:pathLst>
              <a:path w="255972" h="266700">
                <a:moveTo>
                  <a:pt x="102983" y="0"/>
                </a:moveTo>
                <a:lnTo>
                  <a:pt x="152989" y="0"/>
                </a:lnTo>
                <a:lnTo>
                  <a:pt x="162889" y="39596"/>
                </a:lnTo>
                <a:cubicBezTo>
                  <a:pt x="173452" y="43530"/>
                  <a:pt x="183171" y="49199"/>
                  <a:pt x="191699" y="56255"/>
                </a:cubicBezTo>
                <a:lnTo>
                  <a:pt x="230969" y="45022"/>
                </a:lnTo>
                <a:lnTo>
                  <a:pt x="255972" y="88328"/>
                </a:lnTo>
                <a:lnTo>
                  <a:pt x="226620" y="116709"/>
                </a:lnTo>
                <a:cubicBezTo>
                  <a:pt x="227527" y="122121"/>
                  <a:pt x="227998" y="127680"/>
                  <a:pt x="227998" y="133350"/>
                </a:cubicBezTo>
                <a:cubicBezTo>
                  <a:pt x="227998" y="139020"/>
                  <a:pt x="227527" y="144579"/>
                  <a:pt x="226620" y="149991"/>
                </a:cubicBezTo>
                <a:lnTo>
                  <a:pt x="255972" y="178372"/>
                </a:lnTo>
                <a:lnTo>
                  <a:pt x="230969" y="221678"/>
                </a:lnTo>
                <a:lnTo>
                  <a:pt x="191699" y="210445"/>
                </a:lnTo>
                <a:cubicBezTo>
                  <a:pt x="183171" y="217501"/>
                  <a:pt x="173452" y="223170"/>
                  <a:pt x="162889" y="227103"/>
                </a:cubicBezTo>
                <a:lnTo>
                  <a:pt x="152989" y="266700"/>
                </a:lnTo>
                <a:lnTo>
                  <a:pt x="102983" y="266700"/>
                </a:lnTo>
                <a:lnTo>
                  <a:pt x="93084" y="227103"/>
                </a:lnTo>
                <a:cubicBezTo>
                  <a:pt x="82521" y="223170"/>
                  <a:pt x="72801" y="217501"/>
                  <a:pt x="64273" y="210445"/>
                </a:cubicBezTo>
                <a:lnTo>
                  <a:pt x="25003" y="221678"/>
                </a:lnTo>
                <a:lnTo>
                  <a:pt x="0" y="178372"/>
                </a:lnTo>
                <a:lnTo>
                  <a:pt x="29352" y="149991"/>
                </a:lnTo>
                <a:cubicBezTo>
                  <a:pt x="28445" y="144579"/>
                  <a:pt x="27974" y="139020"/>
                  <a:pt x="27974" y="133350"/>
                </a:cubicBezTo>
                <a:cubicBezTo>
                  <a:pt x="27974" y="127680"/>
                  <a:pt x="28445" y="122121"/>
                  <a:pt x="29352" y="116709"/>
                </a:cubicBezTo>
                <a:lnTo>
                  <a:pt x="0" y="88328"/>
                </a:lnTo>
                <a:lnTo>
                  <a:pt x="25003" y="45022"/>
                </a:lnTo>
                <a:lnTo>
                  <a:pt x="64273" y="56255"/>
                </a:lnTo>
                <a:cubicBezTo>
                  <a:pt x="72801" y="49199"/>
                  <a:pt x="82520" y="43530"/>
                  <a:pt x="93084" y="39596"/>
                </a:cubicBezTo>
                <a:lnTo>
                  <a:pt x="102983" y="0"/>
                </a:lnTo>
                <a:close/>
                <a:moveTo>
                  <a:pt x="127986" y="166688"/>
                </a:moveTo>
                <a:cubicBezTo>
                  <a:pt x="146398" y="166688"/>
                  <a:pt x="161323" y="151762"/>
                  <a:pt x="161323" y="133350"/>
                </a:cubicBezTo>
                <a:cubicBezTo>
                  <a:pt x="161323" y="114938"/>
                  <a:pt x="146398" y="100012"/>
                  <a:pt x="127986" y="100012"/>
                </a:cubicBezTo>
                <a:cubicBezTo>
                  <a:pt x="109574" y="100012"/>
                  <a:pt x="94649" y="114938"/>
                  <a:pt x="94649" y="133350"/>
                </a:cubicBezTo>
                <a:cubicBezTo>
                  <a:pt x="94649" y="151762"/>
                  <a:pt x="109574" y="166688"/>
                  <a:pt x="127986" y="166688"/>
                </a:cubicBezTo>
                <a:close/>
              </a:path>
            </a:pathLst>
          </a:custGeom>
          <a:solidFill>
            <a:srgbClr val="5B8DEF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8646795" y="4012882"/>
            <a:ext cx="181313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控制台只做治理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252460" y="4385310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控制台不再承担连接切换逻辑，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252460" y="4652010"/>
            <a:ext cx="30099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而是专注于监控、告警、任务和调度。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B8DEF">
                  <a:alpha val="8000"/>
                </a:srgbClr>
              </a:gs>
              <a:gs pos="100000">
                <a:srgbClr val="5B8D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7313A"/>
              </a:gs>
              <a:gs pos="100000">
                <a:srgbClr val="19A38C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05778" y="193834"/>
            <a:ext cx="3373985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GPU 共享正在走向常态</a:t>
            </a:r>
          </a:p>
        </p:txBody>
      </p:sp>
      <p:sp>
        <p:nvSpPr>
          <p:cNvPr id="6" name="Rectangle 6"/>
          <p:cNvSpPr/>
          <p:nvPr/>
        </p:nvSpPr>
        <p:spPr>
          <a:xfrm>
            <a:off x="533400" y="609600"/>
            <a:ext cx="11125200" cy="41910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25805" y="730568"/>
            <a:ext cx="60380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真正的难点不在于读取状态，而在于统一角色、链路和治理范围。</a:t>
            </a:r>
          </a:p>
        </p:txBody>
      </p:sp>
      <p:sp>
        <p:nvSpPr>
          <p:cNvPr id="8" name="Line 8"/>
          <p:cNvSpPr/>
          <p:nvPr/>
        </p:nvSpPr>
        <p:spPr>
          <a:xfrm>
            <a:off x="0" y="66103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D8E0E8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371475" y="6691312"/>
            <a:ext cx="36776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Source: AI DataCenter repository and implemented product features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04886" y="6691312"/>
            <a:ext cx="258222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STRICTLY CONFIDENTIAL | AI DATACENTER SHOWCASE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41229" y="6691312"/>
            <a:ext cx="7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12" name="Rectangle 12"/>
          <p:cNvSpPr/>
          <p:nvPr/>
        </p:nvSpPr>
        <p:spPr>
          <a:xfrm>
            <a:off x="800100" y="1504950"/>
            <a:ext cx="4095750" cy="45339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762000" y="1447800"/>
            <a:ext cx="4095750" cy="453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762000" y="1447800"/>
            <a:ext cx="4095750" cy="5715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007745" y="1574482"/>
            <a:ext cx="206616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共享算力成为常态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11555" y="1949768"/>
            <a:ext cx="358330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实验室、企业研发和共享服务器场景里，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11555" y="2235518"/>
            <a:ext cx="317911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GPU 正被越来越多的用户并行使用。</a:t>
            </a:r>
          </a:p>
        </p:txBody>
      </p:sp>
      <p:sp>
        <p:nvSpPr>
          <p:cNvPr id="18" name="Rectangle 18"/>
          <p:cNvSpPr/>
          <p:nvPr/>
        </p:nvSpPr>
        <p:spPr>
          <a:xfrm>
            <a:off x="1066800" y="2724150"/>
            <a:ext cx="3562350" cy="9334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1028700" y="2667000"/>
            <a:ext cx="3562350" cy="9334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1028700" y="2667000"/>
            <a:ext cx="3562350" cy="57150"/>
          </a:xfrm>
          <a:prstGeom prst="rect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221105" y="2845118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多角色并行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24915" y="3144202"/>
            <a:ext cx="34004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管理员、负责人、算法工程师同时关心资源状态，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24915" y="3353752"/>
            <a:ext cx="24803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但他们需要的视角和动作完全不同。</a:t>
            </a:r>
          </a:p>
        </p:txBody>
      </p:sp>
      <p:sp>
        <p:nvSpPr>
          <p:cNvPr id="24" name="Rectangle 24"/>
          <p:cNvSpPr/>
          <p:nvPr/>
        </p:nvSpPr>
        <p:spPr>
          <a:xfrm>
            <a:off x="1066800" y="3790950"/>
            <a:ext cx="3562350" cy="9334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1028700" y="3733800"/>
            <a:ext cx="3562350" cy="9334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1028700" y="3733800"/>
            <a:ext cx="3562350" cy="57150"/>
          </a:xfrm>
          <a:prstGeom prst="rect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221105" y="3911918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多机器来源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24915" y="4211002"/>
            <a:ext cx="32470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有的机器本地部署 agent，有的机器只有 SSH，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24915" y="442055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接入方式天然不统一。</a:t>
            </a:r>
          </a:p>
        </p:txBody>
      </p:sp>
      <p:sp>
        <p:nvSpPr>
          <p:cNvPr id="30" name="Rectangle 30"/>
          <p:cNvSpPr/>
          <p:nvPr/>
        </p:nvSpPr>
        <p:spPr>
          <a:xfrm>
            <a:off x="1066800" y="4857750"/>
            <a:ext cx="3562350" cy="9334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1028700" y="4800600"/>
            <a:ext cx="3562350" cy="9334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1028700" y="4800600"/>
            <a:ext cx="3562350" cy="57150"/>
          </a:xfrm>
          <a:prstGeom prst="rect">
            <a:avLst/>
          </a:prstGeom>
          <a:solidFill>
            <a:srgbClr val="1F9D68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221105" y="4978718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多任务交织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24915" y="5277802"/>
            <a:ext cx="30937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训练任务、告警、调度、功耗治理交错发生，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24915" y="5487352"/>
            <a:ext cx="21736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简单监控页无法承担治理职责。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257800" y="1504950"/>
            <a:ext cx="6191250" cy="45339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5219700" y="1447800"/>
            <a:ext cx="6191250" cy="453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5219700" y="1447800"/>
            <a:ext cx="6191250" cy="57150"/>
          </a:xfrm>
          <a:prstGeom prst="rect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503545" y="1574482"/>
            <a:ext cx="390064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共享 GPU 场景下的三类结构性矛盾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581650" y="2266950"/>
            <a:ext cx="1771650" cy="30099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5543550" y="2209800"/>
            <a:ext cx="1771650" cy="300990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42" name="Rectangle 42"/>
          <p:cNvSpPr/>
          <p:nvPr/>
        </p:nvSpPr>
        <p:spPr>
          <a:xfrm>
            <a:off x="5543550" y="2209800"/>
            <a:ext cx="1771650" cy="5715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grpSp>
        <p:nvGrpSpPr>
          <p:cNvPr id="47" name="Group 47"/>
          <p:cNvGrpSpPr/>
          <p:nvPr/>
        </p:nvGrpSpPr>
        <p:grpSpPr>
          <a:xfrm>
            <a:off x="6210300" y="2534841"/>
            <a:ext cx="323850" cy="283368"/>
            <a:chOff x="6210300" y="2534841"/>
            <a:chExt cx="323850" cy="283368"/>
          </a:xfrm>
        </p:grpSpPr>
        <p:sp>
          <p:nvSpPr>
            <p:cNvPr id="43" name="Freeform 43"/>
            <p:cNvSpPr/>
            <p:nvPr/>
          </p:nvSpPr>
          <p:spPr>
            <a:xfrm>
              <a:off x="6271022" y="2534841"/>
              <a:ext cx="101203" cy="101203"/>
            </a:xfrm>
            <a:custGeom>
              <a:avLst/>
              <a:gdLst/>
              <a:ahLst/>
              <a:cxnLst/>
              <a:rect l="l" t="t" r="r" b="b"/>
              <a:pathLst>
                <a:path w="101203" h="101203">
                  <a:moveTo>
                    <a:pt x="101203" y="50602"/>
                  </a:moveTo>
                  <a:cubicBezTo>
                    <a:pt x="101203" y="78548"/>
                    <a:pt x="78548" y="101203"/>
                    <a:pt x="50602" y="101203"/>
                  </a:cubicBezTo>
                  <a:cubicBezTo>
                    <a:pt x="22655" y="101203"/>
                    <a:pt x="0" y="78548"/>
                    <a:pt x="0" y="50602"/>
                  </a:cubicBezTo>
                  <a:cubicBezTo>
                    <a:pt x="0" y="22655"/>
                    <a:pt x="22655" y="0"/>
                    <a:pt x="50602" y="0"/>
                  </a:cubicBezTo>
                  <a:cubicBezTo>
                    <a:pt x="78548" y="0"/>
                    <a:pt x="101203" y="22655"/>
                    <a:pt x="101203" y="50602"/>
                  </a:cubicBezTo>
                  <a:close/>
                </a:path>
              </a:pathLst>
            </a:custGeom>
            <a:solidFill>
              <a:srgbClr val="17313A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6210300" y="2676525"/>
              <a:ext cx="161925" cy="141684"/>
            </a:xfrm>
            <a:custGeom>
              <a:avLst/>
              <a:gdLst/>
              <a:ahLst/>
              <a:cxnLst/>
              <a:rect l="l" t="t" r="r" b="b"/>
              <a:pathLst>
                <a:path w="161925" h="141684">
                  <a:moveTo>
                    <a:pt x="60722" y="0"/>
                  </a:moveTo>
                  <a:cubicBezTo>
                    <a:pt x="27186" y="0"/>
                    <a:pt x="0" y="27186"/>
                    <a:pt x="0" y="60722"/>
                  </a:cubicBezTo>
                  <a:lnTo>
                    <a:pt x="0" y="141684"/>
                  </a:lnTo>
                  <a:lnTo>
                    <a:pt x="161925" y="141684"/>
                  </a:lnTo>
                  <a:lnTo>
                    <a:pt x="161925" y="0"/>
                  </a:lnTo>
                  <a:lnTo>
                    <a:pt x="60722" y="0"/>
                  </a:lnTo>
                  <a:close/>
                </a:path>
              </a:pathLst>
            </a:custGeom>
            <a:solidFill>
              <a:srgbClr val="17313A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6412706" y="2676525"/>
              <a:ext cx="121444" cy="141684"/>
            </a:xfrm>
            <a:custGeom>
              <a:avLst/>
              <a:gdLst/>
              <a:ahLst/>
              <a:cxnLst/>
              <a:rect l="l" t="t" r="r" b="b"/>
              <a:pathLst>
                <a:path w="121444" h="141684">
                  <a:moveTo>
                    <a:pt x="60722" y="0"/>
                  </a:moveTo>
                  <a:lnTo>
                    <a:pt x="0" y="0"/>
                  </a:lnTo>
                  <a:lnTo>
                    <a:pt x="0" y="141684"/>
                  </a:lnTo>
                  <a:lnTo>
                    <a:pt x="121444" y="141684"/>
                  </a:lnTo>
                  <a:lnTo>
                    <a:pt x="121444" y="60722"/>
                  </a:lnTo>
                  <a:cubicBezTo>
                    <a:pt x="121444" y="27186"/>
                    <a:pt x="94259" y="0"/>
                    <a:pt x="60722" y="0"/>
                  </a:cubicBezTo>
                  <a:close/>
                </a:path>
              </a:pathLst>
            </a:custGeom>
            <a:solidFill>
              <a:srgbClr val="17313A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6412706" y="2555081"/>
              <a:ext cx="80962" cy="80962"/>
            </a:xfrm>
            <a:custGeom>
              <a:avLst/>
              <a:gdLst/>
              <a:ahLst/>
              <a:cxnLst/>
              <a:rect l="l" t="t" r="r" b="b"/>
              <a:pathLst>
                <a:path w="80962" h="80962">
                  <a:moveTo>
                    <a:pt x="40481" y="80962"/>
                  </a:moveTo>
                  <a:cubicBezTo>
                    <a:pt x="62839" y="80962"/>
                    <a:pt x="80962" y="62838"/>
                    <a:pt x="80962" y="40481"/>
                  </a:cubicBezTo>
                  <a:cubicBezTo>
                    <a:pt x="80962" y="18124"/>
                    <a:pt x="62839" y="0"/>
                    <a:pt x="40481" y="0"/>
                  </a:cubicBezTo>
                  <a:cubicBezTo>
                    <a:pt x="18123" y="0"/>
                    <a:pt x="0" y="18124"/>
                    <a:pt x="0" y="40481"/>
                  </a:cubicBezTo>
                  <a:cubicBezTo>
                    <a:pt x="0" y="62838"/>
                    <a:pt x="18123" y="80962"/>
                    <a:pt x="40481" y="80962"/>
                  </a:cubicBezTo>
                  <a:close/>
                </a:path>
              </a:pathLst>
            </a:custGeom>
            <a:solidFill>
              <a:srgbClr val="17313A"/>
            </a:solidFill>
            <a:ln>
              <a:noFill/>
            </a:ln>
          </p:spPr>
        </p:sp>
      </p:grpSp>
      <p:sp>
        <p:nvSpPr>
          <p:cNvPr id="48" name="TextBox 48"/>
          <p:cNvSpPr txBox="1"/>
          <p:nvPr/>
        </p:nvSpPr>
        <p:spPr>
          <a:xfrm>
            <a:off x="5791152" y="286416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角色视角割裂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888355" y="3223260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管理员要范围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888355" y="3489960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使用者要效率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888355" y="3756660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负责人要复盘</a:t>
            </a:r>
          </a:p>
        </p:txBody>
      </p:sp>
      <p:sp>
        <p:nvSpPr>
          <p:cNvPr id="52" name="Line 52"/>
          <p:cNvSpPr/>
          <p:nvPr/>
        </p:nvSpPr>
        <p:spPr>
          <a:xfrm>
            <a:off x="5848350" y="4095750"/>
            <a:ext cx="1162050" cy="9525"/>
          </a:xfrm>
          <a:custGeom>
            <a:avLst/>
            <a:gdLst/>
            <a:ahLst/>
            <a:cxnLst/>
            <a:rect l="l" t="t" r="r" b="b"/>
            <a:pathLst>
              <a:path w="1162050" h="9525">
                <a:moveTo>
                  <a:pt x="0" y="0"/>
                </a:moveTo>
                <a:lnTo>
                  <a:pt x="1162050" y="0"/>
                </a:lnTo>
              </a:path>
            </a:pathLst>
          </a:custGeom>
          <a:noFill/>
          <a:ln w="9525">
            <a:solidFill>
              <a:srgbClr val="D8E0E8">
                <a:alpha val="50000"/>
              </a:srgbClr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5491401" y="4333399"/>
            <a:ext cx="18759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结果是同一台机器被不同工具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562600" y="4523899"/>
            <a:ext cx="17335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和不同表述方式拆开管理。</a:t>
            </a:r>
          </a:p>
        </p:txBody>
      </p:sp>
      <p:sp>
        <p:nvSpPr>
          <p:cNvPr id="55" name="Rectangle 55"/>
          <p:cNvSpPr/>
          <p:nvPr/>
        </p:nvSpPr>
        <p:spPr>
          <a:xfrm>
            <a:off x="7467600" y="2266950"/>
            <a:ext cx="1771650" cy="30099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56" name="Rectangle 56"/>
          <p:cNvSpPr/>
          <p:nvPr/>
        </p:nvSpPr>
        <p:spPr>
          <a:xfrm>
            <a:off x="7429500" y="2209800"/>
            <a:ext cx="1771650" cy="300990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57" name="Rectangle 57"/>
          <p:cNvSpPr/>
          <p:nvPr/>
        </p:nvSpPr>
        <p:spPr>
          <a:xfrm>
            <a:off x="7429500" y="2209800"/>
            <a:ext cx="1771650" cy="57150"/>
          </a:xfrm>
          <a:prstGeom prst="rect">
            <a:avLst/>
          </a:prstGeom>
          <a:solidFill>
            <a:srgbClr val="19A38C"/>
          </a:solidFill>
          <a:ln>
            <a:noFill/>
          </a:ln>
        </p:spPr>
      </p:sp>
      <p:grpSp>
        <p:nvGrpSpPr>
          <p:cNvPr id="60" name="Group 60"/>
          <p:cNvGrpSpPr/>
          <p:nvPr/>
        </p:nvGrpSpPr>
        <p:grpSpPr>
          <a:xfrm>
            <a:off x="8096250" y="2555081"/>
            <a:ext cx="323850" cy="242888"/>
            <a:chOff x="8096250" y="2555081"/>
            <a:chExt cx="323850" cy="242888"/>
          </a:xfrm>
        </p:grpSpPr>
        <p:sp>
          <p:nvSpPr>
            <p:cNvPr id="58" name="Freeform 58"/>
            <p:cNvSpPr/>
            <p:nvPr/>
          </p:nvSpPr>
          <p:spPr>
            <a:xfrm>
              <a:off x="8096250" y="2555081"/>
              <a:ext cx="323850" cy="101203"/>
            </a:xfrm>
            <a:custGeom>
              <a:avLst/>
              <a:gdLst/>
              <a:ahLst/>
              <a:cxnLst/>
              <a:rect l="l" t="t" r="r" b="b"/>
              <a:pathLst>
                <a:path w="323850" h="101203">
                  <a:moveTo>
                    <a:pt x="323850" y="0"/>
                  </a:moveTo>
                  <a:lnTo>
                    <a:pt x="0" y="0"/>
                  </a:lnTo>
                  <a:lnTo>
                    <a:pt x="0" y="101203"/>
                  </a:lnTo>
                  <a:lnTo>
                    <a:pt x="323850" y="101203"/>
                  </a:lnTo>
                  <a:lnTo>
                    <a:pt x="323850" y="0"/>
                  </a:lnTo>
                  <a:close/>
                  <a:moveTo>
                    <a:pt x="80962" y="50602"/>
                  </a:moveTo>
                  <a:cubicBezTo>
                    <a:pt x="80962" y="61780"/>
                    <a:pt x="71900" y="70842"/>
                    <a:pt x="60722" y="70842"/>
                  </a:cubicBezTo>
                  <a:cubicBezTo>
                    <a:pt x="49543" y="70842"/>
                    <a:pt x="40481" y="61780"/>
                    <a:pt x="40481" y="50602"/>
                  </a:cubicBezTo>
                  <a:cubicBezTo>
                    <a:pt x="40481" y="39423"/>
                    <a:pt x="49543" y="30361"/>
                    <a:pt x="60722" y="30361"/>
                  </a:cubicBezTo>
                  <a:cubicBezTo>
                    <a:pt x="71900" y="30361"/>
                    <a:pt x="80962" y="39423"/>
                    <a:pt x="80962" y="50602"/>
                  </a:cubicBezTo>
                  <a:close/>
                </a:path>
              </a:pathLst>
            </a:custGeom>
            <a:solidFill>
              <a:srgbClr val="19A38C"/>
            </a:solidFill>
            <a:ln>
              <a:noFill/>
            </a:ln>
          </p:spPr>
        </p:sp>
        <p:sp>
          <p:nvSpPr>
            <p:cNvPr id="59" name="Freeform 59"/>
            <p:cNvSpPr/>
            <p:nvPr/>
          </p:nvSpPr>
          <p:spPr>
            <a:xfrm>
              <a:off x="8096250" y="2696766"/>
              <a:ext cx="323850" cy="101203"/>
            </a:xfrm>
            <a:custGeom>
              <a:avLst/>
              <a:gdLst/>
              <a:ahLst/>
              <a:cxnLst/>
              <a:rect l="l" t="t" r="r" b="b"/>
              <a:pathLst>
                <a:path w="323850" h="101203">
                  <a:moveTo>
                    <a:pt x="323850" y="0"/>
                  </a:moveTo>
                  <a:lnTo>
                    <a:pt x="0" y="0"/>
                  </a:lnTo>
                  <a:lnTo>
                    <a:pt x="0" y="101203"/>
                  </a:lnTo>
                  <a:lnTo>
                    <a:pt x="323850" y="101203"/>
                  </a:lnTo>
                  <a:lnTo>
                    <a:pt x="323850" y="0"/>
                  </a:lnTo>
                  <a:close/>
                  <a:moveTo>
                    <a:pt x="60722" y="70842"/>
                  </a:moveTo>
                  <a:cubicBezTo>
                    <a:pt x="71900" y="70842"/>
                    <a:pt x="80962" y="61780"/>
                    <a:pt x="80962" y="50602"/>
                  </a:cubicBezTo>
                  <a:cubicBezTo>
                    <a:pt x="80962" y="39423"/>
                    <a:pt x="71900" y="30361"/>
                    <a:pt x="60722" y="30361"/>
                  </a:cubicBezTo>
                  <a:cubicBezTo>
                    <a:pt x="49543" y="30361"/>
                    <a:pt x="40481" y="39423"/>
                    <a:pt x="40481" y="50602"/>
                  </a:cubicBezTo>
                  <a:cubicBezTo>
                    <a:pt x="40481" y="61780"/>
                    <a:pt x="49543" y="70842"/>
                    <a:pt x="60722" y="70842"/>
                  </a:cubicBezTo>
                  <a:close/>
                </a:path>
              </a:pathLst>
            </a:custGeom>
            <a:solidFill>
              <a:srgbClr val="19A38C"/>
            </a:solidFill>
            <a:ln>
              <a:noFill/>
            </a:ln>
          </p:spPr>
        </p:sp>
      </p:grpSp>
      <p:sp>
        <p:nvSpPr>
          <p:cNvPr id="61" name="TextBox 61"/>
          <p:cNvSpPr txBox="1"/>
          <p:nvPr/>
        </p:nvSpPr>
        <p:spPr>
          <a:xfrm>
            <a:off x="7677102" y="286416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连接链路割裂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840028" y="3223260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HTTP Agent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953946" y="3489960"/>
            <a:ext cx="72275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SSH 命令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7949565" y="37566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临时脚本</a:t>
            </a:r>
          </a:p>
        </p:txBody>
      </p:sp>
      <p:sp>
        <p:nvSpPr>
          <p:cNvPr id="65" name="Line 65"/>
          <p:cNvSpPr/>
          <p:nvPr/>
        </p:nvSpPr>
        <p:spPr>
          <a:xfrm>
            <a:off x="7734300" y="4095750"/>
            <a:ext cx="1162050" cy="9525"/>
          </a:xfrm>
          <a:custGeom>
            <a:avLst/>
            <a:gdLst/>
            <a:ahLst/>
            <a:cxnLst/>
            <a:rect l="l" t="t" r="r" b="b"/>
            <a:pathLst>
              <a:path w="1162050" h="9525">
                <a:moveTo>
                  <a:pt x="0" y="0"/>
                </a:moveTo>
                <a:lnTo>
                  <a:pt x="1162050" y="0"/>
                </a:lnTo>
              </a:path>
            </a:pathLst>
          </a:custGeom>
          <a:noFill/>
          <a:ln w="9525">
            <a:solidFill>
              <a:srgbClr val="D8E0E8">
                <a:alpha val="50000"/>
              </a:srgbClr>
            </a:solidFill>
          </a:ln>
        </p:spPr>
      </p:sp>
      <p:sp>
        <p:nvSpPr>
          <p:cNvPr id="66" name="TextBox 66"/>
          <p:cNvSpPr txBox="1"/>
          <p:nvPr/>
        </p:nvSpPr>
        <p:spPr>
          <a:xfrm>
            <a:off x="7377351" y="4333399"/>
            <a:ext cx="18759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不同接入方式缺乏统一抽象，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7519749" y="4523899"/>
            <a:ext cx="15911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很难形成稳定产品入口。</a:t>
            </a:r>
          </a:p>
        </p:txBody>
      </p:sp>
      <p:sp>
        <p:nvSpPr>
          <p:cNvPr id="68" name="Rectangle 68"/>
          <p:cNvSpPr/>
          <p:nvPr/>
        </p:nvSpPr>
        <p:spPr>
          <a:xfrm>
            <a:off x="9353550" y="2266950"/>
            <a:ext cx="1771650" cy="30099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69" name="Rectangle 69"/>
          <p:cNvSpPr/>
          <p:nvPr/>
        </p:nvSpPr>
        <p:spPr>
          <a:xfrm>
            <a:off x="9315450" y="2209800"/>
            <a:ext cx="1771650" cy="300990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70" name="Rectangle 70"/>
          <p:cNvSpPr/>
          <p:nvPr/>
        </p:nvSpPr>
        <p:spPr>
          <a:xfrm>
            <a:off x="9315450" y="2209800"/>
            <a:ext cx="1771650" cy="57150"/>
          </a:xfrm>
          <a:prstGeom prst="rect">
            <a:avLst/>
          </a:prstGeom>
          <a:solidFill>
            <a:srgbClr val="D9485F"/>
          </a:solidFill>
          <a:ln>
            <a:noFill/>
          </a:ln>
        </p:spPr>
      </p:sp>
      <p:sp>
        <p:nvSpPr>
          <p:cNvPr id="71" name="Freeform 71"/>
          <p:cNvSpPr/>
          <p:nvPr/>
        </p:nvSpPr>
        <p:spPr>
          <a:xfrm>
            <a:off x="9982200" y="2514600"/>
            <a:ext cx="323850" cy="303609"/>
          </a:xfrm>
          <a:custGeom>
            <a:avLst/>
            <a:gdLst/>
            <a:ahLst/>
            <a:cxnLst/>
            <a:rect l="l" t="t" r="r" b="b"/>
            <a:pathLst>
              <a:path w="323850" h="303609">
                <a:moveTo>
                  <a:pt x="323850" y="303609"/>
                </a:moveTo>
                <a:lnTo>
                  <a:pt x="0" y="303609"/>
                </a:lnTo>
                <a:lnTo>
                  <a:pt x="0" y="242888"/>
                </a:lnTo>
                <a:lnTo>
                  <a:pt x="141684" y="0"/>
                </a:lnTo>
                <a:lnTo>
                  <a:pt x="182166" y="0"/>
                </a:lnTo>
                <a:lnTo>
                  <a:pt x="323850" y="242888"/>
                </a:lnTo>
                <a:lnTo>
                  <a:pt x="323850" y="303609"/>
                </a:lnTo>
                <a:close/>
                <a:moveTo>
                  <a:pt x="141684" y="80962"/>
                </a:moveTo>
                <a:lnTo>
                  <a:pt x="182166" y="80962"/>
                </a:lnTo>
                <a:lnTo>
                  <a:pt x="182166" y="182166"/>
                </a:lnTo>
                <a:lnTo>
                  <a:pt x="141684" y="182166"/>
                </a:lnTo>
                <a:lnTo>
                  <a:pt x="141684" y="80962"/>
                </a:lnTo>
                <a:close/>
                <a:moveTo>
                  <a:pt x="141684" y="222647"/>
                </a:moveTo>
                <a:lnTo>
                  <a:pt x="182166" y="222647"/>
                </a:lnTo>
                <a:lnTo>
                  <a:pt x="182166" y="263128"/>
                </a:lnTo>
                <a:lnTo>
                  <a:pt x="141684" y="263128"/>
                </a:lnTo>
                <a:lnTo>
                  <a:pt x="141684" y="222647"/>
                </a:lnTo>
                <a:close/>
              </a:path>
            </a:pathLst>
          </a:custGeom>
          <a:solidFill>
            <a:srgbClr val="D9485F"/>
          </a:solidFill>
          <a:ln>
            <a:noFill/>
          </a:ln>
        </p:spPr>
      </p:sp>
      <p:sp>
        <p:nvSpPr>
          <p:cNvPr id="72" name="TextBox 72"/>
          <p:cNvSpPr txBox="1"/>
          <p:nvPr/>
        </p:nvSpPr>
        <p:spPr>
          <a:xfrm>
            <a:off x="9563052" y="286416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治理边界割裂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9694069" y="3231356"/>
            <a:ext cx="10144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看得到全部卡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9529762" y="3479006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却不清楚该管哪张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9447609" y="3726656"/>
            <a:ext cx="15073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也不清楚动作影响谁</a:t>
            </a:r>
          </a:p>
        </p:txBody>
      </p:sp>
      <p:sp>
        <p:nvSpPr>
          <p:cNvPr id="76" name="Line 76"/>
          <p:cNvSpPr/>
          <p:nvPr/>
        </p:nvSpPr>
        <p:spPr>
          <a:xfrm>
            <a:off x="9620250" y="4095750"/>
            <a:ext cx="1162050" cy="9525"/>
          </a:xfrm>
          <a:custGeom>
            <a:avLst/>
            <a:gdLst/>
            <a:ahLst/>
            <a:cxnLst/>
            <a:rect l="l" t="t" r="r" b="b"/>
            <a:pathLst>
              <a:path w="1162050" h="9525">
                <a:moveTo>
                  <a:pt x="0" y="0"/>
                </a:moveTo>
                <a:lnTo>
                  <a:pt x="1162050" y="0"/>
                </a:lnTo>
              </a:path>
            </a:pathLst>
          </a:custGeom>
          <a:noFill/>
          <a:ln w="9525">
            <a:solidFill>
              <a:srgbClr val="D8E0E8">
                <a:alpha val="50000"/>
              </a:srgbClr>
            </a:solidFill>
          </a:ln>
        </p:spPr>
      </p:sp>
      <p:sp>
        <p:nvSpPr>
          <p:cNvPr id="77" name="TextBox 77"/>
          <p:cNvSpPr txBox="1"/>
          <p:nvPr/>
        </p:nvSpPr>
        <p:spPr>
          <a:xfrm>
            <a:off x="9263301" y="4333399"/>
            <a:ext cx="18759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资源可见不等于资源可治理，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9263301" y="4523899"/>
            <a:ext cx="18759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范围模糊会直接带来误操作。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B8DEF">
                  <a:alpha val="8000"/>
                </a:srgbClr>
              </a:gs>
              <a:gs pos="100000">
                <a:srgbClr val="5B8D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7313A"/>
              </a:gs>
              <a:gs pos="100000">
                <a:srgbClr val="19A38C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05778" y="193834"/>
            <a:ext cx="4057745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传统方式难以形成治理闭环</a:t>
            </a:r>
          </a:p>
        </p:txBody>
      </p:sp>
      <p:sp>
        <p:nvSpPr>
          <p:cNvPr id="6" name="Rectangle 6"/>
          <p:cNvSpPr/>
          <p:nvPr/>
        </p:nvSpPr>
        <p:spPr>
          <a:xfrm>
            <a:off x="533400" y="609600"/>
            <a:ext cx="11125200" cy="41910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25805" y="730568"/>
            <a:ext cx="582066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只依赖 SSH、脚本或零散监控页，最终会把使用成本转移给人。</a:t>
            </a:r>
          </a:p>
        </p:txBody>
      </p:sp>
      <p:sp>
        <p:nvSpPr>
          <p:cNvPr id="8" name="Line 8"/>
          <p:cNvSpPr/>
          <p:nvPr/>
        </p:nvSpPr>
        <p:spPr>
          <a:xfrm>
            <a:off x="0" y="66103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D8E0E8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371475" y="6691312"/>
            <a:ext cx="36776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Source: AI DataCenter repository and implemented product features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04886" y="6691312"/>
            <a:ext cx="258222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STRICTLY CONFIDENTIAL | AI DATACENTER SHOWCASE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41229" y="6691312"/>
            <a:ext cx="7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12" name="Rectangle 12"/>
          <p:cNvSpPr/>
          <p:nvPr/>
        </p:nvSpPr>
        <p:spPr>
          <a:xfrm>
            <a:off x="800100" y="1504950"/>
            <a:ext cx="4762500" cy="45148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762000" y="1447800"/>
            <a:ext cx="4762500" cy="451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762000" y="1447800"/>
            <a:ext cx="4762500" cy="57150"/>
          </a:xfrm>
          <a:prstGeom prst="rect">
            <a:avLst/>
          </a:prstGeom>
          <a:solidFill>
            <a:srgbClr val="D9485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007745" y="157448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四类典型痛点</a:t>
            </a:r>
          </a:p>
        </p:txBody>
      </p:sp>
      <p:sp>
        <p:nvSpPr>
          <p:cNvPr id="16" name="Rectangle 16"/>
          <p:cNvSpPr/>
          <p:nvPr/>
        </p:nvSpPr>
        <p:spPr>
          <a:xfrm>
            <a:off x="1066800" y="2209800"/>
            <a:ext cx="2000250" cy="15240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1028700" y="2152650"/>
            <a:ext cx="2000250" cy="152400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1028700" y="2152650"/>
            <a:ext cx="2000250" cy="57150"/>
          </a:xfrm>
          <a:prstGeom prst="rect">
            <a:avLst/>
          </a:prstGeom>
          <a:solidFill>
            <a:srgbClr val="D9485F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183005" y="23307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入口分散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86815" y="2687002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看监控、连主机、管任务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86815" y="2896552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分别依赖不同页面与工具。</a:t>
            </a:r>
          </a:p>
        </p:txBody>
      </p:sp>
      <p:sp>
        <p:nvSpPr>
          <p:cNvPr id="22" name="Rectangle 22"/>
          <p:cNvSpPr/>
          <p:nvPr/>
        </p:nvSpPr>
        <p:spPr>
          <a:xfrm>
            <a:off x="3333750" y="2209800"/>
            <a:ext cx="2000250" cy="15240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3295650" y="2152650"/>
            <a:ext cx="2000250" cy="152400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3295650" y="2152650"/>
            <a:ext cx="2000250" cy="571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3449955" y="23307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边界模糊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453765" y="268700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控制台容易混入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453765" y="2896552"/>
            <a:ext cx="17058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不属于当前任务的 GPU，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453765" y="3106102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或当前用户范围外的卡。</a:t>
            </a:r>
          </a:p>
        </p:txBody>
      </p:sp>
      <p:sp>
        <p:nvSpPr>
          <p:cNvPr id="29" name="Rectangle 29"/>
          <p:cNvSpPr/>
          <p:nvPr/>
        </p:nvSpPr>
        <p:spPr>
          <a:xfrm>
            <a:off x="1066800" y="4000500"/>
            <a:ext cx="2000250" cy="15240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1028700" y="3943350"/>
            <a:ext cx="2000250" cy="152400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1028700" y="3943350"/>
            <a:ext cx="2000250" cy="57150"/>
          </a:xfrm>
          <a:prstGeom prst="rect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183005" y="41214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安全薄弱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86815" y="447770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凭据复用、用户隔离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86815" y="4687252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和主机归属关系难以成立。</a:t>
            </a:r>
          </a:p>
        </p:txBody>
      </p:sp>
      <p:sp>
        <p:nvSpPr>
          <p:cNvPr id="35" name="Rectangle 35"/>
          <p:cNvSpPr/>
          <p:nvPr/>
        </p:nvSpPr>
        <p:spPr>
          <a:xfrm>
            <a:off x="3333750" y="4000500"/>
            <a:ext cx="2000250" cy="15240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36" name="Rectangle 36"/>
          <p:cNvSpPr/>
          <p:nvPr/>
        </p:nvSpPr>
        <p:spPr>
          <a:xfrm>
            <a:off x="3295650" y="3943350"/>
            <a:ext cx="2000250" cy="152400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3295650" y="3943350"/>
            <a:ext cx="2000250" cy="5715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3449955" y="41214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复盘困难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453765" y="4477702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告警、任务和调度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453765" y="4687252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缺乏统一工作台，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453765" y="489680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问题难以追踪。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943600" y="1504950"/>
            <a:ext cx="5505450" cy="45148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5905500" y="1447800"/>
            <a:ext cx="5505450" cy="451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44" name="Rectangle 44"/>
          <p:cNvSpPr/>
          <p:nvPr/>
        </p:nvSpPr>
        <p:spPr>
          <a:xfrm>
            <a:off x="5905500" y="1447800"/>
            <a:ext cx="5505450" cy="5715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6151245" y="1574482"/>
            <a:ext cx="383738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传统方式的治理阻力指数（示意）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156960" y="228981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入口分散</a:t>
            </a:r>
          </a:p>
        </p:txBody>
      </p:sp>
      <p:sp>
        <p:nvSpPr>
          <p:cNvPr id="47" name="Rectangle 47"/>
          <p:cNvSpPr/>
          <p:nvPr/>
        </p:nvSpPr>
        <p:spPr>
          <a:xfrm>
            <a:off x="7239000" y="2247900"/>
            <a:ext cx="3429000" cy="2095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7239000" y="2247900"/>
            <a:ext cx="2682240" cy="209550"/>
          </a:xfrm>
          <a:prstGeom prst="rect">
            <a:avLst/>
          </a:prstGeom>
          <a:solidFill>
            <a:srgbClr val="D9485F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10629943" y="230600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D9485F"/>
                </a:solidFill>
                <a:latin typeface="Arial"/>
                <a:ea typeface="Microsoft YaHei"/>
                <a:cs typeface="Arial"/>
              </a:rPr>
              <a:t>88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156960" y="3032760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范围确认成本</a:t>
            </a:r>
          </a:p>
        </p:txBody>
      </p:sp>
      <p:sp>
        <p:nvSpPr>
          <p:cNvPr id="51" name="Rectangle 51"/>
          <p:cNvSpPr/>
          <p:nvPr/>
        </p:nvSpPr>
        <p:spPr>
          <a:xfrm>
            <a:off x="7239000" y="2990850"/>
            <a:ext cx="3429000" cy="2095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52" name="Rectangle 52"/>
          <p:cNvSpPr/>
          <p:nvPr/>
        </p:nvSpPr>
        <p:spPr>
          <a:xfrm>
            <a:off x="7239000" y="2990850"/>
            <a:ext cx="2560320" cy="2095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10629943" y="304895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84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156960" y="377571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凭据与权限风险</a:t>
            </a:r>
          </a:p>
        </p:txBody>
      </p:sp>
      <p:sp>
        <p:nvSpPr>
          <p:cNvPr id="55" name="Rectangle 55"/>
          <p:cNvSpPr/>
          <p:nvPr/>
        </p:nvSpPr>
        <p:spPr>
          <a:xfrm>
            <a:off x="7239000" y="3733800"/>
            <a:ext cx="3429000" cy="2095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56" name="Rectangle 56"/>
          <p:cNvSpPr/>
          <p:nvPr/>
        </p:nvSpPr>
        <p:spPr>
          <a:xfrm>
            <a:off x="7239000" y="3733800"/>
            <a:ext cx="2407920" cy="209550"/>
          </a:xfrm>
          <a:prstGeom prst="rect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10629943" y="379190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5B8DEF"/>
                </a:solidFill>
                <a:latin typeface="Arial"/>
                <a:ea typeface="Microsoft YaHei"/>
                <a:cs typeface="Arial"/>
              </a:rPr>
              <a:t>79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156960" y="451866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复盘与调度割裂</a:t>
            </a:r>
          </a:p>
        </p:txBody>
      </p:sp>
      <p:sp>
        <p:nvSpPr>
          <p:cNvPr id="59" name="Rectangle 59"/>
          <p:cNvSpPr/>
          <p:nvPr/>
        </p:nvSpPr>
        <p:spPr>
          <a:xfrm>
            <a:off x="7239000" y="4476750"/>
            <a:ext cx="3429000" cy="2095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60" name="Rectangle 60"/>
          <p:cNvSpPr/>
          <p:nvPr/>
        </p:nvSpPr>
        <p:spPr>
          <a:xfrm>
            <a:off x="7239000" y="4476750"/>
            <a:ext cx="2225040" cy="20955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10629943" y="453485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73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160770" y="5217795"/>
            <a:ext cx="53069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注：此处为答辩表达的体验阻力示意，目的在于说明“可见”与“可治理”之间仍有巨大差距。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B8DEF">
                  <a:alpha val="8000"/>
                </a:srgbClr>
              </a:gs>
              <a:gs pos="100000">
                <a:srgbClr val="5B8D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7313A"/>
              </a:gs>
              <a:gs pos="100000">
                <a:srgbClr val="19A38C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05778" y="193834"/>
            <a:ext cx="3724204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平台以四步重构治理闭环</a:t>
            </a:r>
          </a:p>
        </p:txBody>
      </p:sp>
      <p:sp>
        <p:nvSpPr>
          <p:cNvPr id="6" name="Rectangle 6"/>
          <p:cNvSpPr/>
          <p:nvPr/>
        </p:nvSpPr>
        <p:spPr>
          <a:xfrm>
            <a:off x="533400" y="609600"/>
            <a:ext cx="11125200" cy="41910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25805" y="730568"/>
            <a:ext cx="624506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登录、导入、选卡与控制台分别承担不同职责，系统边界因此清晰。</a:t>
            </a:r>
          </a:p>
        </p:txBody>
      </p:sp>
      <p:sp>
        <p:nvSpPr>
          <p:cNvPr id="8" name="Line 8"/>
          <p:cNvSpPr/>
          <p:nvPr/>
        </p:nvSpPr>
        <p:spPr>
          <a:xfrm>
            <a:off x="0" y="66103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D8E0E8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371475" y="6691312"/>
            <a:ext cx="36776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Source: AI DataCenter repository and implemented product features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04886" y="6691312"/>
            <a:ext cx="258222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STRICTLY CONFIDENTIAL | AI DATACENTER SHOWCASE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41229" y="6691312"/>
            <a:ext cx="7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  <p:sp>
        <p:nvSpPr>
          <p:cNvPr id="12" name="Rectangle 12"/>
          <p:cNvSpPr/>
          <p:nvPr/>
        </p:nvSpPr>
        <p:spPr>
          <a:xfrm>
            <a:off x="914400" y="1676400"/>
            <a:ext cx="10439400" cy="40005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876300" y="1619250"/>
            <a:ext cx="104394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876300" y="1619250"/>
            <a:ext cx="10439400" cy="57150"/>
          </a:xfrm>
          <a:prstGeom prst="rect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5067300" y="2590800"/>
            <a:ext cx="2057400" cy="2057400"/>
          </a:xfrm>
          <a:prstGeom prst="ellipse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4933950" y="2457450"/>
            <a:ext cx="2324100" cy="2324100"/>
          </a:xfrm>
          <a:prstGeom prst="ellipse">
            <a:avLst/>
          </a:prstGeom>
          <a:solidFill>
            <a:srgbClr val="19A38C">
              <a:alpha val="12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932463" y="3221355"/>
            <a:ext cx="32707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AI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183719" y="3545205"/>
            <a:ext cx="182456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DataCenter</a:t>
            </a:r>
          </a:p>
        </p:txBody>
      </p:sp>
      <p:sp>
        <p:nvSpPr>
          <p:cNvPr id="19" name="Rectangle 19"/>
          <p:cNvSpPr/>
          <p:nvPr/>
        </p:nvSpPr>
        <p:spPr>
          <a:xfrm>
            <a:off x="1714500" y="2362200"/>
            <a:ext cx="2381250" cy="11239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1676400" y="2305050"/>
            <a:ext cx="2381250" cy="11239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1676400" y="2305050"/>
            <a:ext cx="2381250" cy="5715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grpSp>
        <p:nvGrpSpPr>
          <p:cNvPr id="24" name="Group 24"/>
          <p:cNvGrpSpPr/>
          <p:nvPr/>
        </p:nvGrpSpPr>
        <p:grpSpPr>
          <a:xfrm>
            <a:off x="1978819" y="2589609"/>
            <a:ext cx="214312" cy="250031"/>
            <a:chOff x="1978819" y="2589609"/>
            <a:chExt cx="214312" cy="250031"/>
          </a:xfrm>
        </p:grpSpPr>
        <p:sp>
          <p:nvSpPr>
            <p:cNvPr id="22" name="Freeform 22"/>
            <p:cNvSpPr/>
            <p:nvPr/>
          </p:nvSpPr>
          <p:spPr>
            <a:xfrm>
              <a:off x="2032397" y="2589609"/>
              <a:ext cx="107156" cy="107156"/>
            </a:xfrm>
            <a:custGeom>
              <a:avLst/>
              <a:gdLst/>
              <a:ahLst/>
              <a:cxnLst/>
              <a:rect l="l" t="t" r="r" b="b"/>
              <a:pathLst>
                <a:path w="107156" h="107156">
                  <a:moveTo>
                    <a:pt x="53578" y="107156"/>
                  </a:moveTo>
                  <a:cubicBezTo>
                    <a:pt x="83168" y="107156"/>
                    <a:pt x="107156" y="83168"/>
                    <a:pt x="107156" y="53578"/>
                  </a:cubicBezTo>
                  <a:cubicBezTo>
                    <a:pt x="107156" y="23988"/>
                    <a:pt x="83168" y="0"/>
                    <a:pt x="53578" y="0"/>
                  </a:cubicBezTo>
                  <a:cubicBezTo>
                    <a:pt x="23988" y="0"/>
                    <a:pt x="0" y="23988"/>
                    <a:pt x="0" y="53578"/>
                  </a:cubicBezTo>
                  <a:cubicBezTo>
                    <a:pt x="0" y="83168"/>
                    <a:pt x="23988" y="107156"/>
                    <a:pt x="53578" y="107156"/>
                  </a:cubicBezTo>
                  <a:close/>
                </a:path>
              </a:pathLst>
            </a:custGeom>
            <a:solidFill>
              <a:srgbClr val="17313A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1978819" y="2732484"/>
              <a:ext cx="214312" cy="107156"/>
            </a:xfrm>
            <a:custGeom>
              <a:avLst/>
              <a:gdLst/>
              <a:ahLst/>
              <a:cxnLst/>
              <a:rect l="l" t="t" r="r" b="b"/>
              <a:pathLst>
                <a:path w="214312" h="107156">
                  <a:moveTo>
                    <a:pt x="214312" y="53578"/>
                  </a:moveTo>
                  <a:cubicBezTo>
                    <a:pt x="214312" y="23987"/>
                    <a:pt x="190326" y="0"/>
                    <a:pt x="160734" y="0"/>
                  </a:cubicBezTo>
                  <a:lnTo>
                    <a:pt x="53578" y="0"/>
                  </a:lnTo>
                  <a:cubicBezTo>
                    <a:pt x="23988" y="0"/>
                    <a:pt x="0" y="23987"/>
                    <a:pt x="0" y="53578"/>
                  </a:cubicBezTo>
                  <a:lnTo>
                    <a:pt x="0" y="107156"/>
                  </a:lnTo>
                  <a:lnTo>
                    <a:pt x="214312" y="107156"/>
                  </a:lnTo>
                  <a:lnTo>
                    <a:pt x="214312" y="53578"/>
                  </a:lnTo>
                  <a:close/>
                </a:path>
              </a:pathLst>
            </a:custGeom>
            <a:solidFill>
              <a:srgbClr val="17313A"/>
            </a:solidFill>
            <a:ln>
              <a:noFill/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2341245" y="2603182"/>
            <a:ext cx="54797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登录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929765" y="2972752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先建立平台身份和权限边界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172450" y="2362200"/>
            <a:ext cx="2381250" cy="11239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8134350" y="2305050"/>
            <a:ext cx="2381250" cy="11239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8134350" y="2305050"/>
            <a:ext cx="2381250" cy="57150"/>
          </a:xfrm>
          <a:prstGeom prst="rect">
            <a:avLst/>
          </a:prstGeom>
          <a:solidFill>
            <a:srgbClr val="5B8DEF"/>
          </a:solidFill>
          <a:ln>
            <a:noFill/>
          </a:ln>
        </p:spPr>
      </p:sp>
      <p:grpSp>
        <p:nvGrpSpPr>
          <p:cNvPr id="32" name="Group 32"/>
          <p:cNvGrpSpPr/>
          <p:nvPr/>
        </p:nvGrpSpPr>
        <p:grpSpPr>
          <a:xfrm>
            <a:off x="8401050" y="2607469"/>
            <a:ext cx="285750" cy="214312"/>
            <a:chOff x="8401050" y="2607469"/>
            <a:chExt cx="285750" cy="214312"/>
          </a:xfrm>
        </p:grpSpPr>
        <p:sp>
          <p:nvSpPr>
            <p:cNvPr id="30" name="Freeform 30"/>
            <p:cNvSpPr/>
            <p:nvPr/>
          </p:nvSpPr>
          <p:spPr>
            <a:xfrm>
              <a:off x="8401050" y="2607469"/>
              <a:ext cx="285750" cy="89297"/>
            </a:xfrm>
            <a:custGeom>
              <a:avLst/>
              <a:gdLst/>
              <a:ahLst/>
              <a:cxnLst/>
              <a:rect l="l" t="t" r="r" b="b"/>
              <a:pathLst>
                <a:path w="285750" h="89297">
                  <a:moveTo>
                    <a:pt x="285750" y="0"/>
                  </a:moveTo>
                  <a:lnTo>
                    <a:pt x="0" y="0"/>
                  </a:lnTo>
                  <a:lnTo>
                    <a:pt x="0" y="89297"/>
                  </a:lnTo>
                  <a:lnTo>
                    <a:pt x="285750" y="89297"/>
                  </a:lnTo>
                  <a:lnTo>
                    <a:pt x="285750" y="0"/>
                  </a:lnTo>
                  <a:close/>
                  <a:moveTo>
                    <a:pt x="71438" y="44648"/>
                  </a:moveTo>
                  <a:cubicBezTo>
                    <a:pt x="71438" y="54512"/>
                    <a:pt x="63442" y="62508"/>
                    <a:pt x="53578" y="62508"/>
                  </a:cubicBezTo>
                  <a:cubicBezTo>
                    <a:pt x="43715" y="62508"/>
                    <a:pt x="35719" y="54512"/>
                    <a:pt x="35719" y="44648"/>
                  </a:cubicBezTo>
                  <a:cubicBezTo>
                    <a:pt x="35719" y="34785"/>
                    <a:pt x="43715" y="26789"/>
                    <a:pt x="53578" y="26789"/>
                  </a:cubicBezTo>
                  <a:cubicBezTo>
                    <a:pt x="63442" y="26789"/>
                    <a:pt x="71438" y="34785"/>
                    <a:pt x="71438" y="44648"/>
                  </a:cubicBezTo>
                  <a:close/>
                </a:path>
              </a:pathLst>
            </a:custGeom>
            <a:solidFill>
              <a:srgbClr val="5B8DEF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8401050" y="2732484"/>
              <a:ext cx="285750" cy="89297"/>
            </a:xfrm>
            <a:custGeom>
              <a:avLst/>
              <a:gdLst/>
              <a:ahLst/>
              <a:cxnLst/>
              <a:rect l="l" t="t" r="r" b="b"/>
              <a:pathLst>
                <a:path w="285750" h="89297">
                  <a:moveTo>
                    <a:pt x="285750" y="0"/>
                  </a:moveTo>
                  <a:lnTo>
                    <a:pt x="0" y="0"/>
                  </a:lnTo>
                  <a:lnTo>
                    <a:pt x="0" y="89297"/>
                  </a:lnTo>
                  <a:lnTo>
                    <a:pt x="285750" y="89297"/>
                  </a:lnTo>
                  <a:lnTo>
                    <a:pt x="285750" y="0"/>
                  </a:lnTo>
                  <a:close/>
                  <a:moveTo>
                    <a:pt x="53578" y="62508"/>
                  </a:moveTo>
                  <a:cubicBezTo>
                    <a:pt x="63442" y="62508"/>
                    <a:pt x="71438" y="54512"/>
                    <a:pt x="71438" y="44648"/>
                  </a:cubicBezTo>
                  <a:cubicBezTo>
                    <a:pt x="71438" y="34785"/>
                    <a:pt x="63442" y="26789"/>
                    <a:pt x="53578" y="26789"/>
                  </a:cubicBezTo>
                  <a:cubicBezTo>
                    <a:pt x="43715" y="26789"/>
                    <a:pt x="35719" y="34785"/>
                    <a:pt x="35719" y="44648"/>
                  </a:cubicBezTo>
                  <a:cubicBezTo>
                    <a:pt x="35719" y="54512"/>
                    <a:pt x="43715" y="62508"/>
                    <a:pt x="53578" y="62508"/>
                  </a:cubicBezTo>
                  <a:close/>
                </a:path>
              </a:pathLst>
            </a:custGeom>
            <a:solidFill>
              <a:srgbClr val="5B8DEF"/>
            </a:solidFill>
            <a:ln>
              <a:noFill/>
            </a:ln>
          </p:spPr>
        </p:sp>
      </p:grpSp>
      <p:sp>
        <p:nvSpPr>
          <p:cNvPr id="33" name="TextBox 33"/>
          <p:cNvSpPr txBox="1"/>
          <p:nvPr/>
        </p:nvSpPr>
        <p:spPr>
          <a:xfrm>
            <a:off x="8799195" y="2603182"/>
            <a:ext cx="54797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导入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87715" y="2972752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先确定机器来源与接入方式</a:t>
            </a:r>
          </a:p>
        </p:txBody>
      </p:sp>
      <p:sp>
        <p:nvSpPr>
          <p:cNvPr id="35" name="Rectangle 35"/>
          <p:cNvSpPr/>
          <p:nvPr/>
        </p:nvSpPr>
        <p:spPr>
          <a:xfrm>
            <a:off x="1714500" y="4038600"/>
            <a:ext cx="2381250" cy="11239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36" name="Rectangle 36"/>
          <p:cNvSpPr/>
          <p:nvPr/>
        </p:nvSpPr>
        <p:spPr>
          <a:xfrm>
            <a:off x="1676400" y="3981450"/>
            <a:ext cx="2381250" cy="11239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1676400" y="3981450"/>
            <a:ext cx="2381250" cy="57150"/>
          </a:xfrm>
          <a:prstGeom prst="rect">
            <a:avLst/>
          </a:prstGeom>
          <a:solidFill>
            <a:srgbClr val="19A38C"/>
          </a:solidFill>
          <a:ln>
            <a:noFill/>
          </a:ln>
        </p:spPr>
      </p:sp>
      <p:grpSp>
        <p:nvGrpSpPr>
          <p:cNvPr id="40" name="Group 40"/>
          <p:cNvGrpSpPr/>
          <p:nvPr/>
        </p:nvGrpSpPr>
        <p:grpSpPr>
          <a:xfrm>
            <a:off x="1943100" y="4248150"/>
            <a:ext cx="285750" cy="285750"/>
            <a:chOff x="1943100" y="4248150"/>
            <a:chExt cx="285750" cy="285750"/>
          </a:xfrm>
        </p:grpSpPr>
        <p:sp>
          <p:nvSpPr>
            <p:cNvPr id="38" name="Freeform 38"/>
            <p:cNvSpPr/>
            <p:nvPr/>
          </p:nvSpPr>
          <p:spPr>
            <a:xfrm>
              <a:off x="2014538" y="4319588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71438" y="0"/>
                  </a:moveTo>
                  <a:cubicBezTo>
                    <a:pt x="31984" y="0"/>
                    <a:pt x="0" y="31984"/>
                    <a:pt x="0" y="71438"/>
                  </a:cubicBezTo>
                  <a:cubicBezTo>
                    <a:pt x="0" y="110891"/>
                    <a:pt x="31984" y="142875"/>
                    <a:pt x="71438" y="142875"/>
                  </a:cubicBezTo>
                  <a:cubicBezTo>
                    <a:pt x="110891" y="142875"/>
                    <a:pt x="142875" y="110891"/>
                    <a:pt x="142875" y="71438"/>
                  </a:cubicBezTo>
                  <a:cubicBezTo>
                    <a:pt x="142875" y="31984"/>
                    <a:pt x="110891" y="0"/>
                    <a:pt x="71438" y="0"/>
                  </a:cubicBezTo>
                  <a:close/>
                  <a:moveTo>
                    <a:pt x="35719" y="71438"/>
                  </a:moveTo>
                  <a:cubicBezTo>
                    <a:pt x="35719" y="51711"/>
                    <a:pt x="51711" y="35719"/>
                    <a:pt x="71438" y="35719"/>
                  </a:cubicBezTo>
                  <a:cubicBezTo>
                    <a:pt x="91164" y="35719"/>
                    <a:pt x="107156" y="51711"/>
                    <a:pt x="107156" y="71438"/>
                  </a:cubicBezTo>
                  <a:cubicBezTo>
                    <a:pt x="107156" y="91164"/>
                    <a:pt x="91164" y="107156"/>
                    <a:pt x="71438" y="107156"/>
                  </a:cubicBezTo>
                  <a:cubicBezTo>
                    <a:pt x="51711" y="107156"/>
                    <a:pt x="35719" y="91164"/>
                    <a:pt x="35719" y="71438"/>
                  </a:cubicBezTo>
                  <a:close/>
                </a:path>
              </a:pathLst>
            </a:custGeom>
            <a:solidFill>
              <a:srgbClr val="19A38C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1943100" y="424815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42875" y="0"/>
                  </a:moveTo>
                  <a:cubicBezTo>
                    <a:pt x="63967" y="0"/>
                    <a:pt x="0" y="63967"/>
                    <a:pt x="0" y="142875"/>
                  </a:cubicBezTo>
                  <a:cubicBezTo>
                    <a:pt x="0" y="221783"/>
                    <a:pt x="63967" y="285750"/>
                    <a:pt x="142875" y="285750"/>
                  </a:cubicBezTo>
                  <a:cubicBezTo>
                    <a:pt x="221783" y="285750"/>
                    <a:pt x="285750" y="221783"/>
                    <a:pt x="285750" y="142875"/>
                  </a:cubicBezTo>
                  <a:cubicBezTo>
                    <a:pt x="285750" y="63967"/>
                    <a:pt x="221783" y="0"/>
                    <a:pt x="142875" y="0"/>
                  </a:cubicBezTo>
                  <a:close/>
                  <a:moveTo>
                    <a:pt x="35719" y="142875"/>
                  </a:moveTo>
                  <a:cubicBezTo>
                    <a:pt x="35719" y="83694"/>
                    <a:pt x="83694" y="35719"/>
                    <a:pt x="142875" y="35719"/>
                  </a:cubicBezTo>
                  <a:cubicBezTo>
                    <a:pt x="202056" y="35719"/>
                    <a:pt x="250031" y="83694"/>
                    <a:pt x="250031" y="142875"/>
                  </a:cubicBezTo>
                  <a:cubicBezTo>
                    <a:pt x="250031" y="202056"/>
                    <a:pt x="202056" y="250031"/>
                    <a:pt x="142875" y="250031"/>
                  </a:cubicBezTo>
                  <a:cubicBezTo>
                    <a:pt x="83694" y="250031"/>
                    <a:pt x="35719" y="202056"/>
                    <a:pt x="35719" y="142875"/>
                  </a:cubicBezTo>
                  <a:close/>
                </a:path>
              </a:pathLst>
            </a:custGeom>
            <a:solidFill>
              <a:srgbClr val="19A38C"/>
            </a:solidFill>
            <a:ln>
              <a:noFill/>
            </a:ln>
          </p:spPr>
        </p:sp>
      </p:grpSp>
      <p:sp>
        <p:nvSpPr>
          <p:cNvPr id="41" name="TextBox 41"/>
          <p:cNvSpPr txBox="1"/>
          <p:nvPr/>
        </p:nvSpPr>
        <p:spPr>
          <a:xfrm>
            <a:off x="2341245" y="4279582"/>
            <a:ext cx="54797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选卡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929765" y="4649152"/>
            <a:ext cx="20125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先确认本次真正要治理的 GPU</a:t>
            </a:r>
          </a:p>
        </p:txBody>
      </p:sp>
      <p:sp>
        <p:nvSpPr>
          <p:cNvPr id="43" name="Rectangle 43"/>
          <p:cNvSpPr/>
          <p:nvPr/>
        </p:nvSpPr>
        <p:spPr>
          <a:xfrm>
            <a:off x="8172450" y="4038600"/>
            <a:ext cx="2381250" cy="11239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8134350" y="3981450"/>
            <a:ext cx="2381250" cy="11239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45" name="Rectangle 45"/>
          <p:cNvSpPr/>
          <p:nvPr/>
        </p:nvSpPr>
        <p:spPr>
          <a:xfrm>
            <a:off x="8134350" y="3981450"/>
            <a:ext cx="2381250" cy="57150"/>
          </a:xfrm>
          <a:prstGeom prst="rect">
            <a:avLst/>
          </a:prstGeom>
          <a:solidFill>
            <a:srgbClr val="1F9D68"/>
          </a:solidFill>
          <a:ln>
            <a:noFill/>
          </a:ln>
        </p:spPr>
      </p:sp>
      <p:sp>
        <p:nvSpPr>
          <p:cNvPr id="46" name="Freeform 46"/>
          <p:cNvSpPr/>
          <p:nvPr/>
        </p:nvSpPr>
        <p:spPr>
          <a:xfrm>
            <a:off x="8406797" y="4248150"/>
            <a:ext cx="274256" cy="285750"/>
          </a:xfrm>
          <a:custGeom>
            <a:avLst/>
            <a:gdLst/>
            <a:ahLst/>
            <a:cxnLst/>
            <a:rect l="l" t="t" r="r" b="b"/>
            <a:pathLst>
              <a:path w="274256" h="285750">
                <a:moveTo>
                  <a:pt x="110339" y="0"/>
                </a:moveTo>
                <a:lnTo>
                  <a:pt x="163917" y="0"/>
                </a:lnTo>
                <a:lnTo>
                  <a:pt x="174523" y="42425"/>
                </a:lnTo>
                <a:cubicBezTo>
                  <a:pt x="185841" y="46640"/>
                  <a:pt x="196255" y="52713"/>
                  <a:pt x="205392" y="60273"/>
                </a:cubicBezTo>
                <a:lnTo>
                  <a:pt x="247467" y="48237"/>
                </a:lnTo>
                <a:lnTo>
                  <a:pt x="274256" y="94638"/>
                </a:lnTo>
                <a:lnTo>
                  <a:pt x="242807" y="125045"/>
                </a:lnTo>
                <a:cubicBezTo>
                  <a:pt x="243779" y="130844"/>
                  <a:pt x="244284" y="136800"/>
                  <a:pt x="244284" y="142875"/>
                </a:cubicBezTo>
                <a:cubicBezTo>
                  <a:pt x="244284" y="148950"/>
                  <a:pt x="243779" y="154906"/>
                  <a:pt x="242807" y="160705"/>
                </a:cubicBezTo>
                <a:lnTo>
                  <a:pt x="274256" y="191113"/>
                </a:lnTo>
                <a:lnTo>
                  <a:pt x="247467" y="237512"/>
                </a:lnTo>
                <a:lnTo>
                  <a:pt x="205392" y="225476"/>
                </a:lnTo>
                <a:cubicBezTo>
                  <a:pt x="196255" y="233036"/>
                  <a:pt x="185841" y="239110"/>
                  <a:pt x="174523" y="243325"/>
                </a:cubicBezTo>
                <a:lnTo>
                  <a:pt x="163917" y="285750"/>
                </a:lnTo>
                <a:lnTo>
                  <a:pt x="110339" y="285750"/>
                </a:lnTo>
                <a:lnTo>
                  <a:pt x="99733" y="243325"/>
                </a:lnTo>
                <a:cubicBezTo>
                  <a:pt x="88415" y="239110"/>
                  <a:pt x="78001" y="233036"/>
                  <a:pt x="68863" y="225476"/>
                </a:cubicBezTo>
                <a:lnTo>
                  <a:pt x="26789" y="237512"/>
                </a:lnTo>
                <a:lnTo>
                  <a:pt x="0" y="191113"/>
                </a:lnTo>
                <a:lnTo>
                  <a:pt x="31448" y="160705"/>
                </a:lnTo>
                <a:cubicBezTo>
                  <a:pt x="30477" y="154906"/>
                  <a:pt x="29972" y="148950"/>
                  <a:pt x="29972" y="142875"/>
                </a:cubicBezTo>
                <a:cubicBezTo>
                  <a:pt x="29972" y="136800"/>
                  <a:pt x="30477" y="130844"/>
                  <a:pt x="31448" y="125045"/>
                </a:cubicBezTo>
                <a:lnTo>
                  <a:pt x="0" y="94638"/>
                </a:lnTo>
                <a:lnTo>
                  <a:pt x="26789" y="48237"/>
                </a:lnTo>
                <a:lnTo>
                  <a:pt x="68863" y="60273"/>
                </a:lnTo>
                <a:cubicBezTo>
                  <a:pt x="78001" y="52713"/>
                  <a:pt x="88415" y="46640"/>
                  <a:pt x="99733" y="42425"/>
                </a:cubicBezTo>
                <a:lnTo>
                  <a:pt x="110339" y="0"/>
                </a:lnTo>
                <a:close/>
                <a:moveTo>
                  <a:pt x="137128" y="178594"/>
                </a:moveTo>
                <a:cubicBezTo>
                  <a:pt x="156855" y="178594"/>
                  <a:pt x="172846" y="162602"/>
                  <a:pt x="172846" y="142875"/>
                </a:cubicBezTo>
                <a:cubicBezTo>
                  <a:pt x="172846" y="123148"/>
                  <a:pt x="156855" y="107156"/>
                  <a:pt x="137128" y="107156"/>
                </a:cubicBezTo>
                <a:cubicBezTo>
                  <a:pt x="117401" y="107156"/>
                  <a:pt x="101409" y="123148"/>
                  <a:pt x="101409" y="142875"/>
                </a:cubicBezTo>
                <a:cubicBezTo>
                  <a:pt x="101409" y="162602"/>
                  <a:pt x="117401" y="178594"/>
                  <a:pt x="137128" y="178594"/>
                </a:cubicBezTo>
                <a:close/>
              </a:path>
            </a:pathLst>
          </a:custGeom>
          <a:solidFill>
            <a:srgbClr val="1F9D68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8799195" y="4279582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控制台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387715" y="4649152"/>
            <a:ext cx="21736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再围绕选中范围进行监控与治理</a:t>
            </a:r>
          </a:p>
        </p:txBody>
      </p:sp>
      <p:sp>
        <p:nvSpPr>
          <p:cNvPr id="49" name="Line 49"/>
          <p:cNvSpPr/>
          <p:nvPr/>
        </p:nvSpPr>
        <p:spPr>
          <a:xfrm>
            <a:off x="4057650" y="2867025"/>
            <a:ext cx="933450" cy="514350"/>
          </a:xfrm>
          <a:custGeom>
            <a:avLst/>
            <a:gdLst/>
            <a:ahLst/>
            <a:cxnLst/>
            <a:rect l="l" t="t" r="r" b="b"/>
            <a:pathLst>
              <a:path w="933450" h="514350">
                <a:moveTo>
                  <a:pt x="0" y="0"/>
                </a:moveTo>
                <a:lnTo>
                  <a:pt x="933450" y="514350"/>
                </a:lnTo>
              </a:path>
            </a:pathLst>
          </a:custGeom>
          <a:noFill/>
          <a:ln w="28575">
            <a:solidFill>
              <a:srgbClr val="5B8DEF"/>
            </a:solidFill>
          </a:ln>
        </p:spPr>
      </p:sp>
      <p:sp>
        <p:nvSpPr>
          <p:cNvPr id="50" name="Polygon 50"/>
          <p:cNvSpPr/>
          <p:nvPr/>
        </p:nvSpPr>
        <p:spPr>
          <a:xfrm>
            <a:off x="4838700" y="3219450"/>
            <a:ext cx="152400" cy="161925"/>
          </a:xfrm>
          <a:custGeom>
            <a:avLst/>
            <a:gdLst/>
            <a:ahLst/>
            <a:cxnLst/>
            <a:rect l="l" t="t" r="r" b="b"/>
            <a:pathLst>
              <a:path w="152400" h="161925">
                <a:moveTo>
                  <a:pt x="152400" y="161925"/>
                </a:moveTo>
                <a:lnTo>
                  <a:pt x="0" y="123825"/>
                </a:lnTo>
                <a:lnTo>
                  <a:pt x="66675" y="0"/>
                </a:lnTo>
                <a:close/>
              </a:path>
            </a:pathLst>
          </a:custGeom>
          <a:solidFill>
            <a:srgbClr val="5B8DEF"/>
          </a:solidFill>
          <a:ln>
            <a:noFill/>
          </a:ln>
        </p:spPr>
      </p:sp>
      <p:sp>
        <p:nvSpPr>
          <p:cNvPr id="51" name="Line 51"/>
          <p:cNvSpPr/>
          <p:nvPr/>
        </p:nvSpPr>
        <p:spPr>
          <a:xfrm>
            <a:off x="7200900" y="2867025"/>
            <a:ext cx="933450" cy="514350"/>
          </a:xfrm>
          <a:custGeom>
            <a:avLst/>
            <a:gdLst/>
            <a:ahLst/>
            <a:cxnLst/>
            <a:rect l="l" t="t" r="r" b="b"/>
            <a:pathLst>
              <a:path w="933450" h="514350">
                <a:moveTo>
                  <a:pt x="0" y="514350"/>
                </a:moveTo>
                <a:lnTo>
                  <a:pt x="933450" y="0"/>
                </a:lnTo>
              </a:path>
            </a:pathLst>
          </a:custGeom>
          <a:noFill/>
          <a:ln w="28575">
            <a:solidFill>
              <a:srgbClr val="5B8DEF"/>
            </a:solidFill>
          </a:ln>
        </p:spPr>
      </p:sp>
      <p:sp>
        <p:nvSpPr>
          <p:cNvPr id="52" name="Polygon 52"/>
          <p:cNvSpPr/>
          <p:nvPr/>
        </p:nvSpPr>
        <p:spPr>
          <a:xfrm>
            <a:off x="7200900" y="3219450"/>
            <a:ext cx="152400" cy="161925"/>
          </a:xfrm>
          <a:custGeom>
            <a:avLst/>
            <a:gdLst/>
            <a:ahLst/>
            <a:cxnLst/>
            <a:rect l="l" t="t" r="r" b="b"/>
            <a:pathLst>
              <a:path w="152400" h="161925">
                <a:moveTo>
                  <a:pt x="0" y="161925"/>
                </a:moveTo>
                <a:lnTo>
                  <a:pt x="85725" y="0"/>
                </a:lnTo>
                <a:lnTo>
                  <a:pt x="152400" y="123825"/>
                </a:lnTo>
                <a:close/>
              </a:path>
            </a:pathLst>
          </a:custGeom>
          <a:solidFill>
            <a:srgbClr val="5B8DEF"/>
          </a:solidFill>
          <a:ln>
            <a:noFill/>
          </a:ln>
        </p:spPr>
      </p:sp>
      <p:sp>
        <p:nvSpPr>
          <p:cNvPr id="53" name="Line 53"/>
          <p:cNvSpPr/>
          <p:nvPr/>
        </p:nvSpPr>
        <p:spPr>
          <a:xfrm>
            <a:off x="4057650" y="3857625"/>
            <a:ext cx="933450" cy="685800"/>
          </a:xfrm>
          <a:custGeom>
            <a:avLst/>
            <a:gdLst/>
            <a:ahLst/>
            <a:cxnLst/>
            <a:rect l="l" t="t" r="r" b="b"/>
            <a:pathLst>
              <a:path w="933450" h="685800">
                <a:moveTo>
                  <a:pt x="0" y="685800"/>
                </a:moveTo>
                <a:lnTo>
                  <a:pt x="933450" y="0"/>
                </a:lnTo>
              </a:path>
            </a:pathLst>
          </a:custGeom>
          <a:noFill/>
          <a:ln w="28575">
            <a:solidFill>
              <a:srgbClr val="19A38C"/>
            </a:solidFill>
          </a:ln>
        </p:spPr>
      </p:sp>
      <p:sp>
        <p:nvSpPr>
          <p:cNvPr id="54" name="Polygon 54"/>
          <p:cNvSpPr/>
          <p:nvPr/>
        </p:nvSpPr>
        <p:spPr>
          <a:xfrm>
            <a:off x="4848225" y="3857625"/>
            <a:ext cx="142875" cy="161925"/>
          </a:xfrm>
          <a:custGeom>
            <a:avLst/>
            <a:gdLst/>
            <a:ahLst/>
            <a:cxnLst/>
            <a:rect l="l" t="t" r="r" b="b"/>
            <a:pathLst>
              <a:path w="142875" h="161925">
                <a:moveTo>
                  <a:pt x="142875" y="0"/>
                </a:moveTo>
                <a:lnTo>
                  <a:pt x="0" y="28575"/>
                </a:lnTo>
                <a:lnTo>
                  <a:pt x="76200" y="161925"/>
                </a:lnTo>
                <a:close/>
              </a:path>
            </a:pathLst>
          </a:custGeom>
          <a:solidFill>
            <a:srgbClr val="19A38C"/>
          </a:solidFill>
          <a:ln>
            <a:noFill/>
          </a:ln>
        </p:spPr>
      </p:sp>
      <p:sp>
        <p:nvSpPr>
          <p:cNvPr id="55" name="Line 55"/>
          <p:cNvSpPr/>
          <p:nvPr/>
        </p:nvSpPr>
        <p:spPr>
          <a:xfrm>
            <a:off x="7200900" y="3857625"/>
            <a:ext cx="933450" cy="685800"/>
          </a:xfrm>
          <a:custGeom>
            <a:avLst/>
            <a:gdLst/>
            <a:ahLst/>
            <a:cxnLst/>
            <a:rect l="l" t="t" r="r" b="b"/>
            <a:pathLst>
              <a:path w="933450" h="685800">
                <a:moveTo>
                  <a:pt x="0" y="0"/>
                </a:moveTo>
                <a:lnTo>
                  <a:pt x="933450" y="685800"/>
                </a:lnTo>
              </a:path>
            </a:pathLst>
          </a:custGeom>
          <a:noFill/>
          <a:ln w="28575">
            <a:solidFill>
              <a:srgbClr val="1F9D68"/>
            </a:solidFill>
          </a:ln>
        </p:spPr>
      </p:sp>
      <p:sp>
        <p:nvSpPr>
          <p:cNvPr id="56" name="Polygon 56"/>
          <p:cNvSpPr/>
          <p:nvPr/>
        </p:nvSpPr>
        <p:spPr>
          <a:xfrm>
            <a:off x="7200900" y="38576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0"/>
                </a:moveTo>
                <a:lnTo>
                  <a:pt x="85725" y="161925"/>
                </a:lnTo>
                <a:lnTo>
                  <a:pt x="161925" y="38100"/>
                </a:lnTo>
                <a:close/>
              </a:path>
            </a:pathLst>
          </a:custGeom>
          <a:solidFill>
            <a:srgbClr val="1F9D68"/>
          </a:solidFill>
          <a:ln>
            <a:noFill/>
          </a:ln>
        </p:spPr>
      </p:sp>
      <p:sp>
        <p:nvSpPr>
          <p:cNvPr id="57" name="Rectangle 57"/>
          <p:cNvSpPr/>
          <p:nvPr/>
        </p:nvSpPr>
        <p:spPr>
          <a:xfrm>
            <a:off x="1200150" y="5905500"/>
            <a:ext cx="1485900" cy="26670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1517618" y="5989320"/>
            <a:ext cx="8509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身份先于连接</a:t>
            </a:r>
          </a:p>
        </p:txBody>
      </p:sp>
      <p:sp>
        <p:nvSpPr>
          <p:cNvPr id="59" name="Rectangle 59"/>
          <p:cNvSpPr/>
          <p:nvPr/>
        </p:nvSpPr>
        <p:spPr>
          <a:xfrm>
            <a:off x="2876550" y="5905500"/>
            <a:ext cx="1619250" cy="266700"/>
          </a:xfrm>
          <a:prstGeom prst="rect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3191685" y="5989320"/>
            <a:ext cx="9889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导入先于控制台</a:t>
            </a:r>
          </a:p>
        </p:txBody>
      </p:sp>
      <p:sp>
        <p:nvSpPr>
          <p:cNvPr id="61" name="Rectangle 61"/>
          <p:cNvSpPr/>
          <p:nvPr/>
        </p:nvSpPr>
        <p:spPr>
          <a:xfrm>
            <a:off x="4686300" y="5905500"/>
            <a:ext cx="1390650" cy="266700"/>
          </a:xfrm>
          <a:prstGeom prst="rect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4956143" y="5989320"/>
            <a:ext cx="8509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范围先于动作</a:t>
            </a:r>
          </a:p>
        </p:txBody>
      </p:sp>
      <p:sp>
        <p:nvSpPr>
          <p:cNvPr id="63" name="Rectangle 63"/>
          <p:cNvSpPr/>
          <p:nvPr/>
        </p:nvSpPr>
        <p:spPr>
          <a:xfrm>
            <a:off x="6267450" y="5905500"/>
            <a:ext cx="1695450" cy="266700"/>
          </a:xfrm>
          <a:prstGeom prst="rect">
            <a:avLst/>
          </a:prstGeom>
          <a:solidFill>
            <a:srgbClr val="1F9D68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6620685" y="5989320"/>
            <a:ext cx="9889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治理与复盘闭环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B8DEF">
                  <a:alpha val="8000"/>
                </a:srgbClr>
              </a:gs>
              <a:gs pos="100000">
                <a:srgbClr val="5B8D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7313A"/>
              </a:gs>
              <a:gs pos="100000">
                <a:srgbClr val="19A38C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05778" y="193834"/>
            <a:ext cx="3390662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平台服务四类关键角色</a:t>
            </a:r>
          </a:p>
        </p:txBody>
      </p:sp>
      <p:sp>
        <p:nvSpPr>
          <p:cNvPr id="6" name="Rectangle 6"/>
          <p:cNvSpPr/>
          <p:nvPr/>
        </p:nvSpPr>
        <p:spPr>
          <a:xfrm>
            <a:off x="533400" y="609600"/>
            <a:ext cx="11125200" cy="41910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25805" y="730568"/>
            <a:ext cx="624506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同一平台提供的是不同角色的共同治理底座，而不是单一用户工具。</a:t>
            </a:r>
          </a:p>
        </p:txBody>
      </p:sp>
      <p:sp>
        <p:nvSpPr>
          <p:cNvPr id="8" name="Line 8"/>
          <p:cNvSpPr/>
          <p:nvPr/>
        </p:nvSpPr>
        <p:spPr>
          <a:xfrm>
            <a:off x="0" y="66103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D8E0E8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371475" y="6691312"/>
            <a:ext cx="36776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Source: AI DataCenter repository and implemented product features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04886" y="6691312"/>
            <a:ext cx="258222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STRICTLY CONFIDENTIAL | AI DATACENTER SHOWCASE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41229" y="6691312"/>
            <a:ext cx="7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6</a:t>
            </a:r>
          </a:p>
        </p:txBody>
      </p:sp>
      <p:sp>
        <p:nvSpPr>
          <p:cNvPr id="12" name="Rectangle 12"/>
          <p:cNvSpPr/>
          <p:nvPr/>
        </p:nvSpPr>
        <p:spPr>
          <a:xfrm>
            <a:off x="914400" y="1638300"/>
            <a:ext cx="5181600" cy="17907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876300" y="1581150"/>
            <a:ext cx="5181600" cy="1790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876300" y="1581150"/>
            <a:ext cx="5181600" cy="5715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grpSp>
        <p:nvGrpSpPr>
          <p:cNvPr id="19" name="Group 19"/>
          <p:cNvGrpSpPr/>
          <p:nvPr/>
        </p:nvGrpSpPr>
        <p:grpSpPr>
          <a:xfrm>
            <a:off x="1104900" y="1827609"/>
            <a:ext cx="285750" cy="250032"/>
            <a:chOff x="1104900" y="1827609"/>
            <a:chExt cx="285750" cy="250032"/>
          </a:xfrm>
        </p:grpSpPr>
        <p:sp>
          <p:nvSpPr>
            <p:cNvPr id="15" name="Freeform 15"/>
            <p:cNvSpPr/>
            <p:nvPr/>
          </p:nvSpPr>
          <p:spPr>
            <a:xfrm>
              <a:off x="1158478" y="1827609"/>
              <a:ext cx="89297" cy="89297"/>
            </a:xfrm>
            <a:custGeom>
              <a:avLst/>
              <a:gdLst/>
              <a:ahLst/>
              <a:cxnLst/>
              <a:rect l="l" t="t" r="r" b="b"/>
              <a:pathLst>
                <a:path w="89297" h="89297">
                  <a:moveTo>
                    <a:pt x="89297" y="44648"/>
                  </a:moveTo>
                  <a:cubicBezTo>
                    <a:pt x="89297" y="69307"/>
                    <a:pt x="69307" y="89297"/>
                    <a:pt x="44648" y="89297"/>
                  </a:cubicBezTo>
                  <a:cubicBezTo>
                    <a:pt x="19990" y="89297"/>
                    <a:pt x="0" y="69307"/>
                    <a:pt x="0" y="44648"/>
                  </a:cubicBezTo>
                  <a:cubicBezTo>
                    <a:pt x="0" y="19990"/>
                    <a:pt x="19990" y="0"/>
                    <a:pt x="44648" y="0"/>
                  </a:cubicBezTo>
                  <a:cubicBezTo>
                    <a:pt x="69307" y="0"/>
                    <a:pt x="89297" y="19990"/>
                    <a:pt x="89297" y="44648"/>
                  </a:cubicBezTo>
                  <a:close/>
                </a:path>
              </a:pathLst>
            </a:custGeom>
            <a:solidFill>
              <a:srgbClr val="17313A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1104900" y="1952625"/>
              <a:ext cx="142875" cy="125016"/>
            </a:xfrm>
            <a:custGeom>
              <a:avLst/>
              <a:gdLst/>
              <a:ahLst/>
              <a:cxnLst/>
              <a:rect l="l" t="t" r="r" b="b"/>
              <a:pathLst>
                <a:path w="142875" h="125016">
                  <a:moveTo>
                    <a:pt x="53578" y="0"/>
                  </a:moveTo>
                  <a:cubicBezTo>
                    <a:pt x="23988" y="0"/>
                    <a:pt x="0" y="23988"/>
                    <a:pt x="0" y="53578"/>
                  </a:cubicBezTo>
                  <a:lnTo>
                    <a:pt x="0" y="125016"/>
                  </a:lnTo>
                  <a:lnTo>
                    <a:pt x="142875" y="125016"/>
                  </a:lnTo>
                  <a:lnTo>
                    <a:pt x="142875" y="0"/>
                  </a:lnTo>
                  <a:lnTo>
                    <a:pt x="53578" y="0"/>
                  </a:lnTo>
                  <a:close/>
                </a:path>
              </a:pathLst>
            </a:custGeom>
            <a:solidFill>
              <a:srgbClr val="17313A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283494" y="1952625"/>
              <a:ext cx="107156" cy="125016"/>
            </a:xfrm>
            <a:custGeom>
              <a:avLst/>
              <a:gdLst/>
              <a:ahLst/>
              <a:cxnLst/>
              <a:rect l="l" t="t" r="r" b="b"/>
              <a:pathLst>
                <a:path w="107156" h="125016">
                  <a:moveTo>
                    <a:pt x="53578" y="0"/>
                  </a:moveTo>
                  <a:lnTo>
                    <a:pt x="0" y="0"/>
                  </a:lnTo>
                  <a:lnTo>
                    <a:pt x="0" y="125016"/>
                  </a:lnTo>
                  <a:lnTo>
                    <a:pt x="107156" y="125016"/>
                  </a:lnTo>
                  <a:lnTo>
                    <a:pt x="107156" y="53578"/>
                  </a:lnTo>
                  <a:cubicBezTo>
                    <a:pt x="107156" y="23988"/>
                    <a:pt x="83169" y="0"/>
                    <a:pt x="53578" y="0"/>
                  </a:cubicBezTo>
                  <a:close/>
                </a:path>
              </a:pathLst>
            </a:custGeom>
            <a:solidFill>
              <a:srgbClr val="17313A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283494" y="1845469"/>
              <a:ext cx="71438" cy="71438"/>
            </a:xfrm>
            <a:custGeom>
              <a:avLst/>
              <a:gdLst/>
              <a:ahLst/>
              <a:cxnLst/>
              <a:rect l="l" t="t" r="r" b="b"/>
              <a:pathLst>
                <a:path w="71438" h="71438">
                  <a:moveTo>
                    <a:pt x="35719" y="71438"/>
                  </a:moveTo>
                  <a:cubicBezTo>
                    <a:pt x="55446" y="71438"/>
                    <a:pt x="71438" y="55446"/>
                    <a:pt x="71438" y="35719"/>
                  </a:cubicBezTo>
                  <a:cubicBezTo>
                    <a:pt x="71438" y="15992"/>
                    <a:pt x="55446" y="0"/>
                    <a:pt x="35719" y="0"/>
                  </a:cubicBezTo>
                  <a:cubicBezTo>
                    <a:pt x="15991" y="0"/>
                    <a:pt x="0" y="15992"/>
                    <a:pt x="0" y="35719"/>
                  </a:cubicBezTo>
                  <a:cubicBezTo>
                    <a:pt x="0" y="55446"/>
                    <a:pt x="15991" y="71438"/>
                    <a:pt x="35719" y="71438"/>
                  </a:cubicBezTo>
                  <a:close/>
                </a:path>
              </a:pathLst>
            </a:custGeom>
            <a:solidFill>
              <a:srgbClr val="17313A"/>
            </a:solidFill>
            <a:ln>
              <a:noFill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501140" y="1824990"/>
            <a:ext cx="142589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平台管理员</a:t>
            </a:r>
          </a:p>
        </p:txBody>
      </p:sp>
      <p:sp>
        <p:nvSpPr>
          <p:cNvPr id="21" name="Ellipse 21"/>
          <p:cNvSpPr/>
          <p:nvPr/>
        </p:nvSpPr>
        <p:spPr>
          <a:xfrm>
            <a:off x="1152525" y="2314575"/>
            <a:ext cx="95250" cy="95250"/>
          </a:xfrm>
          <a:prstGeom prst="ellipse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337310" y="228981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管理用户与权限</a:t>
            </a:r>
          </a:p>
        </p:txBody>
      </p:sp>
      <p:sp>
        <p:nvSpPr>
          <p:cNvPr id="23" name="Ellipse 23"/>
          <p:cNvSpPr/>
          <p:nvPr/>
        </p:nvSpPr>
        <p:spPr>
          <a:xfrm>
            <a:off x="1152525" y="2619375"/>
            <a:ext cx="95250" cy="95250"/>
          </a:xfrm>
          <a:prstGeom prst="ellipse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337310" y="2594610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查看全部主机记录</a:t>
            </a:r>
          </a:p>
        </p:txBody>
      </p:sp>
      <p:sp>
        <p:nvSpPr>
          <p:cNvPr id="25" name="Ellipse 25"/>
          <p:cNvSpPr/>
          <p:nvPr/>
        </p:nvSpPr>
        <p:spPr>
          <a:xfrm>
            <a:off x="1152525" y="2924175"/>
            <a:ext cx="95250" cy="95250"/>
          </a:xfrm>
          <a:prstGeom prst="ellipse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337310" y="2899410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维护平台安全边界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172200" y="1638300"/>
            <a:ext cx="5181600" cy="17907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6134100" y="1581150"/>
            <a:ext cx="5181600" cy="1790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34100" y="1581150"/>
            <a:ext cx="5181600" cy="57150"/>
          </a:xfrm>
          <a:prstGeom prst="rect">
            <a:avLst/>
          </a:prstGeom>
          <a:solidFill>
            <a:srgbClr val="19A38C"/>
          </a:solidFill>
          <a:ln>
            <a:noFill/>
          </a:ln>
        </p:spPr>
      </p:sp>
      <p:grpSp>
        <p:nvGrpSpPr>
          <p:cNvPr id="32" name="Group 32"/>
          <p:cNvGrpSpPr/>
          <p:nvPr/>
        </p:nvGrpSpPr>
        <p:grpSpPr>
          <a:xfrm>
            <a:off x="6362700" y="1809750"/>
            <a:ext cx="285750" cy="285750"/>
            <a:chOff x="6362700" y="1809750"/>
            <a:chExt cx="285750" cy="285750"/>
          </a:xfrm>
        </p:grpSpPr>
        <p:sp>
          <p:nvSpPr>
            <p:cNvPr id="30" name="Freeform 30"/>
            <p:cNvSpPr/>
            <p:nvPr/>
          </p:nvSpPr>
          <p:spPr>
            <a:xfrm>
              <a:off x="6434138" y="1881188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71438" y="0"/>
                  </a:moveTo>
                  <a:cubicBezTo>
                    <a:pt x="31984" y="0"/>
                    <a:pt x="0" y="31984"/>
                    <a:pt x="0" y="71438"/>
                  </a:cubicBezTo>
                  <a:cubicBezTo>
                    <a:pt x="0" y="110891"/>
                    <a:pt x="31984" y="142875"/>
                    <a:pt x="71438" y="142875"/>
                  </a:cubicBezTo>
                  <a:cubicBezTo>
                    <a:pt x="110891" y="142875"/>
                    <a:pt x="142875" y="110891"/>
                    <a:pt x="142875" y="71438"/>
                  </a:cubicBezTo>
                  <a:cubicBezTo>
                    <a:pt x="142875" y="31984"/>
                    <a:pt x="110891" y="0"/>
                    <a:pt x="71438" y="0"/>
                  </a:cubicBezTo>
                  <a:close/>
                  <a:moveTo>
                    <a:pt x="35719" y="71438"/>
                  </a:moveTo>
                  <a:cubicBezTo>
                    <a:pt x="35719" y="51711"/>
                    <a:pt x="51711" y="35719"/>
                    <a:pt x="71438" y="35719"/>
                  </a:cubicBezTo>
                  <a:cubicBezTo>
                    <a:pt x="91164" y="35719"/>
                    <a:pt x="107156" y="51711"/>
                    <a:pt x="107156" y="71438"/>
                  </a:cubicBezTo>
                  <a:cubicBezTo>
                    <a:pt x="107156" y="91164"/>
                    <a:pt x="91164" y="107156"/>
                    <a:pt x="71438" y="107156"/>
                  </a:cubicBezTo>
                  <a:cubicBezTo>
                    <a:pt x="51711" y="107156"/>
                    <a:pt x="35719" y="91164"/>
                    <a:pt x="35719" y="71438"/>
                  </a:cubicBezTo>
                  <a:close/>
                </a:path>
              </a:pathLst>
            </a:custGeom>
            <a:solidFill>
              <a:srgbClr val="19A38C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6362700" y="180975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42875" y="0"/>
                  </a:moveTo>
                  <a:cubicBezTo>
                    <a:pt x="63967" y="0"/>
                    <a:pt x="0" y="63967"/>
                    <a:pt x="0" y="142875"/>
                  </a:cubicBezTo>
                  <a:cubicBezTo>
                    <a:pt x="0" y="221783"/>
                    <a:pt x="63967" y="285750"/>
                    <a:pt x="142875" y="285750"/>
                  </a:cubicBezTo>
                  <a:cubicBezTo>
                    <a:pt x="221783" y="285750"/>
                    <a:pt x="285750" y="221783"/>
                    <a:pt x="285750" y="142875"/>
                  </a:cubicBezTo>
                  <a:cubicBezTo>
                    <a:pt x="285750" y="63967"/>
                    <a:pt x="221783" y="0"/>
                    <a:pt x="142875" y="0"/>
                  </a:cubicBezTo>
                  <a:close/>
                  <a:moveTo>
                    <a:pt x="35719" y="142875"/>
                  </a:moveTo>
                  <a:cubicBezTo>
                    <a:pt x="35719" y="83694"/>
                    <a:pt x="83694" y="35719"/>
                    <a:pt x="142875" y="35719"/>
                  </a:cubicBezTo>
                  <a:cubicBezTo>
                    <a:pt x="202056" y="35719"/>
                    <a:pt x="250031" y="83694"/>
                    <a:pt x="250031" y="142875"/>
                  </a:cubicBezTo>
                  <a:cubicBezTo>
                    <a:pt x="250031" y="202056"/>
                    <a:pt x="202056" y="250031"/>
                    <a:pt x="142875" y="250031"/>
                  </a:cubicBezTo>
                  <a:cubicBezTo>
                    <a:pt x="83694" y="250031"/>
                    <a:pt x="35719" y="202056"/>
                    <a:pt x="35719" y="142875"/>
                  </a:cubicBezTo>
                  <a:close/>
                </a:path>
              </a:pathLst>
            </a:custGeom>
            <a:solidFill>
              <a:srgbClr val="19A38C"/>
            </a:solidFill>
            <a:ln>
              <a:noFill/>
            </a:ln>
          </p:spPr>
        </p:sp>
      </p:grpSp>
      <p:sp>
        <p:nvSpPr>
          <p:cNvPr id="33" name="TextBox 33"/>
          <p:cNvSpPr txBox="1"/>
          <p:nvPr/>
        </p:nvSpPr>
        <p:spPr>
          <a:xfrm>
            <a:off x="6758940" y="182499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实验室负责人</a:t>
            </a:r>
          </a:p>
        </p:txBody>
      </p:sp>
      <p:sp>
        <p:nvSpPr>
          <p:cNvPr id="34" name="Ellipse 34"/>
          <p:cNvSpPr/>
          <p:nvPr/>
        </p:nvSpPr>
        <p:spPr>
          <a:xfrm>
            <a:off x="6410325" y="2314575"/>
            <a:ext cx="95250" cy="95250"/>
          </a:xfrm>
          <a:prstGeom prst="ellipse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595110" y="2289810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关注资源占用</a:t>
            </a:r>
          </a:p>
        </p:txBody>
      </p:sp>
      <p:sp>
        <p:nvSpPr>
          <p:cNvPr id="36" name="Ellipse 36"/>
          <p:cNvSpPr/>
          <p:nvPr/>
        </p:nvSpPr>
        <p:spPr>
          <a:xfrm>
            <a:off x="6410325" y="2619375"/>
            <a:ext cx="95250" cy="95250"/>
          </a:xfrm>
          <a:prstGeom prst="ellipse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595110" y="259461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识别风险与告警</a:t>
            </a:r>
          </a:p>
        </p:txBody>
      </p:sp>
      <p:sp>
        <p:nvSpPr>
          <p:cNvPr id="38" name="Ellipse 38"/>
          <p:cNvSpPr/>
          <p:nvPr/>
        </p:nvSpPr>
        <p:spPr>
          <a:xfrm>
            <a:off x="6410325" y="2924175"/>
            <a:ext cx="95250" cy="95250"/>
          </a:xfrm>
          <a:prstGeom prst="ellipse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6595110" y="2899410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评估平台使用效率</a:t>
            </a:r>
          </a:p>
        </p:txBody>
      </p:sp>
      <p:sp>
        <p:nvSpPr>
          <p:cNvPr id="40" name="Rectangle 40"/>
          <p:cNvSpPr/>
          <p:nvPr/>
        </p:nvSpPr>
        <p:spPr>
          <a:xfrm>
            <a:off x="914400" y="3733800"/>
            <a:ext cx="5181600" cy="17907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876300" y="3676650"/>
            <a:ext cx="5181600" cy="1790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42" name="Rectangle 42"/>
          <p:cNvSpPr/>
          <p:nvPr/>
        </p:nvSpPr>
        <p:spPr>
          <a:xfrm>
            <a:off x="876300" y="3676650"/>
            <a:ext cx="5181600" cy="57150"/>
          </a:xfrm>
          <a:prstGeom prst="rect">
            <a:avLst/>
          </a:prstGeom>
          <a:solidFill>
            <a:srgbClr val="5B8DEF"/>
          </a:solidFill>
          <a:ln>
            <a:noFill/>
          </a:ln>
        </p:spPr>
      </p:sp>
      <p:grpSp>
        <p:nvGrpSpPr>
          <p:cNvPr id="45" name="Group 45"/>
          <p:cNvGrpSpPr/>
          <p:nvPr/>
        </p:nvGrpSpPr>
        <p:grpSpPr>
          <a:xfrm>
            <a:off x="1104900" y="3940969"/>
            <a:ext cx="285750" cy="214312"/>
            <a:chOff x="1104900" y="3940969"/>
            <a:chExt cx="285750" cy="214312"/>
          </a:xfrm>
        </p:grpSpPr>
        <p:sp>
          <p:nvSpPr>
            <p:cNvPr id="43" name="Freeform 43"/>
            <p:cNvSpPr/>
            <p:nvPr/>
          </p:nvSpPr>
          <p:spPr>
            <a:xfrm>
              <a:off x="1104900" y="3940969"/>
              <a:ext cx="285750" cy="89297"/>
            </a:xfrm>
            <a:custGeom>
              <a:avLst/>
              <a:gdLst/>
              <a:ahLst/>
              <a:cxnLst/>
              <a:rect l="l" t="t" r="r" b="b"/>
              <a:pathLst>
                <a:path w="285750" h="89297">
                  <a:moveTo>
                    <a:pt x="285750" y="0"/>
                  </a:moveTo>
                  <a:lnTo>
                    <a:pt x="0" y="0"/>
                  </a:lnTo>
                  <a:lnTo>
                    <a:pt x="0" y="89297"/>
                  </a:lnTo>
                  <a:lnTo>
                    <a:pt x="285750" y="89297"/>
                  </a:lnTo>
                  <a:lnTo>
                    <a:pt x="285750" y="0"/>
                  </a:lnTo>
                  <a:close/>
                  <a:moveTo>
                    <a:pt x="71438" y="44648"/>
                  </a:moveTo>
                  <a:cubicBezTo>
                    <a:pt x="71438" y="54512"/>
                    <a:pt x="63442" y="62508"/>
                    <a:pt x="53578" y="62508"/>
                  </a:cubicBezTo>
                  <a:cubicBezTo>
                    <a:pt x="43715" y="62508"/>
                    <a:pt x="35719" y="54512"/>
                    <a:pt x="35719" y="44648"/>
                  </a:cubicBezTo>
                  <a:cubicBezTo>
                    <a:pt x="35719" y="34785"/>
                    <a:pt x="43715" y="26789"/>
                    <a:pt x="53578" y="26789"/>
                  </a:cubicBezTo>
                  <a:cubicBezTo>
                    <a:pt x="63442" y="26789"/>
                    <a:pt x="71438" y="34785"/>
                    <a:pt x="71438" y="44648"/>
                  </a:cubicBezTo>
                  <a:close/>
                </a:path>
              </a:pathLst>
            </a:custGeom>
            <a:solidFill>
              <a:srgbClr val="5B8DEF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1104900" y="4065984"/>
              <a:ext cx="285750" cy="89297"/>
            </a:xfrm>
            <a:custGeom>
              <a:avLst/>
              <a:gdLst/>
              <a:ahLst/>
              <a:cxnLst/>
              <a:rect l="l" t="t" r="r" b="b"/>
              <a:pathLst>
                <a:path w="285750" h="89297">
                  <a:moveTo>
                    <a:pt x="285750" y="0"/>
                  </a:moveTo>
                  <a:lnTo>
                    <a:pt x="0" y="0"/>
                  </a:lnTo>
                  <a:lnTo>
                    <a:pt x="0" y="89297"/>
                  </a:lnTo>
                  <a:lnTo>
                    <a:pt x="285750" y="89297"/>
                  </a:lnTo>
                  <a:lnTo>
                    <a:pt x="285750" y="0"/>
                  </a:lnTo>
                  <a:close/>
                  <a:moveTo>
                    <a:pt x="53578" y="62508"/>
                  </a:moveTo>
                  <a:cubicBezTo>
                    <a:pt x="63442" y="62508"/>
                    <a:pt x="71438" y="54512"/>
                    <a:pt x="71438" y="44648"/>
                  </a:cubicBezTo>
                  <a:cubicBezTo>
                    <a:pt x="71438" y="34785"/>
                    <a:pt x="63442" y="26789"/>
                    <a:pt x="53578" y="26789"/>
                  </a:cubicBezTo>
                  <a:cubicBezTo>
                    <a:pt x="43715" y="26789"/>
                    <a:pt x="35719" y="34785"/>
                    <a:pt x="35719" y="44648"/>
                  </a:cubicBezTo>
                  <a:cubicBezTo>
                    <a:pt x="35719" y="54512"/>
                    <a:pt x="43715" y="62508"/>
                    <a:pt x="53578" y="62508"/>
                  </a:cubicBezTo>
                  <a:close/>
                </a:path>
              </a:pathLst>
            </a:custGeom>
            <a:solidFill>
              <a:srgbClr val="5B8DEF"/>
            </a:solidFill>
            <a:ln>
              <a:noFill/>
            </a:ln>
          </p:spPr>
        </p:sp>
      </p:grpSp>
      <p:sp>
        <p:nvSpPr>
          <p:cNvPr id="46" name="TextBox 46"/>
          <p:cNvSpPr txBox="1"/>
          <p:nvPr/>
        </p:nvSpPr>
        <p:spPr>
          <a:xfrm>
            <a:off x="1501140" y="3920490"/>
            <a:ext cx="142589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算法工程师</a:t>
            </a:r>
          </a:p>
        </p:txBody>
      </p:sp>
      <p:sp>
        <p:nvSpPr>
          <p:cNvPr id="47" name="Ellipse 47"/>
          <p:cNvSpPr/>
          <p:nvPr/>
        </p:nvSpPr>
        <p:spPr>
          <a:xfrm>
            <a:off x="1152525" y="4410075"/>
            <a:ext cx="95250" cy="9525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1337310" y="4385310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导入目标机器</a:t>
            </a:r>
          </a:p>
        </p:txBody>
      </p:sp>
      <p:sp>
        <p:nvSpPr>
          <p:cNvPr id="49" name="Ellipse 49"/>
          <p:cNvSpPr/>
          <p:nvPr/>
        </p:nvSpPr>
        <p:spPr>
          <a:xfrm>
            <a:off x="1152525" y="4714875"/>
            <a:ext cx="95250" cy="9525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1337310" y="4690110"/>
            <a:ext cx="14237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选择本次治理 GPU</a:t>
            </a:r>
          </a:p>
        </p:txBody>
      </p:sp>
      <p:sp>
        <p:nvSpPr>
          <p:cNvPr id="51" name="Ellipse 51"/>
          <p:cNvSpPr/>
          <p:nvPr/>
        </p:nvSpPr>
        <p:spPr>
          <a:xfrm>
            <a:off x="1152525" y="5019675"/>
            <a:ext cx="95250" cy="9525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1337310" y="4994910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围绕任务进行监控</a:t>
            </a:r>
          </a:p>
        </p:txBody>
      </p:sp>
      <p:sp>
        <p:nvSpPr>
          <p:cNvPr id="53" name="Rectangle 53"/>
          <p:cNvSpPr/>
          <p:nvPr/>
        </p:nvSpPr>
        <p:spPr>
          <a:xfrm>
            <a:off x="6172200" y="3733800"/>
            <a:ext cx="5181600" cy="17907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54" name="Rectangle 54"/>
          <p:cNvSpPr/>
          <p:nvPr/>
        </p:nvSpPr>
        <p:spPr>
          <a:xfrm>
            <a:off x="6134100" y="3676650"/>
            <a:ext cx="5181600" cy="1790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55" name="Rectangle 55"/>
          <p:cNvSpPr/>
          <p:nvPr/>
        </p:nvSpPr>
        <p:spPr>
          <a:xfrm>
            <a:off x="6134100" y="3676650"/>
            <a:ext cx="5181600" cy="57150"/>
          </a:xfrm>
          <a:prstGeom prst="rect">
            <a:avLst/>
          </a:prstGeom>
          <a:solidFill>
            <a:srgbClr val="1F9D68"/>
          </a:solidFill>
          <a:ln>
            <a:noFill/>
          </a:ln>
        </p:spPr>
      </p:sp>
      <p:sp>
        <p:nvSpPr>
          <p:cNvPr id="56" name="Freeform 56"/>
          <p:cNvSpPr/>
          <p:nvPr/>
        </p:nvSpPr>
        <p:spPr>
          <a:xfrm>
            <a:off x="6398419" y="3905250"/>
            <a:ext cx="214312" cy="285750"/>
          </a:xfrm>
          <a:custGeom>
            <a:avLst/>
            <a:gdLst/>
            <a:ahLst/>
            <a:cxnLst/>
            <a:rect l="l" t="t" r="r" b="b"/>
            <a:pathLst>
              <a:path w="214312" h="285750">
                <a:moveTo>
                  <a:pt x="53578" y="205383"/>
                </a:moveTo>
                <a:lnTo>
                  <a:pt x="53578" y="258961"/>
                </a:lnTo>
                <a:lnTo>
                  <a:pt x="80367" y="285750"/>
                </a:lnTo>
                <a:lnTo>
                  <a:pt x="133945" y="285750"/>
                </a:lnTo>
                <a:lnTo>
                  <a:pt x="160734" y="258961"/>
                </a:lnTo>
                <a:lnTo>
                  <a:pt x="160734" y="205383"/>
                </a:lnTo>
                <a:lnTo>
                  <a:pt x="182873" y="183244"/>
                </a:lnTo>
                <a:cubicBezTo>
                  <a:pt x="203004" y="163114"/>
                  <a:pt x="214312" y="135756"/>
                  <a:pt x="214312" y="107288"/>
                </a:cubicBezTo>
                <a:cubicBezTo>
                  <a:pt x="214312" y="48107"/>
                  <a:pt x="166337" y="0"/>
                  <a:pt x="107156" y="0"/>
                </a:cubicBezTo>
                <a:cubicBezTo>
                  <a:pt x="47975" y="0"/>
                  <a:pt x="0" y="48107"/>
                  <a:pt x="0" y="107288"/>
                </a:cubicBezTo>
                <a:cubicBezTo>
                  <a:pt x="0" y="135756"/>
                  <a:pt x="11309" y="163114"/>
                  <a:pt x="31440" y="183244"/>
                </a:cubicBezTo>
                <a:lnTo>
                  <a:pt x="53578" y="205383"/>
                </a:lnTo>
                <a:close/>
                <a:moveTo>
                  <a:pt x="89297" y="176343"/>
                </a:moveTo>
                <a:lnTo>
                  <a:pt x="89297" y="107156"/>
                </a:lnTo>
                <a:lnTo>
                  <a:pt x="125016" y="107156"/>
                </a:lnTo>
                <a:lnTo>
                  <a:pt x="125016" y="176343"/>
                </a:lnTo>
                <a:cubicBezTo>
                  <a:pt x="155827" y="168413"/>
                  <a:pt x="178594" y="140443"/>
                  <a:pt x="178594" y="107156"/>
                </a:cubicBezTo>
                <a:cubicBezTo>
                  <a:pt x="178594" y="67702"/>
                  <a:pt x="146609" y="35719"/>
                  <a:pt x="107156" y="35719"/>
                </a:cubicBezTo>
                <a:cubicBezTo>
                  <a:pt x="67702" y="35719"/>
                  <a:pt x="35719" y="67702"/>
                  <a:pt x="35719" y="107156"/>
                </a:cubicBezTo>
                <a:cubicBezTo>
                  <a:pt x="35719" y="140443"/>
                  <a:pt x="58485" y="168413"/>
                  <a:pt x="89297" y="176343"/>
                </a:cubicBezTo>
                <a:close/>
              </a:path>
            </a:pathLst>
          </a:custGeom>
          <a:solidFill>
            <a:srgbClr val="1F9D68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6758940" y="3920490"/>
            <a:ext cx="157771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答辩/展示者</a:t>
            </a:r>
          </a:p>
        </p:txBody>
      </p:sp>
      <p:sp>
        <p:nvSpPr>
          <p:cNvPr id="58" name="Ellipse 58"/>
          <p:cNvSpPr/>
          <p:nvPr/>
        </p:nvSpPr>
        <p:spPr>
          <a:xfrm>
            <a:off x="6410325" y="4410075"/>
            <a:ext cx="95250" cy="95250"/>
          </a:xfrm>
          <a:prstGeom prst="ellipse">
            <a:avLst/>
          </a:prstGeom>
          <a:solidFill>
            <a:srgbClr val="1F9D68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6595110" y="4385310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统一表达系统价值</a:t>
            </a:r>
          </a:p>
        </p:txBody>
      </p:sp>
      <p:sp>
        <p:nvSpPr>
          <p:cNvPr id="60" name="Ellipse 60"/>
          <p:cNvSpPr/>
          <p:nvPr/>
        </p:nvSpPr>
        <p:spPr>
          <a:xfrm>
            <a:off x="6410325" y="4714875"/>
            <a:ext cx="95250" cy="95250"/>
          </a:xfrm>
          <a:prstGeom prst="ellipse">
            <a:avLst/>
          </a:prstGeom>
          <a:solidFill>
            <a:srgbClr val="1F9D68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595110" y="469011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展示流程与架构</a:t>
            </a:r>
          </a:p>
        </p:txBody>
      </p:sp>
      <p:sp>
        <p:nvSpPr>
          <p:cNvPr id="62" name="Ellipse 62"/>
          <p:cNvSpPr/>
          <p:nvPr/>
        </p:nvSpPr>
        <p:spPr>
          <a:xfrm>
            <a:off x="6410325" y="5019675"/>
            <a:ext cx="95250" cy="95250"/>
          </a:xfrm>
          <a:prstGeom prst="ellipse">
            <a:avLst/>
          </a:prstGeom>
          <a:solidFill>
            <a:srgbClr val="1F9D68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6595110" y="4994910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证明项目已可交付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B8DEF">
                  <a:alpha val="8000"/>
                </a:srgbClr>
              </a:gs>
              <a:gs pos="100000">
                <a:srgbClr val="5B8D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7313A"/>
              </a:gs>
              <a:gs pos="100000">
                <a:srgbClr val="19A38C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05778" y="193834"/>
            <a:ext cx="4057745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六步主流程让使用路径稳定</a:t>
            </a:r>
          </a:p>
        </p:txBody>
      </p:sp>
      <p:sp>
        <p:nvSpPr>
          <p:cNvPr id="6" name="Rectangle 6"/>
          <p:cNvSpPr/>
          <p:nvPr/>
        </p:nvSpPr>
        <p:spPr>
          <a:xfrm>
            <a:off x="533400" y="609600"/>
            <a:ext cx="11125200" cy="41910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25805" y="730568"/>
            <a:ext cx="66591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系统把复杂接入过程拆成固定步骤，用户不再在控制台里临时切换连接。</a:t>
            </a:r>
          </a:p>
        </p:txBody>
      </p:sp>
      <p:sp>
        <p:nvSpPr>
          <p:cNvPr id="8" name="Line 8"/>
          <p:cNvSpPr/>
          <p:nvPr/>
        </p:nvSpPr>
        <p:spPr>
          <a:xfrm>
            <a:off x="0" y="66103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D8E0E8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371475" y="6691312"/>
            <a:ext cx="36776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Source: AI DataCenter repository and implemented product features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04886" y="6691312"/>
            <a:ext cx="258222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STRICTLY CONFIDENTIAL | AI DATACENTER SHOWCASE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41229" y="6691312"/>
            <a:ext cx="7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7</a:t>
            </a:r>
          </a:p>
        </p:txBody>
      </p:sp>
      <p:sp>
        <p:nvSpPr>
          <p:cNvPr id="12" name="Ellipse 12"/>
          <p:cNvSpPr/>
          <p:nvPr/>
        </p:nvSpPr>
        <p:spPr>
          <a:xfrm>
            <a:off x="1181100" y="2495550"/>
            <a:ext cx="723900" cy="723900"/>
          </a:xfrm>
          <a:prstGeom prst="ellipse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473429" y="2742248"/>
            <a:ext cx="13924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93971" y="3362325"/>
            <a:ext cx="4981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登录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03471" y="372379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确认平台身份</a:t>
            </a:r>
          </a:p>
        </p:txBody>
      </p:sp>
      <p:sp>
        <p:nvSpPr>
          <p:cNvPr id="16" name="Line 16"/>
          <p:cNvSpPr/>
          <p:nvPr/>
        </p:nvSpPr>
        <p:spPr>
          <a:xfrm>
            <a:off x="1924050" y="2857500"/>
            <a:ext cx="438150" cy="9525"/>
          </a:xfrm>
          <a:custGeom>
            <a:avLst/>
            <a:gdLst/>
            <a:ahLst/>
            <a:cxnLst/>
            <a:rect l="l" t="t" r="r" b="b"/>
            <a:pathLst>
              <a:path w="438150" h="9525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/>
          <a:ln w="38100">
            <a:solidFill>
              <a:srgbClr val="5B8DEF"/>
            </a:solidFill>
          </a:ln>
        </p:spPr>
      </p:sp>
      <p:sp>
        <p:nvSpPr>
          <p:cNvPr id="17" name="Polygon 17"/>
          <p:cNvSpPr/>
          <p:nvPr/>
        </p:nvSpPr>
        <p:spPr>
          <a:xfrm>
            <a:off x="2228850" y="27813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76200"/>
                </a:move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5B8DEF"/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2895600" y="2495550"/>
            <a:ext cx="723900" cy="723900"/>
          </a:xfrm>
          <a:prstGeom prst="ellipse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3150550" y="2742248"/>
            <a:ext cx="21400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893457" y="3362325"/>
            <a:ext cx="7281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准备页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746772" y="372379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进入独立导入层</a:t>
            </a:r>
          </a:p>
        </p:txBody>
      </p:sp>
      <p:sp>
        <p:nvSpPr>
          <p:cNvPr id="22" name="Line 22"/>
          <p:cNvSpPr/>
          <p:nvPr/>
        </p:nvSpPr>
        <p:spPr>
          <a:xfrm>
            <a:off x="3638550" y="2857500"/>
            <a:ext cx="438150" cy="9525"/>
          </a:xfrm>
          <a:custGeom>
            <a:avLst/>
            <a:gdLst/>
            <a:ahLst/>
            <a:cxnLst/>
            <a:rect l="l" t="t" r="r" b="b"/>
            <a:pathLst>
              <a:path w="438150" h="9525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/>
          <a:ln w="38100">
            <a:solidFill>
              <a:srgbClr val="5B8DEF"/>
            </a:solidFill>
          </a:ln>
        </p:spPr>
      </p:sp>
      <p:sp>
        <p:nvSpPr>
          <p:cNvPr id="23" name="Polygon 23"/>
          <p:cNvSpPr/>
          <p:nvPr/>
        </p:nvSpPr>
        <p:spPr>
          <a:xfrm>
            <a:off x="3943350" y="27813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76200"/>
                </a:move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5B8DEF"/>
          </a:solidFill>
          <a:ln>
            <a:noFill/>
          </a:ln>
        </p:spPr>
      </p:sp>
      <p:sp>
        <p:nvSpPr>
          <p:cNvPr id="24" name="Ellipse 24"/>
          <p:cNvSpPr/>
          <p:nvPr/>
        </p:nvSpPr>
        <p:spPr>
          <a:xfrm>
            <a:off x="4610100" y="2495550"/>
            <a:ext cx="723900" cy="723900"/>
          </a:xfrm>
          <a:prstGeom prst="ellipse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865050" y="2742248"/>
            <a:ext cx="21400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607957" y="3362325"/>
            <a:ext cx="7281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选来源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247674" y="3723799"/>
            <a:ext cx="14487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已保存主机或新建连接</a:t>
            </a:r>
          </a:p>
        </p:txBody>
      </p:sp>
      <p:sp>
        <p:nvSpPr>
          <p:cNvPr id="28" name="Line 28"/>
          <p:cNvSpPr/>
          <p:nvPr/>
        </p:nvSpPr>
        <p:spPr>
          <a:xfrm>
            <a:off x="5353050" y="2857500"/>
            <a:ext cx="438150" cy="9525"/>
          </a:xfrm>
          <a:custGeom>
            <a:avLst/>
            <a:gdLst/>
            <a:ahLst/>
            <a:cxnLst/>
            <a:rect l="l" t="t" r="r" b="b"/>
            <a:pathLst>
              <a:path w="438150" h="9525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/>
          <a:ln w="38100">
            <a:solidFill>
              <a:srgbClr val="5B8DEF"/>
            </a:solidFill>
          </a:ln>
        </p:spPr>
      </p:sp>
      <p:sp>
        <p:nvSpPr>
          <p:cNvPr id="29" name="Polygon 29"/>
          <p:cNvSpPr/>
          <p:nvPr/>
        </p:nvSpPr>
        <p:spPr>
          <a:xfrm>
            <a:off x="5657850" y="27813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76200"/>
                </a:move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5B8DEF"/>
          </a:solidFill>
          <a:ln>
            <a:noFill/>
          </a:ln>
        </p:spPr>
      </p:sp>
      <p:sp>
        <p:nvSpPr>
          <p:cNvPr id="30" name="Ellipse 30"/>
          <p:cNvSpPr/>
          <p:nvPr/>
        </p:nvSpPr>
        <p:spPr>
          <a:xfrm>
            <a:off x="6324600" y="2495550"/>
            <a:ext cx="723900" cy="723900"/>
          </a:xfrm>
          <a:prstGeom prst="ellipse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6579550" y="2742248"/>
            <a:ext cx="21400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437471" y="3362325"/>
            <a:ext cx="4981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扫描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072533" y="3723799"/>
            <a:ext cx="122803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查看 CPU/GPU 状态</a:t>
            </a:r>
          </a:p>
        </p:txBody>
      </p:sp>
      <p:sp>
        <p:nvSpPr>
          <p:cNvPr id="34" name="Line 34"/>
          <p:cNvSpPr/>
          <p:nvPr/>
        </p:nvSpPr>
        <p:spPr>
          <a:xfrm>
            <a:off x="7067550" y="2857500"/>
            <a:ext cx="438150" cy="9525"/>
          </a:xfrm>
          <a:custGeom>
            <a:avLst/>
            <a:gdLst/>
            <a:ahLst/>
            <a:cxnLst/>
            <a:rect l="l" t="t" r="r" b="b"/>
            <a:pathLst>
              <a:path w="438150" h="9525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/>
          <a:ln w="38100">
            <a:solidFill>
              <a:srgbClr val="5B8DEF"/>
            </a:solidFill>
          </a:ln>
        </p:spPr>
      </p:sp>
      <p:sp>
        <p:nvSpPr>
          <p:cNvPr id="35" name="Polygon 35"/>
          <p:cNvSpPr/>
          <p:nvPr/>
        </p:nvSpPr>
        <p:spPr>
          <a:xfrm>
            <a:off x="7372350" y="27813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76200"/>
                </a:move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5B8DEF"/>
          </a:solidFill>
          <a:ln>
            <a:noFill/>
          </a:ln>
        </p:spPr>
      </p:sp>
      <p:sp>
        <p:nvSpPr>
          <p:cNvPr id="36" name="Ellipse 36"/>
          <p:cNvSpPr/>
          <p:nvPr/>
        </p:nvSpPr>
        <p:spPr>
          <a:xfrm>
            <a:off x="8039100" y="2495550"/>
            <a:ext cx="723900" cy="723900"/>
          </a:xfrm>
          <a:prstGeom prst="ellipse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8294050" y="2742248"/>
            <a:ext cx="21400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151971" y="3362325"/>
            <a:ext cx="4981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选卡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819073" y="372379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确定本次治理范围</a:t>
            </a:r>
          </a:p>
        </p:txBody>
      </p:sp>
      <p:sp>
        <p:nvSpPr>
          <p:cNvPr id="40" name="Line 40"/>
          <p:cNvSpPr/>
          <p:nvPr/>
        </p:nvSpPr>
        <p:spPr>
          <a:xfrm>
            <a:off x="8782050" y="2857500"/>
            <a:ext cx="438150" cy="9525"/>
          </a:xfrm>
          <a:custGeom>
            <a:avLst/>
            <a:gdLst/>
            <a:ahLst/>
            <a:cxnLst/>
            <a:rect l="l" t="t" r="r" b="b"/>
            <a:pathLst>
              <a:path w="438150" h="9525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/>
          <a:ln w="38100">
            <a:solidFill>
              <a:srgbClr val="5B8DEF"/>
            </a:solidFill>
          </a:ln>
        </p:spPr>
      </p:sp>
      <p:sp>
        <p:nvSpPr>
          <p:cNvPr id="41" name="Polygon 41"/>
          <p:cNvSpPr/>
          <p:nvPr/>
        </p:nvSpPr>
        <p:spPr>
          <a:xfrm>
            <a:off x="9086850" y="27813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76200"/>
                </a:move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5B8DEF"/>
          </a:solidFill>
          <a:ln>
            <a:noFill/>
          </a:ln>
        </p:spPr>
      </p:sp>
      <p:sp>
        <p:nvSpPr>
          <p:cNvPr id="42" name="Ellipse 42"/>
          <p:cNvSpPr/>
          <p:nvPr/>
        </p:nvSpPr>
        <p:spPr>
          <a:xfrm>
            <a:off x="9753600" y="2495550"/>
            <a:ext cx="723900" cy="723900"/>
          </a:xfrm>
          <a:prstGeom prst="ellipse">
            <a:avLst/>
          </a:prstGeom>
          <a:solidFill>
            <a:srgbClr val="1F9D68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10008550" y="2742248"/>
            <a:ext cx="21400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6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751457" y="3362325"/>
            <a:ext cx="7281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控制台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604772" y="372379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开始监控与治理</a:t>
            </a:r>
          </a:p>
        </p:txBody>
      </p:sp>
      <p:sp>
        <p:nvSpPr>
          <p:cNvPr id="46" name="Rectangle 46"/>
          <p:cNvSpPr/>
          <p:nvPr/>
        </p:nvSpPr>
        <p:spPr>
          <a:xfrm>
            <a:off x="914400" y="4572000"/>
            <a:ext cx="10439400" cy="12382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47" name="Rectangle 47"/>
          <p:cNvSpPr/>
          <p:nvPr/>
        </p:nvSpPr>
        <p:spPr>
          <a:xfrm>
            <a:off x="876300" y="4514850"/>
            <a:ext cx="1043940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876300" y="4514850"/>
            <a:ext cx="10439400" cy="57150"/>
          </a:xfrm>
          <a:prstGeom prst="rect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1182052" y="4837271"/>
            <a:ext cx="8777287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最关键的变化在于：接入逻辑被迁移到控制台之前，用户必须先完成硬件扫描和范围确认。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82052" y="5142071"/>
            <a:ext cx="4843796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这让后续所有治理动作都站在同一条范围边界上。</a:t>
            </a:r>
          </a:p>
        </p:txBody>
      </p: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B8DEF">
                  <a:alpha val="8000"/>
                </a:srgbClr>
              </a:gs>
              <a:gs pos="100000">
                <a:srgbClr val="5B8D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7313A"/>
              </a:gs>
              <a:gs pos="100000">
                <a:srgbClr val="19A38C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05778" y="193834"/>
            <a:ext cx="3390662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用户身份先于机器连接</a:t>
            </a:r>
          </a:p>
        </p:txBody>
      </p:sp>
      <p:sp>
        <p:nvSpPr>
          <p:cNvPr id="6" name="Rectangle 6"/>
          <p:cNvSpPr/>
          <p:nvPr/>
        </p:nvSpPr>
        <p:spPr>
          <a:xfrm>
            <a:off x="533400" y="609600"/>
            <a:ext cx="11125200" cy="41910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25805" y="730568"/>
            <a:ext cx="66591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平台登录不是装饰层，而是后续主机记录、凭据复用和权限隔离的前提。</a:t>
            </a:r>
          </a:p>
        </p:txBody>
      </p:sp>
      <p:sp>
        <p:nvSpPr>
          <p:cNvPr id="8" name="Line 8"/>
          <p:cNvSpPr/>
          <p:nvPr/>
        </p:nvSpPr>
        <p:spPr>
          <a:xfrm>
            <a:off x="0" y="66103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D8E0E8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371475" y="6691312"/>
            <a:ext cx="36776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Source: AI DataCenter repository and implemented product features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04886" y="6691312"/>
            <a:ext cx="258222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STRICTLY CONFIDENTIAL | AI DATACENTER SHOWCASE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41229" y="6691312"/>
            <a:ext cx="7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8</a:t>
            </a:r>
          </a:p>
        </p:txBody>
      </p:sp>
      <p:sp>
        <p:nvSpPr>
          <p:cNvPr id="12" name="Rectangle 12"/>
          <p:cNvSpPr/>
          <p:nvPr/>
        </p:nvSpPr>
        <p:spPr>
          <a:xfrm>
            <a:off x="876300" y="1562100"/>
            <a:ext cx="4953000" cy="44767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838200" y="1504950"/>
            <a:ext cx="4953000" cy="447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838200" y="1504950"/>
            <a:ext cx="4953000" cy="323850"/>
          </a:xfrm>
          <a:prstGeom prst="rect">
            <a:avLst/>
          </a:prstGeom>
          <a:solidFill>
            <a:srgbClr val="EDF2F6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962025" y="1619250"/>
            <a:ext cx="95250" cy="95250"/>
          </a:xfrm>
          <a:prstGeom prst="ellipse">
            <a:avLst/>
          </a:prstGeom>
          <a:solidFill>
            <a:srgbClr val="D9485F"/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1114425" y="1619250"/>
            <a:ext cx="95250" cy="952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1266825" y="1619250"/>
            <a:ext cx="95250" cy="95250"/>
          </a:xfrm>
          <a:prstGeom prst="ellipse">
            <a:avLst/>
          </a:prstGeom>
          <a:solidFill>
            <a:srgbClr val="1F9D68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569720" y="1617345"/>
            <a:ext cx="9626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Platform Login</a:t>
            </a:r>
          </a:p>
        </p:txBody>
      </p:sp>
      <p:sp>
        <p:nvSpPr>
          <p:cNvPr id="19" name="Rectangle 19"/>
          <p:cNvSpPr/>
          <p:nvPr/>
        </p:nvSpPr>
        <p:spPr>
          <a:xfrm>
            <a:off x="1123950" y="1962150"/>
            <a:ext cx="4381500" cy="3714750"/>
          </a:xfrm>
          <a:prstGeom prst="rect">
            <a:avLst/>
          </a:prstGeom>
          <a:solidFill>
            <a:srgbClr val="F7F9FB"/>
          </a:solidFill>
          <a:ln w="9525">
            <a:solidFill>
              <a:srgbClr val="D8E0E8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1497330" y="2230755"/>
            <a:ext cx="219490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AI DataCenter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09712" y="2602706"/>
            <a:ext cx="28217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平台先建立用户身份，再开放导入能力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11618" y="3133249"/>
            <a:ext cx="4519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用户名</a:t>
            </a:r>
          </a:p>
        </p:txBody>
      </p:sp>
      <p:sp>
        <p:nvSpPr>
          <p:cNvPr id="23" name="Rectangle 23"/>
          <p:cNvSpPr/>
          <p:nvPr/>
        </p:nvSpPr>
        <p:spPr>
          <a:xfrm>
            <a:off x="1524000" y="3371850"/>
            <a:ext cx="35814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1718310" y="3499485"/>
            <a:ext cx="50368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admin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11618" y="3952399"/>
            <a:ext cx="309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密码</a:t>
            </a:r>
          </a:p>
        </p:txBody>
      </p:sp>
      <p:sp>
        <p:nvSpPr>
          <p:cNvPr id="26" name="Rectangle 26"/>
          <p:cNvSpPr/>
          <p:nvPr/>
        </p:nvSpPr>
        <p:spPr>
          <a:xfrm>
            <a:off x="1524000" y="4191000"/>
            <a:ext cx="35814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1718310" y="4318635"/>
            <a:ext cx="11871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••••••••••••</a:t>
            </a:r>
          </a:p>
        </p:txBody>
      </p:sp>
      <p:sp>
        <p:nvSpPr>
          <p:cNvPr id="28" name="Rectangle 28"/>
          <p:cNvSpPr/>
          <p:nvPr/>
        </p:nvSpPr>
        <p:spPr>
          <a:xfrm>
            <a:off x="1524000" y="4914900"/>
            <a:ext cx="3581400" cy="45720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2779990" y="5064442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登录并继续</a:t>
            </a:r>
          </a:p>
        </p:txBody>
      </p:sp>
      <p:sp>
        <p:nvSpPr>
          <p:cNvPr id="30" name="Rectangle 30"/>
          <p:cNvSpPr/>
          <p:nvPr/>
        </p:nvSpPr>
        <p:spPr>
          <a:xfrm>
            <a:off x="1524000" y="5524500"/>
            <a:ext cx="1295400" cy="2667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677210" y="5608320"/>
            <a:ext cx="9889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首次登录需改密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210300" y="1562100"/>
            <a:ext cx="5143500" cy="44767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6172200" y="1504950"/>
            <a:ext cx="5143500" cy="447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6172200" y="1504950"/>
            <a:ext cx="5143500" cy="5715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435090" y="1653540"/>
            <a:ext cx="19779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权限与入口关系</a:t>
            </a:r>
          </a:p>
        </p:txBody>
      </p:sp>
      <p:sp>
        <p:nvSpPr>
          <p:cNvPr id="36" name="Ellipse 36"/>
          <p:cNvSpPr/>
          <p:nvPr/>
        </p:nvSpPr>
        <p:spPr>
          <a:xfrm>
            <a:off x="6524625" y="2181225"/>
            <a:ext cx="95250" cy="95250"/>
          </a:xfrm>
          <a:prstGeom prst="ellipse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708458" y="2148364"/>
            <a:ext cx="282559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默认管理员在首次启动时自动创建</a:t>
            </a:r>
          </a:p>
        </p:txBody>
      </p:sp>
      <p:sp>
        <p:nvSpPr>
          <p:cNvPr id="38" name="Ellipse 38"/>
          <p:cNvSpPr/>
          <p:nvPr/>
        </p:nvSpPr>
        <p:spPr>
          <a:xfrm>
            <a:off x="6524625" y="2524125"/>
            <a:ext cx="95250" cy="95250"/>
          </a:xfrm>
          <a:prstGeom prst="ellipse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6708458" y="2491264"/>
            <a:ext cx="301180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默认管理员首次登录后必须修改密码</a:t>
            </a:r>
          </a:p>
        </p:txBody>
      </p:sp>
      <p:sp>
        <p:nvSpPr>
          <p:cNvPr id="40" name="Ellipse 40"/>
          <p:cNvSpPr/>
          <p:nvPr/>
        </p:nvSpPr>
        <p:spPr>
          <a:xfrm>
            <a:off x="6524625" y="2867025"/>
            <a:ext cx="95250" cy="95250"/>
          </a:xfrm>
          <a:prstGeom prst="ellipse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708458" y="2834164"/>
            <a:ext cx="263937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管理员可查看全部用户主机记录</a:t>
            </a:r>
          </a:p>
        </p:txBody>
      </p:sp>
      <p:sp>
        <p:nvSpPr>
          <p:cNvPr id="42" name="Ellipse 42"/>
          <p:cNvSpPr/>
          <p:nvPr/>
        </p:nvSpPr>
        <p:spPr>
          <a:xfrm>
            <a:off x="6524625" y="3209925"/>
            <a:ext cx="95250" cy="95250"/>
          </a:xfrm>
          <a:prstGeom prst="ellipse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6708458" y="3177064"/>
            <a:ext cx="282559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普通用户只可查看自己的主机记录</a:t>
            </a:r>
          </a:p>
        </p:txBody>
      </p:sp>
      <p:sp>
        <p:nvSpPr>
          <p:cNvPr id="44" name="Rectangle 44"/>
          <p:cNvSpPr/>
          <p:nvPr/>
        </p:nvSpPr>
        <p:spPr>
          <a:xfrm>
            <a:off x="6572250" y="4000500"/>
            <a:ext cx="4438650" cy="15621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6534150" y="3943350"/>
            <a:ext cx="4438650" cy="156210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6534150" y="3943350"/>
            <a:ext cx="4438650" cy="57150"/>
          </a:xfrm>
          <a:prstGeom prst="rect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6762750" y="4105275"/>
            <a:ext cx="210835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为什么必须先登录？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767512" y="4507706"/>
            <a:ext cx="21974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因为“已保存主机”“凭据复用”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767512" y="4736306"/>
            <a:ext cx="20166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和“管理员可见范围”都依赖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767512" y="4964906"/>
            <a:ext cx="23288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平台用户身份。没有平台登录，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767512" y="5193506"/>
            <a:ext cx="28217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就无法建立主机归属和后续复用机制。</a:t>
            </a:r>
          </a:p>
        </p:txBody>
      </p: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B8DEF">
                  <a:alpha val="8000"/>
                </a:srgbClr>
              </a:gs>
              <a:gs pos="100000">
                <a:srgbClr val="5B8D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7313A"/>
              </a:gs>
              <a:gs pos="100000">
                <a:srgbClr val="19A38C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05778" y="193834"/>
            <a:ext cx="3724204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导入准备页剥离接入逻辑</a:t>
            </a:r>
          </a:p>
        </p:txBody>
      </p:sp>
      <p:sp>
        <p:nvSpPr>
          <p:cNvPr id="6" name="Rectangle 6"/>
          <p:cNvSpPr/>
          <p:nvPr/>
        </p:nvSpPr>
        <p:spPr>
          <a:xfrm>
            <a:off x="533400" y="609600"/>
            <a:ext cx="11125200" cy="41910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25805" y="730568"/>
            <a:ext cx="64520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接入来源、已保存主机、硬件扫描和选卡导入都被前置到控制台之前。</a:t>
            </a:r>
          </a:p>
        </p:txBody>
      </p:sp>
      <p:sp>
        <p:nvSpPr>
          <p:cNvPr id="8" name="Line 8"/>
          <p:cNvSpPr/>
          <p:nvPr/>
        </p:nvSpPr>
        <p:spPr>
          <a:xfrm>
            <a:off x="0" y="66103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D8E0E8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371475" y="6691312"/>
            <a:ext cx="36776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Source: AI DataCenter repository and implemented product features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04886" y="6691312"/>
            <a:ext cx="258222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STRICTLY CONFIDENTIAL | AI DATACENTER SHOWCASE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41229" y="6691312"/>
            <a:ext cx="7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9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81050" y="1543050"/>
            <a:ext cx="10706100" cy="44767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742950" y="1485900"/>
            <a:ext cx="10706100" cy="447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742950" y="1485900"/>
            <a:ext cx="10706100" cy="323850"/>
          </a:xfrm>
          <a:prstGeom prst="rect">
            <a:avLst/>
          </a:prstGeom>
          <a:solidFill>
            <a:srgbClr val="EDF2F6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866775" y="1600200"/>
            <a:ext cx="95250" cy="95250"/>
          </a:xfrm>
          <a:prstGeom prst="ellipse">
            <a:avLst/>
          </a:prstGeom>
          <a:solidFill>
            <a:srgbClr val="D9485F"/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1019175" y="1600200"/>
            <a:ext cx="95250" cy="952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1171575" y="1600200"/>
            <a:ext cx="95250" cy="95250"/>
          </a:xfrm>
          <a:prstGeom prst="ellipse">
            <a:avLst/>
          </a:prstGeom>
          <a:solidFill>
            <a:srgbClr val="1F9D68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474470" y="1598295"/>
            <a:ext cx="19682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Import Preparation Workspace</a:t>
            </a:r>
          </a:p>
        </p:txBody>
      </p:sp>
      <p:sp>
        <p:nvSpPr>
          <p:cNvPr id="19" name="Rectangle 19"/>
          <p:cNvSpPr/>
          <p:nvPr/>
        </p:nvSpPr>
        <p:spPr>
          <a:xfrm>
            <a:off x="1047750" y="1847850"/>
            <a:ext cx="2247900" cy="3810000"/>
          </a:xfrm>
          <a:prstGeom prst="rect">
            <a:avLst/>
          </a:prstGeom>
          <a:solidFill>
            <a:srgbClr val="F1F5F9"/>
          </a:solidFill>
          <a:ln w="9525">
            <a:solidFill>
              <a:srgbClr val="D8E0E8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1274445" y="1993582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准备页侧栏</a:t>
            </a:r>
          </a:p>
        </p:txBody>
      </p:sp>
      <p:sp>
        <p:nvSpPr>
          <p:cNvPr id="21" name="Rectangle 21"/>
          <p:cNvSpPr/>
          <p:nvPr/>
        </p:nvSpPr>
        <p:spPr>
          <a:xfrm>
            <a:off x="1295400" y="2457450"/>
            <a:ext cx="1752600" cy="26670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194149" y="2541270"/>
            <a:ext cx="19551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控制台只治理本次导入选中的卡</a:t>
            </a:r>
          </a:p>
        </p:txBody>
      </p:sp>
      <p:sp>
        <p:nvSpPr>
          <p:cNvPr id="23" name="Rectangle 23"/>
          <p:cNvSpPr/>
          <p:nvPr/>
        </p:nvSpPr>
        <p:spPr>
          <a:xfrm>
            <a:off x="1295400" y="2971800"/>
            <a:ext cx="1714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1295400" y="2971800"/>
            <a:ext cx="57150" cy="45720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525905" y="3121342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已保存主机</a:t>
            </a:r>
          </a:p>
        </p:txBody>
      </p:sp>
      <p:sp>
        <p:nvSpPr>
          <p:cNvPr id="26" name="Rectangle 26"/>
          <p:cNvSpPr/>
          <p:nvPr/>
        </p:nvSpPr>
        <p:spPr>
          <a:xfrm>
            <a:off x="1295400" y="3619500"/>
            <a:ext cx="1714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1295400" y="3619500"/>
            <a:ext cx="57150" cy="457200"/>
          </a:xfrm>
          <a:prstGeom prst="rect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525905" y="3769042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连接来源</a:t>
            </a:r>
          </a:p>
        </p:txBody>
      </p:sp>
      <p:sp>
        <p:nvSpPr>
          <p:cNvPr id="29" name="Rectangle 29"/>
          <p:cNvSpPr/>
          <p:nvPr/>
        </p:nvSpPr>
        <p:spPr>
          <a:xfrm>
            <a:off x="1295400" y="4267200"/>
            <a:ext cx="1714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1295400" y="4267200"/>
            <a:ext cx="57150" cy="457200"/>
          </a:xfrm>
          <a:prstGeom prst="rect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525905" y="4416742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硬件概览</a:t>
            </a:r>
          </a:p>
        </p:txBody>
      </p:sp>
      <p:sp>
        <p:nvSpPr>
          <p:cNvPr id="32" name="Rectangle 32"/>
          <p:cNvSpPr/>
          <p:nvPr/>
        </p:nvSpPr>
        <p:spPr>
          <a:xfrm>
            <a:off x="1295400" y="4914900"/>
            <a:ext cx="1714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1295400" y="4914900"/>
            <a:ext cx="57150" cy="457200"/>
          </a:xfrm>
          <a:prstGeom prst="rect">
            <a:avLst/>
          </a:prstGeom>
          <a:solidFill>
            <a:srgbClr val="1F9D68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1525905" y="5064442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选卡导入</a:t>
            </a:r>
          </a:p>
        </p:txBody>
      </p:sp>
      <p:sp>
        <p:nvSpPr>
          <p:cNvPr id="35" name="Rectangle 35"/>
          <p:cNvSpPr/>
          <p:nvPr/>
        </p:nvSpPr>
        <p:spPr>
          <a:xfrm>
            <a:off x="3562350" y="1847850"/>
            <a:ext cx="75628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3827145" y="2088832"/>
            <a:ext cx="586163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工作区主体是各个阶段的入口，不再混入控制台逻辑</a:t>
            </a:r>
          </a:p>
        </p:txBody>
      </p:sp>
      <p:sp>
        <p:nvSpPr>
          <p:cNvPr id="37" name="Rectangle 37"/>
          <p:cNvSpPr/>
          <p:nvPr/>
        </p:nvSpPr>
        <p:spPr>
          <a:xfrm>
            <a:off x="3562350" y="2724150"/>
            <a:ext cx="7562850" cy="2933700"/>
          </a:xfrm>
          <a:prstGeom prst="rect">
            <a:avLst/>
          </a:prstGeom>
          <a:solidFill>
            <a:srgbClr val="F7F9FB"/>
          </a:solidFill>
          <a:ln w="9525">
            <a:solidFill>
              <a:srgbClr val="D8E0E8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3905250" y="3105150"/>
            <a:ext cx="3143250" cy="8953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3867150" y="3048000"/>
            <a:ext cx="3143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3867150" y="3048000"/>
            <a:ext cx="3143250" cy="5715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4059555" y="3226118"/>
            <a:ext cx="14834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复用已保存主机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063365" y="3525202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优先复用成功连接过的目标</a:t>
            </a:r>
          </a:p>
        </p:txBody>
      </p:sp>
      <p:sp>
        <p:nvSpPr>
          <p:cNvPr id="43" name="Rectangle 43"/>
          <p:cNvSpPr/>
          <p:nvPr/>
        </p:nvSpPr>
        <p:spPr>
          <a:xfrm>
            <a:off x="7467600" y="3105150"/>
            <a:ext cx="3143250" cy="8953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7429500" y="3048000"/>
            <a:ext cx="3143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45" name="Rectangle 45"/>
          <p:cNvSpPr/>
          <p:nvPr/>
        </p:nvSpPr>
        <p:spPr>
          <a:xfrm>
            <a:off x="7429500" y="3048000"/>
            <a:ext cx="3143250" cy="57150"/>
          </a:xfrm>
          <a:prstGeom prst="rect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7621905" y="3226118"/>
            <a:ext cx="14834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切换到手动连接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625715" y="3525202"/>
            <a:ext cx="287135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支持本机 Agent、远程 Agent、SSH Linux</a:t>
            </a:r>
          </a:p>
        </p:txBody>
      </p:sp>
      <p:sp>
        <p:nvSpPr>
          <p:cNvPr id="48" name="Rectangle 48"/>
          <p:cNvSpPr/>
          <p:nvPr/>
        </p:nvSpPr>
        <p:spPr>
          <a:xfrm>
            <a:off x="3905250" y="4267200"/>
            <a:ext cx="3143250" cy="8953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49" name="Rectangle 49"/>
          <p:cNvSpPr/>
          <p:nvPr/>
        </p:nvSpPr>
        <p:spPr>
          <a:xfrm>
            <a:off x="3867150" y="4210050"/>
            <a:ext cx="3143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50" name="Rectangle 50"/>
          <p:cNvSpPr/>
          <p:nvPr/>
        </p:nvSpPr>
        <p:spPr>
          <a:xfrm>
            <a:off x="3867150" y="4210050"/>
            <a:ext cx="3143250" cy="57150"/>
          </a:xfrm>
          <a:prstGeom prst="rect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4059555" y="438816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先看硬件摘要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063365" y="4687252"/>
            <a:ext cx="218127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扫描后确认 CPU / GPU 当前状态</a:t>
            </a:r>
          </a:p>
        </p:txBody>
      </p:sp>
      <p:sp>
        <p:nvSpPr>
          <p:cNvPr id="53" name="Rectangle 53"/>
          <p:cNvSpPr/>
          <p:nvPr/>
        </p:nvSpPr>
        <p:spPr>
          <a:xfrm>
            <a:off x="7467600" y="4267200"/>
            <a:ext cx="3143250" cy="8953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54" name="Rectangle 54"/>
          <p:cNvSpPr/>
          <p:nvPr/>
        </p:nvSpPr>
        <p:spPr>
          <a:xfrm>
            <a:off x="7429500" y="4210050"/>
            <a:ext cx="3143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55" name="Rectangle 55"/>
          <p:cNvSpPr/>
          <p:nvPr/>
        </p:nvSpPr>
        <p:spPr>
          <a:xfrm>
            <a:off x="7429500" y="4210050"/>
            <a:ext cx="3143250" cy="57150"/>
          </a:xfrm>
          <a:prstGeom prst="rect">
            <a:avLst/>
          </a:prstGeom>
          <a:solidFill>
            <a:srgbClr val="1F9D68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7621905" y="4388168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最后选择导入范围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7625715" y="4687252"/>
            <a:ext cx="24803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提交后进入只治理导入范围的控制台</a:t>
            </a:r>
          </a:p>
        </p:txBody>
      </p:sp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B8DEF">
                  <a:alpha val="8000"/>
                </a:srgbClr>
              </a:gs>
              <a:gs pos="100000">
                <a:srgbClr val="5B8D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7313A"/>
              </a:gs>
              <a:gs pos="100000">
                <a:srgbClr val="19A38C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05778" y="193834"/>
            <a:ext cx="4724829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三种接入模式覆盖不同部署场景</a:t>
            </a:r>
          </a:p>
        </p:txBody>
      </p:sp>
      <p:sp>
        <p:nvSpPr>
          <p:cNvPr id="6" name="Rectangle 6"/>
          <p:cNvSpPr/>
          <p:nvPr/>
        </p:nvSpPr>
        <p:spPr>
          <a:xfrm>
            <a:off x="533400" y="609600"/>
            <a:ext cx="11125200" cy="41910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25805" y="730568"/>
            <a:ext cx="73319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用户看到的是统一导入流程，系统内部则支持本机、远程和 SSH 三条接入路径。</a:t>
            </a:r>
          </a:p>
        </p:txBody>
      </p:sp>
      <p:sp>
        <p:nvSpPr>
          <p:cNvPr id="8" name="Line 8"/>
          <p:cNvSpPr/>
          <p:nvPr/>
        </p:nvSpPr>
        <p:spPr>
          <a:xfrm>
            <a:off x="0" y="66103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D8E0E8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371475" y="6691312"/>
            <a:ext cx="36776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Source: AI DataCenter repository and implemented product features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04886" y="6691312"/>
            <a:ext cx="258222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STRICTLY CONFIDENTIAL | AI DATACENTER SHOWCASE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08368" y="6691312"/>
            <a:ext cx="11215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sp>
        <p:nvSpPr>
          <p:cNvPr id="12" name="Rectangle 12"/>
          <p:cNvSpPr/>
          <p:nvPr/>
        </p:nvSpPr>
        <p:spPr>
          <a:xfrm>
            <a:off x="819150" y="1524000"/>
            <a:ext cx="3276600" cy="16192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781050" y="1466850"/>
            <a:ext cx="32766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781050" y="1466850"/>
            <a:ext cx="3276600" cy="5715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1009650" y="1785938"/>
            <a:ext cx="266700" cy="200025"/>
            <a:chOff x="1009650" y="1785938"/>
            <a:chExt cx="266700" cy="200025"/>
          </a:xfrm>
        </p:grpSpPr>
        <p:sp>
          <p:nvSpPr>
            <p:cNvPr id="15" name="Freeform 15"/>
            <p:cNvSpPr/>
            <p:nvPr/>
          </p:nvSpPr>
          <p:spPr>
            <a:xfrm>
              <a:off x="1009650" y="1785938"/>
              <a:ext cx="266700" cy="83344"/>
            </a:xfrm>
            <a:custGeom>
              <a:avLst/>
              <a:gdLst/>
              <a:ahLst/>
              <a:cxnLst/>
              <a:rect l="l" t="t" r="r" b="b"/>
              <a:pathLst>
                <a:path w="266700" h="83344">
                  <a:moveTo>
                    <a:pt x="266700" y="0"/>
                  </a:moveTo>
                  <a:lnTo>
                    <a:pt x="0" y="0"/>
                  </a:lnTo>
                  <a:lnTo>
                    <a:pt x="0" y="83344"/>
                  </a:lnTo>
                  <a:lnTo>
                    <a:pt x="266700" y="83344"/>
                  </a:lnTo>
                  <a:lnTo>
                    <a:pt x="266700" y="0"/>
                  </a:lnTo>
                  <a:close/>
                  <a:moveTo>
                    <a:pt x="66675" y="41672"/>
                  </a:moveTo>
                  <a:cubicBezTo>
                    <a:pt x="66675" y="50878"/>
                    <a:pt x="59212" y="58341"/>
                    <a:pt x="50006" y="58341"/>
                  </a:cubicBezTo>
                  <a:cubicBezTo>
                    <a:pt x="40800" y="58341"/>
                    <a:pt x="33338" y="50878"/>
                    <a:pt x="33338" y="41672"/>
                  </a:cubicBezTo>
                  <a:cubicBezTo>
                    <a:pt x="33338" y="32466"/>
                    <a:pt x="40800" y="25003"/>
                    <a:pt x="50006" y="25003"/>
                  </a:cubicBezTo>
                  <a:cubicBezTo>
                    <a:pt x="59212" y="25003"/>
                    <a:pt x="66675" y="32466"/>
                    <a:pt x="66675" y="41672"/>
                  </a:cubicBezTo>
                  <a:close/>
                </a:path>
              </a:pathLst>
            </a:custGeom>
            <a:solidFill>
              <a:srgbClr val="17313A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1009650" y="1902619"/>
              <a:ext cx="266700" cy="83344"/>
            </a:xfrm>
            <a:custGeom>
              <a:avLst/>
              <a:gdLst/>
              <a:ahLst/>
              <a:cxnLst/>
              <a:rect l="l" t="t" r="r" b="b"/>
              <a:pathLst>
                <a:path w="266700" h="83344">
                  <a:moveTo>
                    <a:pt x="266700" y="0"/>
                  </a:moveTo>
                  <a:lnTo>
                    <a:pt x="0" y="0"/>
                  </a:lnTo>
                  <a:lnTo>
                    <a:pt x="0" y="83344"/>
                  </a:lnTo>
                  <a:lnTo>
                    <a:pt x="266700" y="83344"/>
                  </a:lnTo>
                  <a:lnTo>
                    <a:pt x="266700" y="0"/>
                  </a:lnTo>
                  <a:close/>
                  <a:moveTo>
                    <a:pt x="50006" y="58341"/>
                  </a:moveTo>
                  <a:cubicBezTo>
                    <a:pt x="59212" y="58341"/>
                    <a:pt x="66675" y="50878"/>
                    <a:pt x="66675" y="41672"/>
                  </a:cubicBezTo>
                  <a:cubicBezTo>
                    <a:pt x="66675" y="32466"/>
                    <a:pt x="59212" y="25003"/>
                    <a:pt x="50006" y="25003"/>
                  </a:cubicBezTo>
                  <a:cubicBezTo>
                    <a:pt x="40800" y="25003"/>
                    <a:pt x="33338" y="32466"/>
                    <a:pt x="33338" y="41672"/>
                  </a:cubicBezTo>
                  <a:cubicBezTo>
                    <a:pt x="33338" y="50878"/>
                    <a:pt x="40800" y="58341"/>
                    <a:pt x="50006" y="58341"/>
                  </a:cubicBezTo>
                  <a:close/>
                </a:path>
              </a:pathLst>
            </a:custGeom>
            <a:solidFill>
              <a:srgbClr val="17313A"/>
            </a:solidFill>
            <a:ln>
              <a:noFill/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1386840" y="1767840"/>
            <a:ext cx="143969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本机 Agent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95362" y="2202656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适合本机直接采集</a:t>
            </a:r>
          </a:p>
        </p:txBody>
      </p:sp>
      <p:sp>
        <p:nvSpPr>
          <p:cNvPr id="20" name="Ellipse 20"/>
          <p:cNvSpPr/>
          <p:nvPr/>
        </p:nvSpPr>
        <p:spPr>
          <a:xfrm>
            <a:off x="1000125" y="2619375"/>
            <a:ext cx="95250" cy="95250"/>
          </a:xfrm>
          <a:prstGeom prst="ellipse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186815" y="261080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统一导入语义</a:t>
            </a:r>
          </a:p>
        </p:txBody>
      </p:sp>
      <p:sp>
        <p:nvSpPr>
          <p:cNvPr id="22" name="Ellipse 22"/>
          <p:cNvSpPr/>
          <p:nvPr/>
        </p:nvSpPr>
        <p:spPr>
          <a:xfrm>
            <a:off x="1000125" y="2847975"/>
            <a:ext cx="95250" cy="95250"/>
          </a:xfrm>
          <a:prstGeom prst="ellipse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186815" y="283940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统一扫描入口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552950" y="1524000"/>
            <a:ext cx="3276600" cy="16192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4514850" y="1466850"/>
            <a:ext cx="32766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4514850" y="1466850"/>
            <a:ext cx="3276600" cy="57150"/>
          </a:xfrm>
          <a:prstGeom prst="rect">
            <a:avLst/>
          </a:prstGeom>
          <a:solidFill>
            <a:srgbClr val="5B8DEF"/>
          </a:solidFill>
          <a:ln>
            <a:noFill/>
          </a:ln>
        </p:spPr>
      </p:sp>
      <p:grpSp>
        <p:nvGrpSpPr>
          <p:cNvPr id="29" name="Group 29"/>
          <p:cNvGrpSpPr/>
          <p:nvPr/>
        </p:nvGrpSpPr>
        <p:grpSpPr>
          <a:xfrm>
            <a:off x="4743450" y="1785938"/>
            <a:ext cx="266700" cy="200025"/>
            <a:chOff x="4743450" y="1785938"/>
            <a:chExt cx="266700" cy="200025"/>
          </a:xfrm>
        </p:grpSpPr>
        <p:sp>
          <p:nvSpPr>
            <p:cNvPr id="27" name="Freeform 27"/>
            <p:cNvSpPr/>
            <p:nvPr/>
          </p:nvSpPr>
          <p:spPr>
            <a:xfrm>
              <a:off x="4743450" y="1785938"/>
              <a:ext cx="266700" cy="83344"/>
            </a:xfrm>
            <a:custGeom>
              <a:avLst/>
              <a:gdLst/>
              <a:ahLst/>
              <a:cxnLst/>
              <a:rect l="l" t="t" r="r" b="b"/>
              <a:pathLst>
                <a:path w="266700" h="83344">
                  <a:moveTo>
                    <a:pt x="266700" y="0"/>
                  </a:moveTo>
                  <a:lnTo>
                    <a:pt x="0" y="0"/>
                  </a:lnTo>
                  <a:lnTo>
                    <a:pt x="0" y="83344"/>
                  </a:lnTo>
                  <a:lnTo>
                    <a:pt x="266700" y="83344"/>
                  </a:lnTo>
                  <a:lnTo>
                    <a:pt x="266700" y="0"/>
                  </a:lnTo>
                  <a:close/>
                  <a:moveTo>
                    <a:pt x="66675" y="41672"/>
                  </a:moveTo>
                  <a:cubicBezTo>
                    <a:pt x="66675" y="50878"/>
                    <a:pt x="59212" y="58341"/>
                    <a:pt x="50006" y="58341"/>
                  </a:cubicBezTo>
                  <a:cubicBezTo>
                    <a:pt x="40800" y="58341"/>
                    <a:pt x="33338" y="50878"/>
                    <a:pt x="33338" y="41672"/>
                  </a:cubicBezTo>
                  <a:cubicBezTo>
                    <a:pt x="33338" y="32466"/>
                    <a:pt x="40800" y="25003"/>
                    <a:pt x="50006" y="25003"/>
                  </a:cubicBezTo>
                  <a:cubicBezTo>
                    <a:pt x="59212" y="25003"/>
                    <a:pt x="66675" y="32466"/>
                    <a:pt x="66675" y="41672"/>
                  </a:cubicBezTo>
                  <a:close/>
                </a:path>
              </a:pathLst>
            </a:custGeom>
            <a:solidFill>
              <a:srgbClr val="5B8DEF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4743450" y="1902619"/>
              <a:ext cx="266700" cy="83344"/>
            </a:xfrm>
            <a:custGeom>
              <a:avLst/>
              <a:gdLst/>
              <a:ahLst/>
              <a:cxnLst/>
              <a:rect l="l" t="t" r="r" b="b"/>
              <a:pathLst>
                <a:path w="266700" h="83344">
                  <a:moveTo>
                    <a:pt x="266700" y="0"/>
                  </a:moveTo>
                  <a:lnTo>
                    <a:pt x="0" y="0"/>
                  </a:lnTo>
                  <a:lnTo>
                    <a:pt x="0" y="83344"/>
                  </a:lnTo>
                  <a:lnTo>
                    <a:pt x="266700" y="83344"/>
                  </a:lnTo>
                  <a:lnTo>
                    <a:pt x="266700" y="0"/>
                  </a:lnTo>
                  <a:close/>
                  <a:moveTo>
                    <a:pt x="50006" y="58341"/>
                  </a:moveTo>
                  <a:cubicBezTo>
                    <a:pt x="59212" y="58341"/>
                    <a:pt x="66675" y="50878"/>
                    <a:pt x="66675" y="41672"/>
                  </a:cubicBezTo>
                  <a:cubicBezTo>
                    <a:pt x="66675" y="32466"/>
                    <a:pt x="59212" y="25003"/>
                    <a:pt x="50006" y="25003"/>
                  </a:cubicBezTo>
                  <a:cubicBezTo>
                    <a:pt x="40800" y="25003"/>
                    <a:pt x="33338" y="32466"/>
                    <a:pt x="33338" y="41672"/>
                  </a:cubicBezTo>
                  <a:cubicBezTo>
                    <a:pt x="33338" y="50878"/>
                    <a:pt x="40800" y="58341"/>
                    <a:pt x="50006" y="58341"/>
                  </a:cubicBezTo>
                  <a:close/>
                </a:path>
              </a:pathLst>
            </a:custGeom>
            <a:solidFill>
              <a:srgbClr val="5B8DEF"/>
            </a:solidFill>
            <a:ln>
              <a:noFill/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5120640" y="1767840"/>
            <a:ext cx="143969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远程 Agent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729162" y="2202656"/>
            <a:ext cx="151554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目标机已部署 agent</a:t>
            </a:r>
          </a:p>
        </p:txBody>
      </p:sp>
      <p:sp>
        <p:nvSpPr>
          <p:cNvPr id="32" name="Ellipse 32"/>
          <p:cNvSpPr/>
          <p:nvPr/>
        </p:nvSpPr>
        <p:spPr>
          <a:xfrm>
            <a:off x="4733925" y="2619375"/>
            <a:ext cx="95250" cy="9525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4920615" y="261080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统一导入语义</a:t>
            </a:r>
          </a:p>
        </p:txBody>
      </p:sp>
      <p:sp>
        <p:nvSpPr>
          <p:cNvPr id="34" name="Ellipse 34"/>
          <p:cNvSpPr/>
          <p:nvPr/>
        </p:nvSpPr>
        <p:spPr>
          <a:xfrm>
            <a:off x="4733925" y="2847975"/>
            <a:ext cx="95250" cy="9525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4920615" y="283940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统一扫描入口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286750" y="1524000"/>
            <a:ext cx="3276600" cy="16192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8248650" y="1466850"/>
            <a:ext cx="32766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8248650" y="1466850"/>
            <a:ext cx="3276600" cy="57150"/>
          </a:xfrm>
          <a:prstGeom prst="rect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39" name="Freeform 39"/>
          <p:cNvSpPr/>
          <p:nvPr/>
        </p:nvSpPr>
        <p:spPr>
          <a:xfrm>
            <a:off x="8477250" y="17526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700" y="91678"/>
                </a:moveTo>
                <a:cubicBezTo>
                  <a:pt x="266700" y="142311"/>
                  <a:pt x="225655" y="183356"/>
                  <a:pt x="175022" y="183356"/>
                </a:cubicBezTo>
                <a:lnTo>
                  <a:pt x="116681" y="183356"/>
                </a:lnTo>
                <a:lnTo>
                  <a:pt x="116681" y="216694"/>
                </a:lnTo>
                <a:lnTo>
                  <a:pt x="83344" y="216694"/>
                </a:lnTo>
                <a:lnTo>
                  <a:pt x="83344" y="250031"/>
                </a:lnTo>
                <a:lnTo>
                  <a:pt x="66675" y="266700"/>
                </a:lnTo>
                <a:lnTo>
                  <a:pt x="0" y="266700"/>
                </a:lnTo>
                <a:lnTo>
                  <a:pt x="0" y="200025"/>
                </a:lnTo>
                <a:lnTo>
                  <a:pt x="86069" y="113956"/>
                </a:lnTo>
                <a:cubicBezTo>
                  <a:pt x="84289" y="106824"/>
                  <a:pt x="83344" y="99361"/>
                  <a:pt x="83344" y="91678"/>
                </a:cubicBezTo>
                <a:cubicBezTo>
                  <a:pt x="83344" y="41046"/>
                  <a:pt x="124389" y="0"/>
                  <a:pt x="175022" y="0"/>
                </a:cubicBezTo>
                <a:cubicBezTo>
                  <a:pt x="225655" y="0"/>
                  <a:pt x="266700" y="41046"/>
                  <a:pt x="266700" y="91678"/>
                </a:cubicBezTo>
                <a:close/>
                <a:moveTo>
                  <a:pt x="216694" y="66675"/>
                </a:moveTo>
                <a:cubicBezTo>
                  <a:pt x="216694" y="75881"/>
                  <a:pt x="209231" y="83344"/>
                  <a:pt x="200025" y="83344"/>
                </a:cubicBezTo>
                <a:cubicBezTo>
                  <a:pt x="190819" y="83344"/>
                  <a:pt x="183356" y="75881"/>
                  <a:pt x="183356" y="66675"/>
                </a:cubicBezTo>
                <a:cubicBezTo>
                  <a:pt x="183356" y="57469"/>
                  <a:pt x="190819" y="50006"/>
                  <a:pt x="200025" y="50006"/>
                </a:cubicBezTo>
                <a:cubicBezTo>
                  <a:pt x="209231" y="50006"/>
                  <a:pt x="216694" y="57469"/>
                  <a:pt x="216694" y="66675"/>
                </a:cubicBezTo>
                <a:close/>
              </a:path>
            </a:pathLst>
          </a:custGeom>
          <a:solidFill>
            <a:srgbClr val="19A38C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8854440" y="1767840"/>
            <a:ext cx="127407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SSH Linux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462962" y="2202656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目标机零部署接入</a:t>
            </a:r>
          </a:p>
        </p:txBody>
      </p:sp>
      <p:sp>
        <p:nvSpPr>
          <p:cNvPr id="42" name="Ellipse 42"/>
          <p:cNvSpPr/>
          <p:nvPr/>
        </p:nvSpPr>
        <p:spPr>
          <a:xfrm>
            <a:off x="8467725" y="2619375"/>
            <a:ext cx="95250" cy="95250"/>
          </a:xfrm>
          <a:prstGeom prst="ellipse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8654415" y="261080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统一导入语义</a:t>
            </a:r>
          </a:p>
        </p:txBody>
      </p:sp>
      <p:sp>
        <p:nvSpPr>
          <p:cNvPr id="44" name="Ellipse 44"/>
          <p:cNvSpPr/>
          <p:nvPr/>
        </p:nvSpPr>
        <p:spPr>
          <a:xfrm>
            <a:off x="8467725" y="2847975"/>
            <a:ext cx="95250" cy="95250"/>
          </a:xfrm>
          <a:prstGeom prst="ellipse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8654415" y="283940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统一扫描入口</a:t>
            </a:r>
          </a:p>
        </p:txBody>
      </p:sp>
      <p:sp>
        <p:nvSpPr>
          <p:cNvPr id="46" name="Rectangle 46"/>
          <p:cNvSpPr/>
          <p:nvPr/>
        </p:nvSpPr>
        <p:spPr>
          <a:xfrm>
            <a:off x="819150" y="3448050"/>
            <a:ext cx="10572750" cy="25717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47" name="Rectangle 47"/>
          <p:cNvSpPr/>
          <p:nvPr/>
        </p:nvSpPr>
        <p:spPr>
          <a:xfrm>
            <a:off x="781050" y="3390900"/>
            <a:ext cx="10572750" cy="2571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781050" y="3390900"/>
            <a:ext cx="10572750" cy="5715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1026795" y="3536632"/>
            <a:ext cx="307828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接入模式能力对比（示意）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27760" y="41376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部署成本</a:t>
            </a:r>
          </a:p>
        </p:txBody>
      </p:sp>
      <p:sp>
        <p:nvSpPr>
          <p:cNvPr id="51" name="Rectangle 51"/>
          <p:cNvSpPr/>
          <p:nvPr/>
        </p:nvSpPr>
        <p:spPr>
          <a:xfrm>
            <a:off x="2476500" y="4095750"/>
            <a:ext cx="1714500" cy="2095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52" name="Rectangle 52"/>
          <p:cNvSpPr/>
          <p:nvPr/>
        </p:nvSpPr>
        <p:spPr>
          <a:xfrm>
            <a:off x="2476500" y="4095750"/>
            <a:ext cx="838200" cy="20955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2465070" y="3903345"/>
            <a:ext cx="71984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本机 Agent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292918" y="4161949"/>
            <a:ext cx="1892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55</a:t>
            </a:r>
          </a:p>
        </p:txBody>
      </p:sp>
      <p:sp>
        <p:nvSpPr>
          <p:cNvPr id="55" name="Rectangle 55"/>
          <p:cNvSpPr/>
          <p:nvPr/>
        </p:nvSpPr>
        <p:spPr>
          <a:xfrm>
            <a:off x="5143500" y="4095750"/>
            <a:ext cx="1714500" cy="2095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56" name="Rectangle 56"/>
          <p:cNvSpPr/>
          <p:nvPr/>
        </p:nvSpPr>
        <p:spPr>
          <a:xfrm>
            <a:off x="5143500" y="4095750"/>
            <a:ext cx="944880" cy="209550"/>
          </a:xfrm>
          <a:prstGeom prst="rect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5132070" y="3903345"/>
            <a:ext cx="71984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5B8DEF"/>
                </a:solidFill>
                <a:latin typeface="Arial"/>
                <a:ea typeface="Microsoft YaHei"/>
                <a:cs typeface="Arial"/>
              </a:rPr>
              <a:t>远程 Agent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959918" y="4161949"/>
            <a:ext cx="1892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5B8DEF"/>
                </a:solidFill>
                <a:latin typeface="Arial"/>
                <a:ea typeface="Microsoft YaHei"/>
                <a:cs typeface="Arial"/>
              </a:rPr>
              <a:t>62</a:t>
            </a:r>
          </a:p>
        </p:txBody>
      </p:sp>
      <p:sp>
        <p:nvSpPr>
          <p:cNvPr id="59" name="Rectangle 59"/>
          <p:cNvSpPr/>
          <p:nvPr/>
        </p:nvSpPr>
        <p:spPr>
          <a:xfrm>
            <a:off x="7810500" y="4095750"/>
            <a:ext cx="1714500" cy="2095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60" name="Rectangle 60"/>
          <p:cNvSpPr/>
          <p:nvPr/>
        </p:nvSpPr>
        <p:spPr>
          <a:xfrm>
            <a:off x="7810500" y="4095750"/>
            <a:ext cx="426720" cy="209550"/>
          </a:xfrm>
          <a:prstGeom prst="rect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7799070" y="3903345"/>
            <a:ext cx="6370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9A38C"/>
                </a:solidFill>
                <a:latin typeface="Arial"/>
                <a:ea typeface="Microsoft YaHei"/>
                <a:cs typeface="Arial"/>
              </a:rPr>
              <a:t>SSH Linux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9626918" y="4161949"/>
            <a:ext cx="1892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9A38C"/>
                </a:solidFill>
                <a:latin typeface="Arial"/>
                <a:ea typeface="Microsoft YaHei"/>
                <a:cs typeface="Arial"/>
              </a:rPr>
              <a:t>28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127760" y="4728210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零部署友好度</a:t>
            </a:r>
          </a:p>
        </p:txBody>
      </p:sp>
      <p:sp>
        <p:nvSpPr>
          <p:cNvPr id="64" name="Rectangle 64"/>
          <p:cNvSpPr/>
          <p:nvPr/>
        </p:nvSpPr>
        <p:spPr>
          <a:xfrm>
            <a:off x="2476500" y="4686300"/>
            <a:ext cx="1714500" cy="2095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65" name="Rectangle 65"/>
          <p:cNvSpPr/>
          <p:nvPr/>
        </p:nvSpPr>
        <p:spPr>
          <a:xfrm>
            <a:off x="2476500" y="4686300"/>
            <a:ext cx="457200" cy="20955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2465070" y="4493895"/>
            <a:ext cx="71984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本机 Agent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292918" y="4752499"/>
            <a:ext cx="1892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  <p:sp>
        <p:nvSpPr>
          <p:cNvPr id="68" name="Rectangle 68"/>
          <p:cNvSpPr/>
          <p:nvPr/>
        </p:nvSpPr>
        <p:spPr>
          <a:xfrm>
            <a:off x="5143500" y="4686300"/>
            <a:ext cx="1714500" cy="2095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69" name="Rectangle 69"/>
          <p:cNvSpPr/>
          <p:nvPr/>
        </p:nvSpPr>
        <p:spPr>
          <a:xfrm>
            <a:off x="5143500" y="4686300"/>
            <a:ext cx="533400" cy="209550"/>
          </a:xfrm>
          <a:prstGeom prst="rect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5132070" y="4493895"/>
            <a:ext cx="71984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5B8DEF"/>
                </a:solidFill>
                <a:latin typeface="Arial"/>
                <a:ea typeface="Microsoft YaHei"/>
                <a:cs typeface="Arial"/>
              </a:rPr>
              <a:t>远程 Agent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6959918" y="4752499"/>
            <a:ext cx="1892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5B8DEF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sp>
        <p:nvSpPr>
          <p:cNvPr id="72" name="Rectangle 72"/>
          <p:cNvSpPr/>
          <p:nvPr/>
        </p:nvSpPr>
        <p:spPr>
          <a:xfrm>
            <a:off x="7810500" y="4686300"/>
            <a:ext cx="1714500" cy="2095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73" name="Rectangle 73"/>
          <p:cNvSpPr/>
          <p:nvPr/>
        </p:nvSpPr>
        <p:spPr>
          <a:xfrm>
            <a:off x="7810500" y="4686300"/>
            <a:ext cx="1463040" cy="209550"/>
          </a:xfrm>
          <a:prstGeom prst="rect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7799070" y="4493895"/>
            <a:ext cx="6370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9A38C"/>
                </a:solidFill>
                <a:latin typeface="Arial"/>
                <a:ea typeface="Microsoft YaHei"/>
                <a:cs typeface="Arial"/>
              </a:rPr>
              <a:t>SSH Linux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9626918" y="4752499"/>
            <a:ext cx="1892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9A38C"/>
                </a:solidFill>
                <a:latin typeface="Arial"/>
                <a:ea typeface="Microsoft YaHei"/>
                <a:cs typeface="Arial"/>
              </a:rPr>
              <a:t>96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127760" y="5318760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长期驻留采集</a:t>
            </a:r>
          </a:p>
        </p:txBody>
      </p:sp>
      <p:sp>
        <p:nvSpPr>
          <p:cNvPr id="77" name="Rectangle 77"/>
          <p:cNvSpPr/>
          <p:nvPr/>
        </p:nvSpPr>
        <p:spPr>
          <a:xfrm>
            <a:off x="2476500" y="5276850"/>
            <a:ext cx="1714500" cy="2095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78" name="Rectangle 78"/>
          <p:cNvSpPr/>
          <p:nvPr/>
        </p:nvSpPr>
        <p:spPr>
          <a:xfrm>
            <a:off x="2476500" y="5276850"/>
            <a:ext cx="1402080" cy="20955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79" name="TextBox 79"/>
          <p:cNvSpPr txBox="1"/>
          <p:nvPr/>
        </p:nvSpPr>
        <p:spPr>
          <a:xfrm>
            <a:off x="2465070" y="5084445"/>
            <a:ext cx="71984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本机 Agent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4292918" y="5343049"/>
            <a:ext cx="1892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92</a:t>
            </a:r>
          </a:p>
        </p:txBody>
      </p:sp>
      <p:sp>
        <p:nvSpPr>
          <p:cNvPr id="81" name="Rectangle 81"/>
          <p:cNvSpPr/>
          <p:nvPr/>
        </p:nvSpPr>
        <p:spPr>
          <a:xfrm>
            <a:off x="5143500" y="5276850"/>
            <a:ext cx="1714500" cy="2095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82" name="Rectangle 82"/>
          <p:cNvSpPr/>
          <p:nvPr/>
        </p:nvSpPr>
        <p:spPr>
          <a:xfrm>
            <a:off x="5143500" y="5276850"/>
            <a:ext cx="1447800" cy="209550"/>
          </a:xfrm>
          <a:prstGeom prst="rect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83" name="TextBox 83"/>
          <p:cNvSpPr txBox="1"/>
          <p:nvPr/>
        </p:nvSpPr>
        <p:spPr>
          <a:xfrm>
            <a:off x="5132070" y="5084445"/>
            <a:ext cx="71984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5B8DEF"/>
                </a:solidFill>
                <a:latin typeface="Arial"/>
                <a:ea typeface="Microsoft YaHei"/>
                <a:cs typeface="Arial"/>
              </a:rPr>
              <a:t>远程 Agent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6959918" y="5343049"/>
            <a:ext cx="1892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5B8DEF"/>
                </a:solidFill>
                <a:latin typeface="Arial"/>
                <a:ea typeface="Microsoft YaHei"/>
                <a:cs typeface="Arial"/>
              </a:rPr>
              <a:t>95</a:t>
            </a:r>
          </a:p>
        </p:txBody>
      </p:sp>
      <p:sp>
        <p:nvSpPr>
          <p:cNvPr id="85" name="Rectangle 85"/>
          <p:cNvSpPr/>
          <p:nvPr/>
        </p:nvSpPr>
        <p:spPr>
          <a:xfrm>
            <a:off x="7810500" y="5276850"/>
            <a:ext cx="1714500" cy="2095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86" name="Rectangle 86"/>
          <p:cNvSpPr/>
          <p:nvPr/>
        </p:nvSpPr>
        <p:spPr>
          <a:xfrm>
            <a:off x="7810500" y="5276850"/>
            <a:ext cx="1066800" cy="209550"/>
          </a:xfrm>
          <a:prstGeom prst="rect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87" name="TextBox 87"/>
          <p:cNvSpPr txBox="1"/>
          <p:nvPr/>
        </p:nvSpPr>
        <p:spPr>
          <a:xfrm>
            <a:off x="7799070" y="5084445"/>
            <a:ext cx="6370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9A38C"/>
                </a:solidFill>
                <a:latin typeface="Arial"/>
                <a:ea typeface="Microsoft YaHei"/>
                <a:cs typeface="Arial"/>
              </a:rPr>
              <a:t>SSH Linux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9626918" y="5343049"/>
            <a:ext cx="1892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9A38C"/>
                </a:solidFill>
                <a:latin typeface="Arial"/>
                <a:ea typeface="Microsoft YaHei"/>
                <a:cs typeface="Arial"/>
              </a:rPr>
              <a:t>70</a:t>
            </a:r>
          </a:p>
        </p:txBody>
      </p:sp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B8DEF">
                  <a:alpha val="8000"/>
                </a:srgbClr>
              </a:gs>
              <a:gs pos="100000">
                <a:srgbClr val="5B8D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7313A"/>
              </a:gs>
              <a:gs pos="100000">
                <a:srgbClr val="19A38C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05778" y="193834"/>
            <a:ext cx="4057745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扫描结果在入台前完成确认</a:t>
            </a:r>
          </a:p>
        </p:txBody>
      </p:sp>
      <p:sp>
        <p:nvSpPr>
          <p:cNvPr id="6" name="Rectangle 6"/>
          <p:cNvSpPr/>
          <p:nvPr/>
        </p:nvSpPr>
        <p:spPr>
          <a:xfrm>
            <a:off x="533400" y="609600"/>
            <a:ext cx="11125200" cy="41910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25805" y="730568"/>
            <a:ext cx="54687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用户先看到真实硬件状态，再决定哪些 GPU 进入治理范围。</a:t>
            </a:r>
          </a:p>
        </p:txBody>
      </p:sp>
      <p:sp>
        <p:nvSpPr>
          <p:cNvPr id="8" name="Line 8"/>
          <p:cNvSpPr/>
          <p:nvPr/>
        </p:nvSpPr>
        <p:spPr>
          <a:xfrm>
            <a:off x="0" y="66103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D8E0E8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371475" y="6691312"/>
            <a:ext cx="36776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Source: AI DataCenter repository and implemented product features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04886" y="6691312"/>
            <a:ext cx="258222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STRICTLY CONFIDENTIAL | AI DATACENTER SHOWCASE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35752" y="6691312"/>
            <a:ext cx="8477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62000" y="1485900"/>
            <a:ext cx="10744200" cy="45910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723900" y="1428750"/>
            <a:ext cx="10744200" cy="459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723900" y="1428750"/>
            <a:ext cx="10744200" cy="323850"/>
          </a:xfrm>
          <a:prstGeom prst="rect">
            <a:avLst/>
          </a:prstGeom>
          <a:solidFill>
            <a:srgbClr val="EDF2F6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847725" y="1543050"/>
            <a:ext cx="95250" cy="95250"/>
          </a:xfrm>
          <a:prstGeom prst="ellipse">
            <a:avLst/>
          </a:prstGeom>
          <a:solidFill>
            <a:srgbClr val="D9485F"/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1000125" y="1543050"/>
            <a:ext cx="95250" cy="952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1152525" y="1543050"/>
            <a:ext cx="95250" cy="95250"/>
          </a:xfrm>
          <a:prstGeom prst="ellipse">
            <a:avLst/>
          </a:prstGeom>
          <a:solidFill>
            <a:srgbClr val="1F9D68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455420" y="1541145"/>
            <a:ext cx="18368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Hardware Scan and Selection</a:t>
            </a:r>
          </a:p>
        </p:txBody>
      </p:sp>
      <p:sp>
        <p:nvSpPr>
          <p:cNvPr id="19" name="Rectangle 19"/>
          <p:cNvSpPr/>
          <p:nvPr/>
        </p:nvSpPr>
        <p:spPr>
          <a:xfrm>
            <a:off x="1028700" y="1847850"/>
            <a:ext cx="73342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1238250" y="2038350"/>
            <a:ext cx="1581150" cy="4572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1200150" y="1981200"/>
            <a:ext cx="15811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1200150" y="1981200"/>
            <a:ext cx="1581150" cy="5715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361122" y="2158841"/>
            <a:ext cx="52069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CPU 核心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39215" y="2391728"/>
            <a:ext cx="49492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32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60170" y="2798445"/>
            <a:ext cx="83124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logical cores</a:t>
            </a:r>
          </a:p>
        </p:txBody>
      </p:sp>
      <p:sp>
        <p:nvSpPr>
          <p:cNvPr id="26" name="Rectangle 26"/>
          <p:cNvSpPr/>
          <p:nvPr/>
        </p:nvSpPr>
        <p:spPr>
          <a:xfrm>
            <a:off x="3009900" y="2038350"/>
            <a:ext cx="1581150" cy="4572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2971800" y="1981200"/>
            <a:ext cx="15811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2971800" y="1981200"/>
            <a:ext cx="1581150" cy="57150"/>
          </a:xfrm>
          <a:prstGeom prst="rect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3132772" y="2158841"/>
            <a:ext cx="2739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内存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110865" y="2391728"/>
            <a:ext cx="1257469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5B8DEF"/>
                </a:solidFill>
                <a:latin typeface="Arial"/>
                <a:ea typeface="Microsoft YaHei"/>
                <a:cs typeface="Arial"/>
              </a:rPr>
              <a:t>256 GB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131820" y="2798445"/>
            <a:ext cx="10086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system memory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781550" y="2038350"/>
            <a:ext cx="1581150" cy="4572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4743450" y="1981200"/>
            <a:ext cx="15811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4743450" y="1981200"/>
            <a:ext cx="1581150" cy="57150"/>
          </a:xfrm>
          <a:prstGeom prst="rect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4904422" y="2158841"/>
            <a:ext cx="52069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GPU 数量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882515" y="2391728"/>
            <a:ext cx="279847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9A38C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903470" y="2798445"/>
            <a:ext cx="115328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candidate devices</a:t>
            </a:r>
          </a:p>
        </p:txBody>
      </p:sp>
      <p:sp>
        <p:nvSpPr>
          <p:cNvPr id="38" name="Rectangle 38"/>
          <p:cNvSpPr/>
          <p:nvPr/>
        </p:nvSpPr>
        <p:spPr>
          <a:xfrm>
            <a:off x="6553200" y="2038350"/>
            <a:ext cx="1581150" cy="4572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6515100" y="1981200"/>
            <a:ext cx="15811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6515100" y="1981200"/>
            <a:ext cx="1581150" cy="57150"/>
          </a:xfrm>
          <a:prstGeom prst="rect">
            <a:avLst/>
          </a:prstGeom>
          <a:solidFill>
            <a:srgbClr val="1F9D68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676072" y="2158841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空闲比例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654165" y="2391728"/>
            <a:ext cx="710001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F9D68"/>
                </a:solidFill>
                <a:latin typeface="Arial"/>
                <a:ea typeface="Microsoft YaHei"/>
                <a:cs typeface="Arial"/>
              </a:rPr>
              <a:t>50%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675120" y="2798445"/>
            <a:ext cx="12387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2 / 4 currently idle</a:t>
            </a:r>
          </a:p>
        </p:txBody>
      </p:sp>
      <p:sp>
        <p:nvSpPr>
          <p:cNvPr id="44" name="Rectangle 44"/>
          <p:cNvSpPr/>
          <p:nvPr/>
        </p:nvSpPr>
        <p:spPr>
          <a:xfrm>
            <a:off x="1066800" y="2876550"/>
            <a:ext cx="3371850" cy="10287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1028700" y="2819400"/>
            <a:ext cx="337185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1028700" y="2819400"/>
            <a:ext cx="3371850" cy="57150"/>
          </a:xfrm>
          <a:prstGeom prst="rect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1221105" y="2997518"/>
            <a:ext cx="5518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GPU 0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219200" y="3248025"/>
            <a:ext cx="93521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A100 80G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224915" y="3544252"/>
            <a:ext cx="16138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利用率 12% · 温度 48°C</a:t>
            </a:r>
          </a:p>
        </p:txBody>
      </p:sp>
      <p:sp>
        <p:nvSpPr>
          <p:cNvPr id="50" name="Rectangle 50"/>
          <p:cNvSpPr/>
          <p:nvPr/>
        </p:nvSpPr>
        <p:spPr>
          <a:xfrm>
            <a:off x="4743450" y="2876550"/>
            <a:ext cx="3371850" cy="10287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51" name="Rectangle 51"/>
          <p:cNvSpPr/>
          <p:nvPr/>
        </p:nvSpPr>
        <p:spPr>
          <a:xfrm>
            <a:off x="4705350" y="2819400"/>
            <a:ext cx="337185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52" name="Rectangle 52"/>
          <p:cNvSpPr/>
          <p:nvPr/>
        </p:nvSpPr>
        <p:spPr>
          <a:xfrm>
            <a:off x="4705350" y="2819400"/>
            <a:ext cx="3371850" cy="57150"/>
          </a:xfrm>
          <a:prstGeom prst="rect">
            <a:avLst/>
          </a:prstGeom>
          <a:solidFill>
            <a:srgbClr val="D9485F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4897755" y="2997518"/>
            <a:ext cx="5000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GPU 1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895850" y="3248025"/>
            <a:ext cx="93521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A100 80G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901565" y="3544252"/>
            <a:ext cx="16522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利用率 88% · 温度 72°C</a:t>
            </a:r>
          </a:p>
        </p:txBody>
      </p:sp>
      <p:sp>
        <p:nvSpPr>
          <p:cNvPr id="56" name="Rectangle 56"/>
          <p:cNvSpPr/>
          <p:nvPr/>
        </p:nvSpPr>
        <p:spPr>
          <a:xfrm>
            <a:off x="1066800" y="4114800"/>
            <a:ext cx="3371850" cy="10287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57" name="Rectangle 57"/>
          <p:cNvSpPr/>
          <p:nvPr/>
        </p:nvSpPr>
        <p:spPr>
          <a:xfrm>
            <a:off x="1028700" y="4057650"/>
            <a:ext cx="337185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58" name="Rectangle 58"/>
          <p:cNvSpPr/>
          <p:nvPr/>
        </p:nvSpPr>
        <p:spPr>
          <a:xfrm>
            <a:off x="1028700" y="4057650"/>
            <a:ext cx="3371850" cy="57150"/>
          </a:xfrm>
          <a:prstGeom prst="rect">
            <a:avLst/>
          </a:prstGeom>
          <a:solidFill>
            <a:srgbClr val="1F9D68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1221105" y="4235768"/>
            <a:ext cx="5518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GPU 2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219200" y="4486275"/>
            <a:ext cx="93521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A100 80G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224915" y="4782502"/>
            <a:ext cx="15678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利用率 0% · 温度 38°C</a:t>
            </a:r>
          </a:p>
        </p:txBody>
      </p:sp>
      <p:sp>
        <p:nvSpPr>
          <p:cNvPr id="62" name="Rectangle 62"/>
          <p:cNvSpPr/>
          <p:nvPr/>
        </p:nvSpPr>
        <p:spPr>
          <a:xfrm>
            <a:off x="4743450" y="4114800"/>
            <a:ext cx="3371850" cy="10287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63" name="Rectangle 63"/>
          <p:cNvSpPr/>
          <p:nvPr/>
        </p:nvSpPr>
        <p:spPr>
          <a:xfrm>
            <a:off x="4705350" y="4057650"/>
            <a:ext cx="337185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64" name="Rectangle 64"/>
          <p:cNvSpPr/>
          <p:nvPr/>
        </p:nvSpPr>
        <p:spPr>
          <a:xfrm>
            <a:off x="4705350" y="4057650"/>
            <a:ext cx="3371850" cy="57150"/>
          </a:xfrm>
          <a:prstGeom prst="rect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4897755" y="4235768"/>
            <a:ext cx="5518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GPU 3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4895850" y="4486275"/>
            <a:ext cx="93521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A100 80G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901565" y="4782502"/>
            <a:ext cx="16522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利用率 27% · 温度 52°C</a:t>
            </a:r>
          </a:p>
        </p:txBody>
      </p:sp>
      <p:sp>
        <p:nvSpPr>
          <p:cNvPr id="68" name="Rectangle 68"/>
          <p:cNvSpPr/>
          <p:nvPr/>
        </p:nvSpPr>
        <p:spPr>
          <a:xfrm>
            <a:off x="8648700" y="1905000"/>
            <a:ext cx="2571750" cy="36385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69" name="Rectangle 69"/>
          <p:cNvSpPr/>
          <p:nvPr/>
        </p:nvSpPr>
        <p:spPr>
          <a:xfrm>
            <a:off x="8610600" y="1847850"/>
            <a:ext cx="2571750" cy="3638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70" name="Rectangle 70"/>
          <p:cNvSpPr/>
          <p:nvPr/>
        </p:nvSpPr>
        <p:spPr>
          <a:xfrm>
            <a:off x="8610600" y="1847850"/>
            <a:ext cx="2571750" cy="5715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8856345" y="1993582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导入确认区</a:t>
            </a:r>
          </a:p>
        </p:txBody>
      </p:sp>
      <p:sp>
        <p:nvSpPr>
          <p:cNvPr id="72" name="Ellipse 72"/>
          <p:cNvSpPr/>
          <p:nvPr/>
        </p:nvSpPr>
        <p:spPr>
          <a:xfrm>
            <a:off x="8963025" y="2505075"/>
            <a:ext cx="95250" cy="95250"/>
          </a:xfrm>
          <a:prstGeom prst="ellipse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73" name="TextBox 73"/>
          <p:cNvSpPr txBox="1"/>
          <p:nvPr/>
        </p:nvSpPr>
        <p:spPr>
          <a:xfrm>
            <a:off x="9151620" y="2512695"/>
            <a:ext cx="16067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先确认 CPU / GPU 当前状态</a:t>
            </a:r>
          </a:p>
        </p:txBody>
      </p:sp>
      <p:sp>
        <p:nvSpPr>
          <p:cNvPr id="74" name="Ellipse 74"/>
          <p:cNvSpPr/>
          <p:nvPr/>
        </p:nvSpPr>
        <p:spPr>
          <a:xfrm>
            <a:off x="8963025" y="2828925"/>
            <a:ext cx="95250" cy="95250"/>
          </a:xfrm>
          <a:prstGeom prst="ellipse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75" name="TextBox 75"/>
          <p:cNvSpPr txBox="1"/>
          <p:nvPr/>
        </p:nvSpPr>
        <p:spPr>
          <a:xfrm>
            <a:off x="9151620" y="2836545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再选择纳入治理的 GPU</a:t>
            </a:r>
          </a:p>
        </p:txBody>
      </p:sp>
      <p:sp>
        <p:nvSpPr>
          <p:cNvPr id="76" name="Ellipse 76"/>
          <p:cNvSpPr/>
          <p:nvPr/>
        </p:nvSpPr>
        <p:spPr>
          <a:xfrm>
            <a:off x="8963025" y="3152775"/>
            <a:ext cx="95250" cy="95250"/>
          </a:xfrm>
          <a:prstGeom prst="ellipse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9151620" y="3160395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进入控制台后范围保持不变</a:t>
            </a:r>
          </a:p>
        </p:txBody>
      </p:sp>
      <p:sp>
        <p:nvSpPr>
          <p:cNvPr id="78" name="Rectangle 78"/>
          <p:cNvSpPr/>
          <p:nvPr/>
        </p:nvSpPr>
        <p:spPr>
          <a:xfrm>
            <a:off x="8915400" y="3790950"/>
            <a:ext cx="1962150" cy="12382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79" name="TextBox 79"/>
          <p:cNvSpPr txBox="1"/>
          <p:nvPr/>
        </p:nvSpPr>
        <p:spPr>
          <a:xfrm>
            <a:off x="9107805" y="3950018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本次拟导入</a:t>
            </a:r>
          </a:p>
        </p:txBody>
      </p:sp>
      <p:sp>
        <p:nvSpPr>
          <p:cNvPr id="80" name="Rectangle 80"/>
          <p:cNvSpPr/>
          <p:nvPr/>
        </p:nvSpPr>
        <p:spPr>
          <a:xfrm>
            <a:off x="9124950" y="4343400"/>
            <a:ext cx="838200" cy="266700"/>
          </a:xfrm>
          <a:prstGeom prst="rect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81" name="TextBox 81"/>
          <p:cNvSpPr txBox="1"/>
          <p:nvPr/>
        </p:nvSpPr>
        <p:spPr>
          <a:xfrm>
            <a:off x="9360098" y="4427220"/>
            <a:ext cx="3679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GPU 0</a:t>
            </a:r>
          </a:p>
        </p:txBody>
      </p:sp>
      <p:sp>
        <p:nvSpPr>
          <p:cNvPr id="82" name="Rectangle 82"/>
          <p:cNvSpPr/>
          <p:nvPr/>
        </p:nvSpPr>
        <p:spPr>
          <a:xfrm>
            <a:off x="10077450" y="4343400"/>
            <a:ext cx="838200" cy="266700"/>
          </a:xfrm>
          <a:prstGeom prst="rect">
            <a:avLst/>
          </a:prstGeom>
          <a:solidFill>
            <a:srgbClr val="1F9D68"/>
          </a:solidFill>
          <a:ln>
            <a:noFill/>
          </a:ln>
        </p:spPr>
      </p:sp>
      <p:sp>
        <p:nvSpPr>
          <p:cNvPr id="83" name="TextBox 83"/>
          <p:cNvSpPr txBox="1"/>
          <p:nvPr/>
        </p:nvSpPr>
        <p:spPr>
          <a:xfrm>
            <a:off x="10312598" y="4427220"/>
            <a:ext cx="3679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GPU 2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9114949" y="4734639"/>
            <a:ext cx="1975247" cy="1600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8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控制台后续只显示和治理这里选中的卡</a:t>
            </a:r>
          </a:p>
        </p:txBody>
      </p:sp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B8DEF">
                  <a:alpha val="8000"/>
                </a:srgbClr>
              </a:gs>
              <a:gs pos="100000">
                <a:srgbClr val="5B8D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7313A"/>
              </a:gs>
              <a:gs pos="100000">
                <a:srgbClr val="19A38C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05778" y="193834"/>
            <a:ext cx="4041068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控制台只治理本次导入 GPU</a:t>
            </a:r>
          </a:p>
        </p:txBody>
      </p:sp>
      <p:sp>
        <p:nvSpPr>
          <p:cNvPr id="6" name="Rectangle 6"/>
          <p:cNvSpPr/>
          <p:nvPr/>
        </p:nvSpPr>
        <p:spPr>
          <a:xfrm>
            <a:off x="533400" y="609600"/>
            <a:ext cx="11125200" cy="41910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25805" y="730568"/>
            <a:ext cx="52099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范围被前置确认后，监控和治理动作才真正具备可控性。</a:t>
            </a:r>
          </a:p>
        </p:txBody>
      </p:sp>
      <p:sp>
        <p:nvSpPr>
          <p:cNvPr id="8" name="Line 8"/>
          <p:cNvSpPr/>
          <p:nvPr/>
        </p:nvSpPr>
        <p:spPr>
          <a:xfrm>
            <a:off x="0" y="66103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D8E0E8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371475" y="6691312"/>
            <a:ext cx="36776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Source: AI DataCenter repository and implemented product features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04886" y="6691312"/>
            <a:ext cx="258222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STRICTLY CONFIDENTIAL | AI DATACENTER SHOWCASE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08368" y="6691312"/>
            <a:ext cx="11215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12" name="Rectangle 12"/>
          <p:cNvSpPr/>
          <p:nvPr/>
        </p:nvSpPr>
        <p:spPr>
          <a:xfrm>
            <a:off x="838200" y="1676400"/>
            <a:ext cx="4667250" cy="40005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800100" y="1619250"/>
            <a:ext cx="466725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800100" y="1619250"/>
            <a:ext cx="4667250" cy="57150"/>
          </a:xfrm>
          <a:prstGeom prst="rect">
            <a:avLst/>
          </a:prstGeom>
          <a:solidFill>
            <a:srgbClr val="D9485F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6743700" y="1676400"/>
            <a:ext cx="4667250" cy="40005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6705600" y="1619250"/>
            <a:ext cx="466725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6705600" y="1619250"/>
            <a:ext cx="4667250" cy="57150"/>
          </a:xfrm>
          <a:prstGeom prst="rect">
            <a:avLst/>
          </a:prstGeom>
          <a:solidFill>
            <a:srgbClr val="1F9D68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064895" y="1764982"/>
            <a:ext cx="315419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Before：全部资源同时可见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70395" y="1764982"/>
            <a:ext cx="326806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After：只保留本次导入范围</a:t>
            </a:r>
          </a:p>
        </p:txBody>
      </p:sp>
      <p:sp>
        <p:nvSpPr>
          <p:cNvPr id="20" name="Rectangle 20"/>
          <p:cNvSpPr/>
          <p:nvPr/>
        </p:nvSpPr>
        <p:spPr>
          <a:xfrm>
            <a:off x="1162050" y="2457450"/>
            <a:ext cx="800100" cy="80010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grpSp>
        <p:nvGrpSpPr>
          <p:cNvPr id="23" name="Group 23"/>
          <p:cNvGrpSpPr/>
          <p:nvPr/>
        </p:nvGrpSpPr>
        <p:grpSpPr>
          <a:xfrm>
            <a:off x="1409700" y="2667000"/>
            <a:ext cx="304800" cy="228600"/>
            <a:chOff x="1409700" y="2667000"/>
            <a:chExt cx="304800" cy="228600"/>
          </a:xfrm>
        </p:grpSpPr>
        <p:sp>
          <p:nvSpPr>
            <p:cNvPr id="21" name="Freeform 21"/>
            <p:cNvSpPr/>
            <p:nvPr/>
          </p:nvSpPr>
          <p:spPr>
            <a:xfrm>
              <a:off x="1409700" y="2667000"/>
              <a:ext cx="304800" cy="95250"/>
            </a:xfrm>
            <a:custGeom>
              <a:avLst/>
              <a:gdLst/>
              <a:ahLst/>
              <a:cxnLst/>
              <a:rect l="l" t="t" r="r" b="b"/>
              <a:pathLst>
                <a:path w="304800" h="95250">
                  <a:moveTo>
                    <a:pt x="304800" y="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304800" y="95250"/>
                  </a:lnTo>
                  <a:lnTo>
                    <a:pt x="304800" y="0"/>
                  </a:lnTo>
                  <a:close/>
                  <a:moveTo>
                    <a:pt x="76200" y="47625"/>
                  </a:moveTo>
                  <a:cubicBezTo>
                    <a:pt x="76200" y="58146"/>
                    <a:pt x="67671" y="66675"/>
                    <a:pt x="57150" y="66675"/>
                  </a:cubicBezTo>
                  <a:cubicBezTo>
                    <a:pt x="46629" y="66675"/>
                    <a:pt x="38100" y="58146"/>
                    <a:pt x="38100" y="47625"/>
                  </a:cubicBezTo>
                  <a:cubicBezTo>
                    <a:pt x="38100" y="37104"/>
                    <a:pt x="46629" y="28575"/>
                    <a:pt x="57150" y="28575"/>
                  </a:cubicBezTo>
                  <a:cubicBezTo>
                    <a:pt x="67671" y="28575"/>
                    <a:pt x="76200" y="37104"/>
                    <a:pt x="76200" y="47625"/>
                  </a:cubicBezTo>
                  <a:close/>
                </a:path>
              </a:pathLst>
            </a:custGeom>
            <a:solidFill>
              <a:srgbClr val="5B6776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1409700" y="2800350"/>
              <a:ext cx="304800" cy="95250"/>
            </a:xfrm>
            <a:custGeom>
              <a:avLst/>
              <a:gdLst/>
              <a:ahLst/>
              <a:cxnLst/>
              <a:rect l="l" t="t" r="r" b="b"/>
              <a:pathLst>
                <a:path w="304800" h="95250">
                  <a:moveTo>
                    <a:pt x="304800" y="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304800" y="95250"/>
                  </a:lnTo>
                  <a:lnTo>
                    <a:pt x="304800" y="0"/>
                  </a:lnTo>
                  <a:close/>
                  <a:moveTo>
                    <a:pt x="57150" y="66675"/>
                  </a:moveTo>
                  <a:cubicBezTo>
                    <a:pt x="67671" y="66675"/>
                    <a:pt x="76200" y="58146"/>
                    <a:pt x="76200" y="47625"/>
                  </a:cubicBezTo>
                  <a:cubicBezTo>
                    <a:pt x="76200" y="37104"/>
                    <a:pt x="67671" y="28575"/>
                    <a:pt x="57150" y="28575"/>
                  </a:cubicBezTo>
                  <a:cubicBezTo>
                    <a:pt x="46629" y="28575"/>
                    <a:pt x="38100" y="37104"/>
                    <a:pt x="38100" y="47625"/>
                  </a:cubicBezTo>
                  <a:cubicBezTo>
                    <a:pt x="38100" y="58146"/>
                    <a:pt x="46629" y="66675"/>
                    <a:pt x="57150" y="66675"/>
                  </a:cubicBezTo>
                  <a:close/>
                </a:path>
              </a:pathLst>
            </a:custGeom>
            <a:solidFill>
              <a:srgbClr val="5B6776"/>
            </a:solidFill>
            <a:ln>
              <a:noFill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1357074" y="3372802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GPU 0</a:t>
            </a:r>
          </a:p>
        </p:txBody>
      </p:sp>
      <p:sp>
        <p:nvSpPr>
          <p:cNvPr id="25" name="Rectangle 25"/>
          <p:cNvSpPr/>
          <p:nvPr/>
        </p:nvSpPr>
        <p:spPr>
          <a:xfrm>
            <a:off x="2152650" y="2457450"/>
            <a:ext cx="800100" cy="80010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grpSp>
        <p:nvGrpSpPr>
          <p:cNvPr id="28" name="Group 28"/>
          <p:cNvGrpSpPr/>
          <p:nvPr/>
        </p:nvGrpSpPr>
        <p:grpSpPr>
          <a:xfrm>
            <a:off x="2400300" y="2667000"/>
            <a:ext cx="304800" cy="228600"/>
            <a:chOff x="2400300" y="2667000"/>
            <a:chExt cx="304800" cy="228600"/>
          </a:xfrm>
        </p:grpSpPr>
        <p:sp>
          <p:nvSpPr>
            <p:cNvPr id="26" name="Freeform 26"/>
            <p:cNvSpPr/>
            <p:nvPr/>
          </p:nvSpPr>
          <p:spPr>
            <a:xfrm>
              <a:off x="2400300" y="2667000"/>
              <a:ext cx="304800" cy="95250"/>
            </a:xfrm>
            <a:custGeom>
              <a:avLst/>
              <a:gdLst/>
              <a:ahLst/>
              <a:cxnLst/>
              <a:rect l="l" t="t" r="r" b="b"/>
              <a:pathLst>
                <a:path w="304800" h="95250">
                  <a:moveTo>
                    <a:pt x="304800" y="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304800" y="95250"/>
                  </a:lnTo>
                  <a:lnTo>
                    <a:pt x="304800" y="0"/>
                  </a:lnTo>
                  <a:close/>
                  <a:moveTo>
                    <a:pt x="76200" y="47625"/>
                  </a:moveTo>
                  <a:cubicBezTo>
                    <a:pt x="76200" y="58146"/>
                    <a:pt x="67671" y="66675"/>
                    <a:pt x="57150" y="66675"/>
                  </a:cubicBezTo>
                  <a:cubicBezTo>
                    <a:pt x="46629" y="66675"/>
                    <a:pt x="38100" y="58146"/>
                    <a:pt x="38100" y="47625"/>
                  </a:cubicBezTo>
                  <a:cubicBezTo>
                    <a:pt x="38100" y="37104"/>
                    <a:pt x="46629" y="28575"/>
                    <a:pt x="57150" y="28575"/>
                  </a:cubicBezTo>
                  <a:cubicBezTo>
                    <a:pt x="67671" y="28575"/>
                    <a:pt x="76200" y="37104"/>
                    <a:pt x="76200" y="47625"/>
                  </a:cubicBezTo>
                  <a:close/>
                </a:path>
              </a:pathLst>
            </a:custGeom>
            <a:solidFill>
              <a:srgbClr val="5B6776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2400300" y="2800350"/>
              <a:ext cx="304800" cy="95250"/>
            </a:xfrm>
            <a:custGeom>
              <a:avLst/>
              <a:gdLst/>
              <a:ahLst/>
              <a:cxnLst/>
              <a:rect l="l" t="t" r="r" b="b"/>
              <a:pathLst>
                <a:path w="304800" h="95250">
                  <a:moveTo>
                    <a:pt x="304800" y="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304800" y="95250"/>
                  </a:lnTo>
                  <a:lnTo>
                    <a:pt x="304800" y="0"/>
                  </a:lnTo>
                  <a:close/>
                  <a:moveTo>
                    <a:pt x="57150" y="66675"/>
                  </a:moveTo>
                  <a:cubicBezTo>
                    <a:pt x="67671" y="66675"/>
                    <a:pt x="76200" y="58146"/>
                    <a:pt x="76200" y="47625"/>
                  </a:cubicBezTo>
                  <a:cubicBezTo>
                    <a:pt x="76200" y="37104"/>
                    <a:pt x="67671" y="28575"/>
                    <a:pt x="57150" y="28575"/>
                  </a:cubicBezTo>
                  <a:cubicBezTo>
                    <a:pt x="46629" y="28575"/>
                    <a:pt x="38100" y="37104"/>
                    <a:pt x="38100" y="47625"/>
                  </a:cubicBezTo>
                  <a:cubicBezTo>
                    <a:pt x="38100" y="58146"/>
                    <a:pt x="46629" y="66675"/>
                    <a:pt x="57150" y="66675"/>
                  </a:cubicBezTo>
                  <a:close/>
                </a:path>
              </a:pathLst>
            </a:custGeom>
            <a:solidFill>
              <a:srgbClr val="5B6776"/>
            </a:solidFill>
            <a:ln>
              <a:noFill/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2366843" y="3372802"/>
            <a:ext cx="3717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GPU 1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143250" y="2457450"/>
            <a:ext cx="800100" cy="80010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grpSp>
        <p:nvGrpSpPr>
          <p:cNvPr id="33" name="Group 33"/>
          <p:cNvGrpSpPr/>
          <p:nvPr/>
        </p:nvGrpSpPr>
        <p:grpSpPr>
          <a:xfrm>
            <a:off x="3390900" y="2667000"/>
            <a:ext cx="304800" cy="228600"/>
            <a:chOff x="3390900" y="2667000"/>
            <a:chExt cx="304800" cy="228600"/>
          </a:xfrm>
        </p:grpSpPr>
        <p:sp>
          <p:nvSpPr>
            <p:cNvPr id="31" name="Freeform 31"/>
            <p:cNvSpPr/>
            <p:nvPr/>
          </p:nvSpPr>
          <p:spPr>
            <a:xfrm>
              <a:off x="3390900" y="2667000"/>
              <a:ext cx="304800" cy="95250"/>
            </a:xfrm>
            <a:custGeom>
              <a:avLst/>
              <a:gdLst/>
              <a:ahLst/>
              <a:cxnLst/>
              <a:rect l="l" t="t" r="r" b="b"/>
              <a:pathLst>
                <a:path w="304800" h="95250">
                  <a:moveTo>
                    <a:pt x="304800" y="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304800" y="95250"/>
                  </a:lnTo>
                  <a:lnTo>
                    <a:pt x="304800" y="0"/>
                  </a:lnTo>
                  <a:close/>
                  <a:moveTo>
                    <a:pt x="76200" y="47625"/>
                  </a:moveTo>
                  <a:cubicBezTo>
                    <a:pt x="76200" y="58146"/>
                    <a:pt x="67671" y="66675"/>
                    <a:pt x="57150" y="66675"/>
                  </a:cubicBezTo>
                  <a:cubicBezTo>
                    <a:pt x="46629" y="66675"/>
                    <a:pt x="38100" y="58146"/>
                    <a:pt x="38100" y="47625"/>
                  </a:cubicBezTo>
                  <a:cubicBezTo>
                    <a:pt x="38100" y="37104"/>
                    <a:pt x="46629" y="28575"/>
                    <a:pt x="57150" y="28575"/>
                  </a:cubicBezTo>
                  <a:cubicBezTo>
                    <a:pt x="67671" y="28575"/>
                    <a:pt x="76200" y="37104"/>
                    <a:pt x="76200" y="47625"/>
                  </a:cubicBezTo>
                  <a:close/>
                </a:path>
              </a:pathLst>
            </a:custGeom>
            <a:solidFill>
              <a:srgbClr val="5B6776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3390900" y="2800350"/>
              <a:ext cx="304800" cy="95250"/>
            </a:xfrm>
            <a:custGeom>
              <a:avLst/>
              <a:gdLst/>
              <a:ahLst/>
              <a:cxnLst/>
              <a:rect l="l" t="t" r="r" b="b"/>
              <a:pathLst>
                <a:path w="304800" h="95250">
                  <a:moveTo>
                    <a:pt x="304800" y="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304800" y="95250"/>
                  </a:lnTo>
                  <a:lnTo>
                    <a:pt x="304800" y="0"/>
                  </a:lnTo>
                  <a:close/>
                  <a:moveTo>
                    <a:pt x="57150" y="66675"/>
                  </a:moveTo>
                  <a:cubicBezTo>
                    <a:pt x="67671" y="66675"/>
                    <a:pt x="76200" y="58146"/>
                    <a:pt x="76200" y="47625"/>
                  </a:cubicBezTo>
                  <a:cubicBezTo>
                    <a:pt x="76200" y="37104"/>
                    <a:pt x="67671" y="28575"/>
                    <a:pt x="57150" y="28575"/>
                  </a:cubicBezTo>
                  <a:cubicBezTo>
                    <a:pt x="46629" y="28575"/>
                    <a:pt x="38100" y="37104"/>
                    <a:pt x="38100" y="47625"/>
                  </a:cubicBezTo>
                  <a:cubicBezTo>
                    <a:pt x="38100" y="58146"/>
                    <a:pt x="46629" y="66675"/>
                    <a:pt x="57150" y="66675"/>
                  </a:cubicBezTo>
                  <a:close/>
                </a:path>
              </a:pathLst>
            </a:custGeom>
            <a:solidFill>
              <a:srgbClr val="5B6776"/>
            </a:solidFill>
            <a:ln>
              <a:noFill/>
            </a:ln>
          </p:spPr>
        </p:sp>
      </p:grpSp>
      <p:sp>
        <p:nvSpPr>
          <p:cNvPr id="34" name="TextBox 34"/>
          <p:cNvSpPr txBox="1"/>
          <p:nvPr/>
        </p:nvSpPr>
        <p:spPr>
          <a:xfrm>
            <a:off x="3338274" y="3372802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GPU 2</a:t>
            </a:r>
          </a:p>
        </p:txBody>
      </p:sp>
      <p:sp>
        <p:nvSpPr>
          <p:cNvPr id="35" name="Rectangle 35"/>
          <p:cNvSpPr/>
          <p:nvPr/>
        </p:nvSpPr>
        <p:spPr>
          <a:xfrm>
            <a:off x="4133850" y="2457450"/>
            <a:ext cx="800100" cy="80010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grpSp>
        <p:nvGrpSpPr>
          <p:cNvPr id="38" name="Group 38"/>
          <p:cNvGrpSpPr/>
          <p:nvPr/>
        </p:nvGrpSpPr>
        <p:grpSpPr>
          <a:xfrm>
            <a:off x="4381500" y="2667000"/>
            <a:ext cx="304800" cy="228600"/>
            <a:chOff x="4381500" y="2667000"/>
            <a:chExt cx="304800" cy="228600"/>
          </a:xfrm>
        </p:grpSpPr>
        <p:sp>
          <p:nvSpPr>
            <p:cNvPr id="36" name="Freeform 36"/>
            <p:cNvSpPr/>
            <p:nvPr/>
          </p:nvSpPr>
          <p:spPr>
            <a:xfrm>
              <a:off x="4381500" y="2667000"/>
              <a:ext cx="304800" cy="95250"/>
            </a:xfrm>
            <a:custGeom>
              <a:avLst/>
              <a:gdLst/>
              <a:ahLst/>
              <a:cxnLst/>
              <a:rect l="l" t="t" r="r" b="b"/>
              <a:pathLst>
                <a:path w="304800" h="95250">
                  <a:moveTo>
                    <a:pt x="304800" y="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304800" y="95250"/>
                  </a:lnTo>
                  <a:lnTo>
                    <a:pt x="304800" y="0"/>
                  </a:lnTo>
                  <a:close/>
                  <a:moveTo>
                    <a:pt x="76200" y="47625"/>
                  </a:moveTo>
                  <a:cubicBezTo>
                    <a:pt x="76200" y="58146"/>
                    <a:pt x="67671" y="66675"/>
                    <a:pt x="57150" y="66675"/>
                  </a:cubicBezTo>
                  <a:cubicBezTo>
                    <a:pt x="46629" y="66675"/>
                    <a:pt x="38100" y="58146"/>
                    <a:pt x="38100" y="47625"/>
                  </a:cubicBezTo>
                  <a:cubicBezTo>
                    <a:pt x="38100" y="37104"/>
                    <a:pt x="46629" y="28575"/>
                    <a:pt x="57150" y="28575"/>
                  </a:cubicBezTo>
                  <a:cubicBezTo>
                    <a:pt x="67671" y="28575"/>
                    <a:pt x="76200" y="37104"/>
                    <a:pt x="76200" y="47625"/>
                  </a:cubicBezTo>
                  <a:close/>
                </a:path>
              </a:pathLst>
            </a:custGeom>
            <a:solidFill>
              <a:srgbClr val="5B6776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4381500" y="2800350"/>
              <a:ext cx="304800" cy="95250"/>
            </a:xfrm>
            <a:custGeom>
              <a:avLst/>
              <a:gdLst/>
              <a:ahLst/>
              <a:cxnLst/>
              <a:rect l="l" t="t" r="r" b="b"/>
              <a:pathLst>
                <a:path w="304800" h="95250">
                  <a:moveTo>
                    <a:pt x="304800" y="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304800" y="95250"/>
                  </a:lnTo>
                  <a:lnTo>
                    <a:pt x="304800" y="0"/>
                  </a:lnTo>
                  <a:close/>
                  <a:moveTo>
                    <a:pt x="57150" y="66675"/>
                  </a:moveTo>
                  <a:cubicBezTo>
                    <a:pt x="67671" y="66675"/>
                    <a:pt x="76200" y="58146"/>
                    <a:pt x="76200" y="47625"/>
                  </a:cubicBezTo>
                  <a:cubicBezTo>
                    <a:pt x="76200" y="37104"/>
                    <a:pt x="67671" y="28575"/>
                    <a:pt x="57150" y="28575"/>
                  </a:cubicBezTo>
                  <a:cubicBezTo>
                    <a:pt x="46629" y="28575"/>
                    <a:pt x="38100" y="37104"/>
                    <a:pt x="38100" y="47625"/>
                  </a:cubicBezTo>
                  <a:cubicBezTo>
                    <a:pt x="38100" y="58146"/>
                    <a:pt x="46629" y="66675"/>
                    <a:pt x="57150" y="66675"/>
                  </a:cubicBezTo>
                  <a:close/>
                </a:path>
              </a:pathLst>
            </a:custGeom>
            <a:solidFill>
              <a:srgbClr val="5B6776"/>
            </a:solidFill>
            <a:ln>
              <a:noFill/>
            </a:ln>
          </p:spPr>
        </p:sp>
      </p:grpSp>
      <p:sp>
        <p:nvSpPr>
          <p:cNvPr id="39" name="TextBox 39"/>
          <p:cNvSpPr txBox="1"/>
          <p:nvPr/>
        </p:nvSpPr>
        <p:spPr>
          <a:xfrm>
            <a:off x="4328874" y="3372802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GPU 3</a:t>
            </a:r>
          </a:p>
        </p:txBody>
      </p:sp>
      <p:sp>
        <p:nvSpPr>
          <p:cNvPr id="40" name="Rectangle 40"/>
          <p:cNvSpPr/>
          <p:nvPr/>
        </p:nvSpPr>
        <p:spPr>
          <a:xfrm>
            <a:off x="1162050" y="3638550"/>
            <a:ext cx="800100" cy="80010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grpSp>
        <p:nvGrpSpPr>
          <p:cNvPr id="43" name="Group 43"/>
          <p:cNvGrpSpPr/>
          <p:nvPr/>
        </p:nvGrpSpPr>
        <p:grpSpPr>
          <a:xfrm>
            <a:off x="1409700" y="3848100"/>
            <a:ext cx="304800" cy="228600"/>
            <a:chOff x="1409700" y="3848100"/>
            <a:chExt cx="304800" cy="228600"/>
          </a:xfrm>
        </p:grpSpPr>
        <p:sp>
          <p:nvSpPr>
            <p:cNvPr id="41" name="Freeform 41"/>
            <p:cNvSpPr/>
            <p:nvPr/>
          </p:nvSpPr>
          <p:spPr>
            <a:xfrm>
              <a:off x="1409700" y="3848100"/>
              <a:ext cx="304800" cy="95250"/>
            </a:xfrm>
            <a:custGeom>
              <a:avLst/>
              <a:gdLst/>
              <a:ahLst/>
              <a:cxnLst/>
              <a:rect l="l" t="t" r="r" b="b"/>
              <a:pathLst>
                <a:path w="304800" h="95250">
                  <a:moveTo>
                    <a:pt x="304800" y="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304800" y="95250"/>
                  </a:lnTo>
                  <a:lnTo>
                    <a:pt x="304800" y="0"/>
                  </a:lnTo>
                  <a:close/>
                  <a:moveTo>
                    <a:pt x="76200" y="47625"/>
                  </a:moveTo>
                  <a:cubicBezTo>
                    <a:pt x="76200" y="58146"/>
                    <a:pt x="67671" y="66675"/>
                    <a:pt x="57150" y="66675"/>
                  </a:cubicBezTo>
                  <a:cubicBezTo>
                    <a:pt x="46629" y="66675"/>
                    <a:pt x="38100" y="58146"/>
                    <a:pt x="38100" y="47625"/>
                  </a:cubicBezTo>
                  <a:cubicBezTo>
                    <a:pt x="38100" y="37104"/>
                    <a:pt x="46629" y="28575"/>
                    <a:pt x="57150" y="28575"/>
                  </a:cubicBezTo>
                  <a:cubicBezTo>
                    <a:pt x="67671" y="28575"/>
                    <a:pt x="76200" y="37104"/>
                    <a:pt x="76200" y="47625"/>
                  </a:cubicBezTo>
                  <a:close/>
                </a:path>
              </a:pathLst>
            </a:custGeom>
            <a:solidFill>
              <a:srgbClr val="5B6776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1409700" y="3981450"/>
              <a:ext cx="304800" cy="95250"/>
            </a:xfrm>
            <a:custGeom>
              <a:avLst/>
              <a:gdLst/>
              <a:ahLst/>
              <a:cxnLst/>
              <a:rect l="l" t="t" r="r" b="b"/>
              <a:pathLst>
                <a:path w="304800" h="95250">
                  <a:moveTo>
                    <a:pt x="304800" y="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304800" y="95250"/>
                  </a:lnTo>
                  <a:lnTo>
                    <a:pt x="304800" y="0"/>
                  </a:lnTo>
                  <a:close/>
                  <a:moveTo>
                    <a:pt x="57150" y="66675"/>
                  </a:moveTo>
                  <a:cubicBezTo>
                    <a:pt x="67671" y="66675"/>
                    <a:pt x="76200" y="58146"/>
                    <a:pt x="76200" y="47625"/>
                  </a:cubicBezTo>
                  <a:cubicBezTo>
                    <a:pt x="76200" y="37104"/>
                    <a:pt x="67671" y="28575"/>
                    <a:pt x="57150" y="28575"/>
                  </a:cubicBezTo>
                  <a:cubicBezTo>
                    <a:pt x="46629" y="28575"/>
                    <a:pt x="38100" y="37104"/>
                    <a:pt x="38100" y="47625"/>
                  </a:cubicBezTo>
                  <a:cubicBezTo>
                    <a:pt x="38100" y="58146"/>
                    <a:pt x="46629" y="66675"/>
                    <a:pt x="57150" y="66675"/>
                  </a:cubicBezTo>
                  <a:close/>
                </a:path>
              </a:pathLst>
            </a:custGeom>
            <a:solidFill>
              <a:srgbClr val="5B6776"/>
            </a:solidFill>
            <a:ln>
              <a:noFill/>
            </a:ln>
          </p:spPr>
        </p:sp>
      </p:grpSp>
      <p:sp>
        <p:nvSpPr>
          <p:cNvPr id="44" name="TextBox 44"/>
          <p:cNvSpPr txBox="1"/>
          <p:nvPr/>
        </p:nvSpPr>
        <p:spPr>
          <a:xfrm>
            <a:off x="1357074" y="4553902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GPU 4</a:t>
            </a:r>
          </a:p>
        </p:txBody>
      </p:sp>
      <p:sp>
        <p:nvSpPr>
          <p:cNvPr id="45" name="Rectangle 45"/>
          <p:cNvSpPr/>
          <p:nvPr/>
        </p:nvSpPr>
        <p:spPr>
          <a:xfrm>
            <a:off x="2152650" y="3638550"/>
            <a:ext cx="800100" cy="80010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grpSp>
        <p:nvGrpSpPr>
          <p:cNvPr id="48" name="Group 48"/>
          <p:cNvGrpSpPr/>
          <p:nvPr/>
        </p:nvGrpSpPr>
        <p:grpSpPr>
          <a:xfrm>
            <a:off x="2400300" y="3848100"/>
            <a:ext cx="304800" cy="228600"/>
            <a:chOff x="2400300" y="3848100"/>
            <a:chExt cx="304800" cy="228600"/>
          </a:xfrm>
        </p:grpSpPr>
        <p:sp>
          <p:nvSpPr>
            <p:cNvPr id="46" name="Freeform 46"/>
            <p:cNvSpPr/>
            <p:nvPr/>
          </p:nvSpPr>
          <p:spPr>
            <a:xfrm>
              <a:off x="2400300" y="3848100"/>
              <a:ext cx="304800" cy="95250"/>
            </a:xfrm>
            <a:custGeom>
              <a:avLst/>
              <a:gdLst/>
              <a:ahLst/>
              <a:cxnLst/>
              <a:rect l="l" t="t" r="r" b="b"/>
              <a:pathLst>
                <a:path w="304800" h="95250">
                  <a:moveTo>
                    <a:pt x="304800" y="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304800" y="95250"/>
                  </a:lnTo>
                  <a:lnTo>
                    <a:pt x="304800" y="0"/>
                  </a:lnTo>
                  <a:close/>
                  <a:moveTo>
                    <a:pt x="76200" y="47625"/>
                  </a:moveTo>
                  <a:cubicBezTo>
                    <a:pt x="76200" y="58146"/>
                    <a:pt x="67671" y="66675"/>
                    <a:pt x="57150" y="66675"/>
                  </a:cubicBezTo>
                  <a:cubicBezTo>
                    <a:pt x="46629" y="66675"/>
                    <a:pt x="38100" y="58146"/>
                    <a:pt x="38100" y="47625"/>
                  </a:cubicBezTo>
                  <a:cubicBezTo>
                    <a:pt x="38100" y="37104"/>
                    <a:pt x="46629" y="28575"/>
                    <a:pt x="57150" y="28575"/>
                  </a:cubicBezTo>
                  <a:cubicBezTo>
                    <a:pt x="67671" y="28575"/>
                    <a:pt x="76200" y="37104"/>
                    <a:pt x="76200" y="47625"/>
                  </a:cubicBezTo>
                  <a:close/>
                </a:path>
              </a:pathLst>
            </a:custGeom>
            <a:solidFill>
              <a:srgbClr val="5B6776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2400300" y="3981450"/>
              <a:ext cx="304800" cy="95250"/>
            </a:xfrm>
            <a:custGeom>
              <a:avLst/>
              <a:gdLst/>
              <a:ahLst/>
              <a:cxnLst/>
              <a:rect l="l" t="t" r="r" b="b"/>
              <a:pathLst>
                <a:path w="304800" h="95250">
                  <a:moveTo>
                    <a:pt x="304800" y="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304800" y="95250"/>
                  </a:lnTo>
                  <a:lnTo>
                    <a:pt x="304800" y="0"/>
                  </a:lnTo>
                  <a:close/>
                  <a:moveTo>
                    <a:pt x="57150" y="66675"/>
                  </a:moveTo>
                  <a:cubicBezTo>
                    <a:pt x="67671" y="66675"/>
                    <a:pt x="76200" y="58146"/>
                    <a:pt x="76200" y="47625"/>
                  </a:cubicBezTo>
                  <a:cubicBezTo>
                    <a:pt x="76200" y="37104"/>
                    <a:pt x="67671" y="28575"/>
                    <a:pt x="57150" y="28575"/>
                  </a:cubicBezTo>
                  <a:cubicBezTo>
                    <a:pt x="46629" y="28575"/>
                    <a:pt x="38100" y="37104"/>
                    <a:pt x="38100" y="47625"/>
                  </a:cubicBezTo>
                  <a:cubicBezTo>
                    <a:pt x="38100" y="58146"/>
                    <a:pt x="46629" y="66675"/>
                    <a:pt x="57150" y="66675"/>
                  </a:cubicBezTo>
                  <a:close/>
                </a:path>
              </a:pathLst>
            </a:custGeom>
            <a:solidFill>
              <a:srgbClr val="5B6776"/>
            </a:solidFill>
            <a:ln>
              <a:noFill/>
            </a:ln>
          </p:spPr>
        </p:sp>
      </p:grpSp>
      <p:sp>
        <p:nvSpPr>
          <p:cNvPr id="49" name="TextBox 49"/>
          <p:cNvSpPr txBox="1"/>
          <p:nvPr/>
        </p:nvSpPr>
        <p:spPr>
          <a:xfrm>
            <a:off x="2347674" y="4553902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GPU 5</a:t>
            </a:r>
          </a:p>
        </p:txBody>
      </p:sp>
      <p:sp>
        <p:nvSpPr>
          <p:cNvPr id="50" name="Rectangle 50"/>
          <p:cNvSpPr/>
          <p:nvPr/>
        </p:nvSpPr>
        <p:spPr>
          <a:xfrm>
            <a:off x="3143250" y="3638550"/>
            <a:ext cx="800100" cy="80010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grpSp>
        <p:nvGrpSpPr>
          <p:cNvPr id="53" name="Group 53"/>
          <p:cNvGrpSpPr/>
          <p:nvPr/>
        </p:nvGrpSpPr>
        <p:grpSpPr>
          <a:xfrm>
            <a:off x="3390900" y="3848100"/>
            <a:ext cx="304800" cy="228600"/>
            <a:chOff x="3390900" y="3848100"/>
            <a:chExt cx="304800" cy="228600"/>
          </a:xfrm>
        </p:grpSpPr>
        <p:sp>
          <p:nvSpPr>
            <p:cNvPr id="51" name="Freeform 51"/>
            <p:cNvSpPr/>
            <p:nvPr/>
          </p:nvSpPr>
          <p:spPr>
            <a:xfrm>
              <a:off x="3390900" y="3848100"/>
              <a:ext cx="304800" cy="95250"/>
            </a:xfrm>
            <a:custGeom>
              <a:avLst/>
              <a:gdLst/>
              <a:ahLst/>
              <a:cxnLst/>
              <a:rect l="l" t="t" r="r" b="b"/>
              <a:pathLst>
                <a:path w="304800" h="95250">
                  <a:moveTo>
                    <a:pt x="304800" y="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304800" y="95250"/>
                  </a:lnTo>
                  <a:lnTo>
                    <a:pt x="304800" y="0"/>
                  </a:lnTo>
                  <a:close/>
                  <a:moveTo>
                    <a:pt x="76200" y="47625"/>
                  </a:moveTo>
                  <a:cubicBezTo>
                    <a:pt x="76200" y="58146"/>
                    <a:pt x="67671" y="66675"/>
                    <a:pt x="57150" y="66675"/>
                  </a:cubicBezTo>
                  <a:cubicBezTo>
                    <a:pt x="46629" y="66675"/>
                    <a:pt x="38100" y="58146"/>
                    <a:pt x="38100" y="47625"/>
                  </a:cubicBezTo>
                  <a:cubicBezTo>
                    <a:pt x="38100" y="37104"/>
                    <a:pt x="46629" y="28575"/>
                    <a:pt x="57150" y="28575"/>
                  </a:cubicBezTo>
                  <a:cubicBezTo>
                    <a:pt x="67671" y="28575"/>
                    <a:pt x="76200" y="37104"/>
                    <a:pt x="76200" y="47625"/>
                  </a:cubicBezTo>
                  <a:close/>
                </a:path>
              </a:pathLst>
            </a:custGeom>
            <a:solidFill>
              <a:srgbClr val="5B6776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3390900" y="3981450"/>
              <a:ext cx="304800" cy="95250"/>
            </a:xfrm>
            <a:custGeom>
              <a:avLst/>
              <a:gdLst/>
              <a:ahLst/>
              <a:cxnLst/>
              <a:rect l="l" t="t" r="r" b="b"/>
              <a:pathLst>
                <a:path w="304800" h="95250">
                  <a:moveTo>
                    <a:pt x="304800" y="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304800" y="95250"/>
                  </a:lnTo>
                  <a:lnTo>
                    <a:pt x="304800" y="0"/>
                  </a:lnTo>
                  <a:close/>
                  <a:moveTo>
                    <a:pt x="57150" y="66675"/>
                  </a:moveTo>
                  <a:cubicBezTo>
                    <a:pt x="67671" y="66675"/>
                    <a:pt x="76200" y="58146"/>
                    <a:pt x="76200" y="47625"/>
                  </a:cubicBezTo>
                  <a:cubicBezTo>
                    <a:pt x="76200" y="37104"/>
                    <a:pt x="67671" y="28575"/>
                    <a:pt x="57150" y="28575"/>
                  </a:cubicBezTo>
                  <a:cubicBezTo>
                    <a:pt x="46629" y="28575"/>
                    <a:pt x="38100" y="37104"/>
                    <a:pt x="38100" y="47625"/>
                  </a:cubicBezTo>
                  <a:cubicBezTo>
                    <a:pt x="38100" y="58146"/>
                    <a:pt x="46629" y="66675"/>
                    <a:pt x="57150" y="66675"/>
                  </a:cubicBezTo>
                  <a:close/>
                </a:path>
              </a:pathLst>
            </a:custGeom>
            <a:solidFill>
              <a:srgbClr val="5B6776"/>
            </a:solidFill>
            <a:ln>
              <a:noFill/>
            </a:ln>
          </p:spPr>
        </p:sp>
      </p:grpSp>
      <p:sp>
        <p:nvSpPr>
          <p:cNvPr id="54" name="TextBox 54"/>
          <p:cNvSpPr txBox="1"/>
          <p:nvPr/>
        </p:nvSpPr>
        <p:spPr>
          <a:xfrm>
            <a:off x="3338274" y="4553902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GPU 6</a:t>
            </a:r>
          </a:p>
        </p:txBody>
      </p:sp>
      <p:sp>
        <p:nvSpPr>
          <p:cNvPr id="55" name="Rectangle 55"/>
          <p:cNvSpPr/>
          <p:nvPr/>
        </p:nvSpPr>
        <p:spPr>
          <a:xfrm>
            <a:off x="4133850" y="3638550"/>
            <a:ext cx="800100" cy="80010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grpSp>
        <p:nvGrpSpPr>
          <p:cNvPr id="58" name="Group 58"/>
          <p:cNvGrpSpPr/>
          <p:nvPr/>
        </p:nvGrpSpPr>
        <p:grpSpPr>
          <a:xfrm>
            <a:off x="4381500" y="3848100"/>
            <a:ext cx="304800" cy="228600"/>
            <a:chOff x="4381500" y="3848100"/>
            <a:chExt cx="304800" cy="228600"/>
          </a:xfrm>
        </p:grpSpPr>
        <p:sp>
          <p:nvSpPr>
            <p:cNvPr id="56" name="Freeform 56"/>
            <p:cNvSpPr/>
            <p:nvPr/>
          </p:nvSpPr>
          <p:spPr>
            <a:xfrm>
              <a:off x="4381500" y="3848100"/>
              <a:ext cx="304800" cy="95250"/>
            </a:xfrm>
            <a:custGeom>
              <a:avLst/>
              <a:gdLst/>
              <a:ahLst/>
              <a:cxnLst/>
              <a:rect l="l" t="t" r="r" b="b"/>
              <a:pathLst>
                <a:path w="304800" h="95250">
                  <a:moveTo>
                    <a:pt x="304800" y="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304800" y="95250"/>
                  </a:lnTo>
                  <a:lnTo>
                    <a:pt x="304800" y="0"/>
                  </a:lnTo>
                  <a:close/>
                  <a:moveTo>
                    <a:pt x="76200" y="47625"/>
                  </a:moveTo>
                  <a:cubicBezTo>
                    <a:pt x="76200" y="58146"/>
                    <a:pt x="67671" y="66675"/>
                    <a:pt x="57150" y="66675"/>
                  </a:cubicBezTo>
                  <a:cubicBezTo>
                    <a:pt x="46629" y="66675"/>
                    <a:pt x="38100" y="58146"/>
                    <a:pt x="38100" y="47625"/>
                  </a:cubicBezTo>
                  <a:cubicBezTo>
                    <a:pt x="38100" y="37104"/>
                    <a:pt x="46629" y="28575"/>
                    <a:pt x="57150" y="28575"/>
                  </a:cubicBezTo>
                  <a:cubicBezTo>
                    <a:pt x="67671" y="28575"/>
                    <a:pt x="76200" y="37104"/>
                    <a:pt x="76200" y="47625"/>
                  </a:cubicBezTo>
                  <a:close/>
                </a:path>
              </a:pathLst>
            </a:custGeom>
            <a:solidFill>
              <a:srgbClr val="5B6776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4381500" y="3981450"/>
              <a:ext cx="304800" cy="95250"/>
            </a:xfrm>
            <a:custGeom>
              <a:avLst/>
              <a:gdLst/>
              <a:ahLst/>
              <a:cxnLst/>
              <a:rect l="l" t="t" r="r" b="b"/>
              <a:pathLst>
                <a:path w="304800" h="95250">
                  <a:moveTo>
                    <a:pt x="304800" y="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304800" y="95250"/>
                  </a:lnTo>
                  <a:lnTo>
                    <a:pt x="304800" y="0"/>
                  </a:lnTo>
                  <a:close/>
                  <a:moveTo>
                    <a:pt x="57150" y="66675"/>
                  </a:moveTo>
                  <a:cubicBezTo>
                    <a:pt x="67671" y="66675"/>
                    <a:pt x="76200" y="58146"/>
                    <a:pt x="76200" y="47625"/>
                  </a:cubicBezTo>
                  <a:cubicBezTo>
                    <a:pt x="76200" y="37104"/>
                    <a:pt x="67671" y="28575"/>
                    <a:pt x="57150" y="28575"/>
                  </a:cubicBezTo>
                  <a:cubicBezTo>
                    <a:pt x="46629" y="28575"/>
                    <a:pt x="38100" y="37104"/>
                    <a:pt x="38100" y="47625"/>
                  </a:cubicBezTo>
                  <a:cubicBezTo>
                    <a:pt x="38100" y="58146"/>
                    <a:pt x="46629" y="66675"/>
                    <a:pt x="57150" y="66675"/>
                  </a:cubicBezTo>
                  <a:close/>
                </a:path>
              </a:pathLst>
            </a:custGeom>
            <a:solidFill>
              <a:srgbClr val="5B6776"/>
            </a:solidFill>
            <a:ln>
              <a:noFill/>
            </a:ln>
          </p:spPr>
        </p:sp>
      </p:grpSp>
      <p:sp>
        <p:nvSpPr>
          <p:cNvPr id="59" name="TextBox 59"/>
          <p:cNvSpPr txBox="1"/>
          <p:nvPr/>
        </p:nvSpPr>
        <p:spPr>
          <a:xfrm>
            <a:off x="4328874" y="4553902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GPU 7</a:t>
            </a:r>
          </a:p>
        </p:txBody>
      </p:sp>
      <p:sp>
        <p:nvSpPr>
          <p:cNvPr id="60" name="Rectangle 60"/>
          <p:cNvSpPr/>
          <p:nvPr/>
        </p:nvSpPr>
        <p:spPr>
          <a:xfrm>
            <a:off x="7067550" y="2457450"/>
            <a:ext cx="800100" cy="800100"/>
          </a:xfrm>
          <a:prstGeom prst="rect">
            <a:avLst/>
          </a:prstGeom>
          <a:solidFill>
            <a:srgbClr val="E8F6F1"/>
          </a:solidFill>
          <a:ln w="9525">
            <a:solidFill>
              <a:srgbClr val="1F9D68"/>
            </a:solidFill>
          </a:ln>
        </p:spPr>
      </p:sp>
      <p:grpSp>
        <p:nvGrpSpPr>
          <p:cNvPr id="63" name="Group 63"/>
          <p:cNvGrpSpPr/>
          <p:nvPr/>
        </p:nvGrpSpPr>
        <p:grpSpPr>
          <a:xfrm>
            <a:off x="7315200" y="2667000"/>
            <a:ext cx="304800" cy="228600"/>
            <a:chOff x="7315200" y="2667000"/>
            <a:chExt cx="304800" cy="228600"/>
          </a:xfrm>
        </p:grpSpPr>
        <p:sp>
          <p:nvSpPr>
            <p:cNvPr id="61" name="Freeform 61"/>
            <p:cNvSpPr/>
            <p:nvPr/>
          </p:nvSpPr>
          <p:spPr>
            <a:xfrm>
              <a:off x="7315200" y="2667000"/>
              <a:ext cx="304800" cy="95250"/>
            </a:xfrm>
            <a:custGeom>
              <a:avLst/>
              <a:gdLst/>
              <a:ahLst/>
              <a:cxnLst/>
              <a:rect l="l" t="t" r="r" b="b"/>
              <a:pathLst>
                <a:path w="304800" h="95250">
                  <a:moveTo>
                    <a:pt x="304800" y="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304800" y="95250"/>
                  </a:lnTo>
                  <a:lnTo>
                    <a:pt x="304800" y="0"/>
                  </a:lnTo>
                  <a:close/>
                  <a:moveTo>
                    <a:pt x="76200" y="47625"/>
                  </a:moveTo>
                  <a:cubicBezTo>
                    <a:pt x="76200" y="58146"/>
                    <a:pt x="67671" y="66675"/>
                    <a:pt x="57150" y="66675"/>
                  </a:cubicBezTo>
                  <a:cubicBezTo>
                    <a:pt x="46629" y="66675"/>
                    <a:pt x="38100" y="58146"/>
                    <a:pt x="38100" y="47625"/>
                  </a:cubicBezTo>
                  <a:cubicBezTo>
                    <a:pt x="38100" y="37104"/>
                    <a:pt x="46629" y="28575"/>
                    <a:pt x="57150" y="28575"/>
                  </a:cubicBezTo>
                  <a:cubicBezTo>
                    <a:pt x="67671" y="28575"/>
                    <a:pt x="76200" y="37104"/>
                    <a:pt x="76200" y="47625"/>
                  </a:cubicBezTo>
                  <a:close/>
                </a:path>
              </a:pathLst>
            </a:custGeom>
            <a:solidFill>
              <a:srgbClr val="1F9D68"/>
            </a:solidFill>
            <a:ln>
              <a:noFill/>
            </a:ln>
          </p:spPr>
        </p:sp>
        <p:sp>
          <p:nvSpPr>
            <p:cNvPr id="62" name="Freeform 62"/>
            <p:cNvSpPr/>
            <p:nvPr/>
          </p:nvSpPr>
          <p:spPr>
            <a:xfrm>
              <a:off x="7315200" y="2800350"/>
              <a:ext cx="304800" cy="95250"/>
            </a:xfrm>
            <a:custGeom>
              <a:avLst/>
              <a:gdLst/>
              <a:ahLst/>
              <a:cxnLst/>
              <a:rect l="l" t="t" r="r" b="b"/>
              <a:pathLst>
                <a:path w="304800" h="95250">
                  <a:moveTo>
                    <a:pt x="304800" y="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304800" y="95250"/>
                  </a:lnTo>
                  <a:lnTo>
                    <a:pt x="304800" y="0"/>
                  </a:lnTo>
                  <a:close/>
                  <a:moveTo>
                    <a:pt x="57150" y="66675"/>
                  </a:moveTo>
                  <a:cubicBezTo>
                    <a:pt x="67671" y="66675"/>
                    <a:pt x="76200" y="58146"/>
                    <a:pt x="76200" y="47625"/>
                  </a:cubicBezTo>
                  <a:cubicBezTo>
                    <a:pt x="76200" y="37104"/>
                    <a:pt x="67671" y="28575"/>
                    <a:pt x="57150" y="28575"/>
                  </a:cubicBezTo>
                  <a:cubicBezTo>
                    <a:pt x="46629" y="28575"/>
                    <a:pt x="38100" y="37104"/>
                    <a:pt x="38100" y="47625"/>
                  </a:cubicBezTo>
                  <a:cubicBezTo>
                    <a:pt x="38100" y="58146"/>
                    <a:pt x="46629" y="66675"/>
                    <a:pt x="57150" y="66675"/>
                  </a:cubicBezTo>
                  <a:close/>
                </a:path>
              </a:pathLst>
            </a:custGeom>
            <a:solidFill>
              <a:srgbClr val="1F9D68"/>
            </a:solidFill>
            <a:ln>
              <a:noFill/>
            </a:ln>
          </p:spPr>
        </p:sp>
      </p:grpSp>
      <p:sp>
        <p:nvSpPr>
          <p:cNvPr id="64" name="TextBox 64"/>
          <p:cNvSpPr txBox="1"/>
          <p:nvPr/>
        </p:nvSpPr>
        <p:spPr>
          <a:xfrm>
            <a:off x="7252990" y="3372802"/>
            <a:ext cx="4292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F9D68"/>
                </a:solidFill>
                <a:latin typeface="Arial"/>
                <a:ea typeface="Microsoft YaHei"/>
                <a:cs typeface="Arial"/>
              </a:rPr>
              <a:t>GPU 0</a:t>
            </a:r>
          </a:p>
        </p:txBody>
      </p:sp>
      <p:sp>
        <p:nvSpPr>
          <p:cNvPr id="65" name="Rectangle 65"/>
          <p:cNvSpPr/>
          <p:nvPr/>
        </p:nvSpPr>
        <p:spPr>
          <a:xfrm>
            <a:off x="9048750" y="2457450"/>
            <a:ext cx="800100" cy="800100"/>
          </a:xfrm>
          <a:prstGeom prst="rect">
            <a:avLst/>
          </a:prstGeom>
          <a:solidFill>
            <a:srgbClr val="E8F6F1"/>
          </a:solidFill>
          <a:ln w="9525">
            <a:solidFill>
              <a:srgbClr val="1F9D68"/>
            </a:solidFill>
          </a:ln>
        </p:spPr>
      </p:sp>
      <p:grpSp>
        <p:nvGrpSpPr>
          <p:cNvPr id="68" name="Group 68"/>
          <p:cNvGrpSpPr/>
          <p:nvPr/>
        </p:nvGrpSpPr>
        <p:grpSpPr>
          <a:xfrm>
            <a:off x="9296400" y="2667000"/>
            <a:ext cx="304800" cy="228600"/>
            <a:chOff x="9296400" y="2667000"/>
            <a:chExt cx="304800" cy="228600"/>
          </a:xfrm>
        </p:grpSpPr>
        <p:sp>
          <p:nvSpPr>
            <p:cNvPr id="66" name="Freeform 66"/>
            <p:cNvSpPr/>
            <p:nvPr/>
          </p:nvSpPr>
          <p:spPr>
            <a:xfrm>
              <a:off x="9296400" y="2667000"/>
              <a:ext cx="304800" cy="95250"/>
            </a:xfrm>
            <a:custGeom>
              <a:avLst/>
              <a:gdLst/>
              <a:ahLst/>
              <a:cxnLst/>
              <a:rect l="l" t="t" r="r" b="b"/>
              <a:pathLst>
                <a:path w="304800" h="95250">
                  <a:moveTo>
                    <a:pt x="304800" y="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304800" y="95250"/>
                  </a:lnTo>
                  <a:lnTo>
                    <a:pt x="304800" y="0"/>
                  </a:lnTo>
                  <a:close/>
                  <a:moveTo>
                    <a:pt x="76200" y="47625"/>
                  </a:moveTo>
                  <a:cubicBezTo>
                    <a:pt x="76200" y="58146"/>
                    <a:pt x="67671" y="66675"/>
                    <a:pt x="57150" y="66675"/>
                  </a:cubicBezTo>
                  <a:cubicBezTo>
                    <a:pt x="46629" y="66675"/>
                    <a:pt x="38100" y="58146"/>
                    <a:pt x="38100" y="47625"/>
                  </a:cubicBezTo>
                  <a:cubicBezTo>
                    <a:pt x="38100" y="37104"/>
                    <a:pt x="46629" y="28575"/>
                    <a:pt x="57150" y="28575"/>
                  </a:cubicBezTo>
                  <a:cubicBezTo>
                    <a:pt x="67671" y="28575"/>
                    <a:pt x="76200" y="37104"/>
                    <a:pt x="76200" y="47625"/>
                  </a:cubicBezTo>
                  <a:close/>
                </a:path>
              </a:pathLst>
            </a:custGeom>
            <a:solidFill>
              <a:srgbClr val="1F9D68"/>
            </a:solidFill>
            <a:ln>
              <a:noFill/>
            </a:ln>
          </p:spPr>
        </p:sp>
        <p:sp>
          <p:nvSpPr>
            <p:cNvPr id="67" name="Freeform 67"/>
            <p:cNvSpPr/>
            <p:nvPr/>
          </p:nvSpPr>
          <p:spPr>
            <a:xfrm>
              <a:off x="9296400" y="2800350"/>
              <a:ext cx="304800" cy="95250"/>
            </a:xfrm>
            <a:custGeom>
              <a:avLst/>
              <a:gdLst/>
              <a:ahLst/>
              <a:cxnLst/>
              <a:rect l="l" t="t" r="r" b="b"/>
              <a:pathLst>
                <a:path w="304800" h="95250">
                  <a:moveTo>
                    <a:pt x="304800" y="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304800" y="95250"/>
                  </a:lnTo>
                  <a:lnTo>
                    <a:pt x="304800" y="0"/>
                  </a:lnTo>
                  <a:close/>
                  <a:moveTo>
                    <a:pt x="57150" y="66675"/>
                  </a:moveTo>
                  <a:cubicBezTo>
                    <a:pt x="67671" y="66675"/>
                    <a:pt x="76200" y="58146"/>
                    <a:pt x="76200" y="47625"/>
                  </a:cubicBezTo>
                  <a:cubicBezTo>
                    <a:pt x="76200" y="37104"/>
                    <a:pt x="67671" y="28575"/>
                    <a:pt x="57150" y="28575"/>
                  </a:cubicBezTo>
                  <a:cubicBezTo>
                    <a:pt x="46629" y="28575"/>
                    <a:pt x="38100" y="37104"/>
                    <a:pt x="38100" y="47625"/>
                  </a:cubicBezTo>
                  <a:cubicBezTo>
                    <a:pt x="38100" y="58146"/>
                    <a:pt x="46629" y="66675"/>
                    <a:pt x="57150" y="66675"/>
                  </a:cubicBezTo>
                  <a:close/>
                </a:path>
              </a:pathLst>
            </a:custGeom>
            <a:solidFill>
              <a:srgbClr val="1F9D68"/>
            </a:solidFill>
            <a:ln>
              <a:noFill/>
            </a:ln>
          </p:spPr>
        </p:sp>
      </p:grpSp>
      <p:sp>
        <p:nvSpPr>
          <p:cNvPr id="69" name="TextBox 69"/>
          <p:cNvSpPr txBox="1"/>
          <p:nvPr/>
        </p:nvSpPr>
        <p:spPr>
          <a:xfrm>
            <a:off x="9234190" y="3372802"/>
            <a:ext cx="4292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F9D68"/>
                </a:solidFill>
                <a:latin typeface="Arial"/>
                <a:ea typeface="Microsoft YaHei"/>
                <a:cs typeface="Arial"/>
              </a:rPr>
              <a:t>GPU 2</a:t>
            </a:r>
          </a:p>
        </p:txBody>
      </p:sp>
      <p:sp>
        <p:nvSpPr>
          <p:cNvPr id="70" name="Rectangle 70"/>
          <p:cNvSpPr/>
          <p:nvPr/>
        </p:nvSpPr>
        <p:spPr>
          <a:xfrm>
            <a:off x="8058150" y="3638550"/>
            <a:ext cx="800100" cy="800100"/>
          </a:xfrm>
          <a:prstGeom prst="rect">
            <a:avLst/>
          </a:prstGeom>
          <a:solidFill>
            <a:srgbClr val="E8F6F1"/>
          </a:solidFill>
          <a:ln w="9525">
            <a:solidFill>
              <a:srgbClr val="1F9D68"/>
            </a:solidFill>
          </a:ln>
        </p:spPr>
      </p:sp>
      <p:grpSp>
        <p:nvGrpSpPr>
          <p:cNvPr id="73" name="Group 73"/>
          <p:cNvGrpSpPr/>
          <p:nvPr/>
        </p:nvGrpSpPr>
        <p:grpSpPr>
          <a:xfrm>
            <a:off x="8305800" y="3848100"/>
            <a:ext cx="304800" cy="228600"/>
            <a:chOff x="8305800" y="3848100"/>
            <a:chExt cx="304800" cy="228600"/>
          </a:xfrm>
        </p:grpSpPr>
        <p:sp>
          <p:nvSpPr>
            <p:cNvPr id="71" name="Freeform 71"/>
            <p:cNvSpPr/>
            <p:nvPr/>
          </p:nvSpPr>
          <p:spPr>
            <a:xfrm>
              <a:off x="8305800" y="3848100"/>
              <a:ext cx="304800" cy="95250"/>
            </a:xfrm>
            <a:custGeom>
              <a:avLst/>
              <a:gdLst/>
              <a:ahLst/>
              <a:cxnLst/>
              <a:rect l="l" t="t" r="r" b="b"/>
              <a:pathLst>
                <a:path w="304800" h="95250">
                  <a:moveTo>
                    <a:pt x="304800" y="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304800" y="95250"/>
                  </a:lnTo>
                  <a:lnTo>
                    <a:pt x="304800" y="0"/>
                  </a:lnTo>
                  <a:close/>
                  <a:moveTo>
                    <a:pt x="76200" y="47625"/>
                  </a:moveTo>
                  <a:cubicBezTo>
                    <a:pt x="76200" y="58146"/>
                    <a:pt x="67671" y="66675"/>
                    <a:pt x="57150" y="66675"/>
                  </a:cubicBezTo>
                  <a:cubicBezTo>
                    <a:pt x="46629" y="66675"/>
                    <a:pt x="38100" y="58146"/>
                    <a:pt x="38100" y="47625"/>
                  </a:cubicBezTo>
                  <a:cubicBezTo>
                    <a:pt x="38100" y="37104"/>
                    <a:pt x="46629" y="28575"/>
                    <a:pt x="57150" y="28575"/>
                  </a:cubicBezTo>
                  <a:cubicBezTo>
                    <a:pt x="67671" y="28575"/>
                    <a:pt x="76200" y="37104"/>
                    <a:pt x="76200" y="47625"/>
                  </a:cubicBezTo>
                  <a:close/>
                </a:path>
              </a:pathLst>
            </a:custGeom>
            <a:solidFill>
              <a:srgbClr val="1F9D68"/>
            </a:solidFill>
            <a:ln>
              <a:noFill/>
            </a:ln>
          </p:spPr>
        </p:sp>
        <p:sp>
          <p:nvSpPr>
            <p:cNvPr id="72" name="Freeform 72"/>
            <p:cNvSpPr/>
            <p:nvPr/>
          </p:nvSpPr>
          <p:spPr>
            <a:xfrm>
              <a:off x="8305800" y="3981450"/>
              <a:ext cx="304800" cy="95250"/>
            </a:xfrm>
            <a:custGeom>
              <a:avLst/>
              <a:gdLst/>
              <a:ahLst/>
              <a:cxnLst/>
              <a:rect l="l" t="t" r="r" b="b"/>
              <a:pathLst>
                <a:path w="304800" h="95250">
                  <a:moveTo>
                    <a:pt x="304800" y="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304800" y="95250"/>
                  </a:lnTo>
                  <a:lnTo>
                    <a:pt x="304800" y="0"/>
                  </a:lnTo>
                  <a:close/>
                  <a:moveTo>
                    <a:pt x="57150" y="66675"/>
                  </a:moveTo>
                  <a:cubicBezTo>
                    <a:pt x="67671" y="66675"/>
                    <a:pt x="76200" y="58146"/>
                    <a:pt x="76200" y="47625"/>
                  </a:cubicBezTo>
                  <a:cubicBezTo>
                    <a:pt x="76200" y="37104"/>
                    <a:pt x="67671" y="28575"/>
                    <a:pt x="57150" y="28575"/>
                  </a:cubicBezTo>
                  <a:cubicBezTo>
                    <a:pt x="46629" y="28575"/>
                    <a:pt x="38100" y="37104"/>
                    <a:pt x="38100" y="47625"/>
                  </a:cubicBezTo>
                  <a:cubicBezTo>
                    <a:pt x="38100" y="58146"/>
                    <a:pt x="46629" y="66675"/>
                    <a:pt x="57150" y="66675"/>
                  </a:cubicBezTo>
                  <a:close/>
                </a:path>
              </a:pathLst>
            </a:custGeom>
            <a:solidFill>
              <a:srgbClr val="1F9D68"/>
            </a:solidFill>
            <a:ln>
              <a:noFill/>
            </a:ln>
          </p:spPr>
        </p:sp>
      </p:grpSp>
      <p:sp>
        <p:nvSpPr>
          <p:cNvPr id="74" name="TextBox 74"/>
          <p:cNvSpPr txBox="1"/>
          <p:nvPr/>
        </p:nvSpPr>
        <p:spPr>
          <a:xfrm>
            <a:off x="8243590" y="4553902"/>
            <a:ext cx="4292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F9D68"/>
                </a:solidFill>
                <a:latin typeface="Arial"/>
                <a:ea typeface="Microsoft YaHei"/>
                <a:cs typeface="Arial"/>
              </a:rPr>
              <a:t>GPU 5</a:t>
            </a:r>
          </a:p>
        </p:txBody>
      </p:sp>
      <p:sp>
        <p:nvSpPr>
          <p:cNvPr id="75" name="Rectangle 75"/>
          <p:cNvSpPr/>
          <p:nvPr/>
        </p:nvSpPr>
        <p:spPr>
          <a:xfrm>
            <a:off x="9048750" y="3638550"/>
            <a:ext cx="800100" cy="800100"/>
          </a:xfrm>
          <a:prstGeom prst="rect">
            <a:avLst/>
          </a:prstGeom>
          <a:solidFill>
            <a:srgbClr val="E8F6F1"/>
          </a:solidFill>
          <a:ln w="9525">
            <a:solidFill>
              <a:srgbClr val="1F9D68"/>
            </a:solidFill>
          </a:ln>
        </p:spPr>
      </p:sp>
      <p:grpSp>
        <p:nvGrpSpPr>
          <p:cNvPr id="78" name="Group 78"/>
          <p:cNvGrpSpPr/>
          <p:nvPr/>
        </p:nvGrpSpPr>
        <p:grpSpPr>
          <a:xfrm>
            <a:off x="9296400" y="3848100"/>
            <a:ext cx="304800" cy="228600"/>
            <a:chOff x="9296400" y="3848100"/>
            <a:chExt cx="304800" cy="228600"/>
          </a:xfrm>
        </p:grpSpPr>
        <p:sp>
          <p:nvSpPr>
            <p:cNvPr id="76" name="Freeform 76"/>
            <p:cNvSpPr/>
            <p:nvPr/>
          </p:nvSpPr>
          <p:spPr>
            <a:xfrm>
              <a:off x="9296400" y="3848100"/>
              <a:ext cx="304800" cy="95250"/>
            </a:xfrm>
            <a:custGeom>
              <a:avLst/>
              <a:gdLst/>
              <a:ahLst/>
              <a:cxnLst/>
              <a:rect l="l" t="t" r="r" b="b"/>
              <a:pathLst>
                <a:path w="304800" h="95250">
                  <a:moveTo>
                    <a:pt x="304800" y="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304800" y="95250"/>
                  </a:lnTo>
                  <a:lnTo>
                    <a:pt x="304800" y="0"/>
                  </a:lnTo>
                  <a:close/>
                  <a:moveTo>
                    <a:pt x="76200" y="47625"/>
                  </a:moveTo>
                  <a:cubicBezTo>
                    <a:pt x="76200" y="58146"/>
                    <a:pt x="67671" y="66675"/>
                    <a:pt x="57150" y="66675"/>
                  </a:cubicBezTo>
                  <a:cubicBezTo>
                    <a:pt x="46629" y="66675"/>
                    <a:pt x="38100" y="58146"/>
                    <a:pt x="38100" y="47625"/>
                  </a:cubicBezTo>
                  <a:cubicBezTo>
                    <a:pt x="38100" y="37104"/>
                    <a:pt x="46629" y="28575"/>
                    <a:pt x="57150" y="28575"/>
                  </a:cubicBezTo>
                  <a:cubicBezTo>
                    <a:pt x="67671" y="28575"/>
                    <a:pt x="76200" y="37104"/>
                    <a:pt x="76200" y="47625"/>
                  </a:cubicBezTo>
                  <a:close/>
                </a:path>
              </a:pathLst>
            </a:custGeom>
            <a:solidFill>
              <a:srgbClr val="1F9D68"/>
            </a:solidFill>
            <a:ln>
              <a:noFill/>
            </a:ln>
          </p:spPr>
        </p:sp>
        <p:sp>
          <p:nvSpPr>
            <p:cNvPr id="77" name="Freeform 77"/>
            <p:cNvSpPr/>
            <p:nvPr/>
          </p:nvSpPr>
          <p:spPr>
            <a:xfrm>
              <a:off x="9296400" y="3981450"/>
              <a:ext cx="304800" cy="95250"/>
            </a:xfrm>
            <a:custGeom>
              <a:avLst/>
              <a:gdLst/>
              <a:ahLst/>
              <a:cxnLst/>
              <a:rect l="l" t="t" r="r" b="b"/>
              <a:pathLst>
                <a:path w="304800" h="95250">
                  <a:moveTo>
                    <a:pt x="304800" y="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304800" y="95250"/>
                  </a:lnTo>
                  <a:lnTo>
                    <a:pt x="304800" y="0"/>
                  </a:lnTo>
                  <a:close/>
                  <a:moveTo>
                    <a:pt x="57150" y="66675"/>
                  </a:moveTo>
                  <a:cubicBezTo>
                    <a:pt x="67671" y="66675"/>
                    <a:pt x="76200" y="58146"/>
                    <a:pt x="76200" y="47625"/>
                  </a:cubicBezTo>
                  <a:cubicBezTo>
                    <a:pt x="76200" y="37104"/>
                    <a:pt x="67671" y="28575"/>
                    <a:pt x="57150" y="28575"/>
                  </a:cubicBezTo>
                  <a:cubicBezTo>
                    <a:pt x="46629" y="28575"/>
                    <a:pt x="38100" y="37104"/>
                    <a:pt x="38100" y="47625"/>
                  </a:cubicBezTo>
                  <a:cubicBezTo>
                    <a:pt x="38100" y="58146"/>
                    <a:pt x="46629" y="66675"/>
                    <a:pt x="57150" y="66675"/>
                  </a:cubicBezTo>
                  <a:close/>
                </a:path>
              </a:pathLst>
            </a:custGeom>
            <a:solidFill>
              <a:srgbClr val="1F9D68"/>
            </a:solidFill>
            <a:ln>
              <a:noFill/>
            </a:ln>
          </p:spPr>
        </p:sp>
      </p:grpSp>
      <p:sp>
        <p:nvSpPr>
          <p:cNvPr id="79" name="TextBox 79"/>
          <p:cNvSpPr txBox="1"/>
          <p:nvPr/>
        </p:nvSpPr>
        <p:spPr>
          <a:xfrm>
            <a:off x="9234190" y="4553902"/>
            <a:ext cx="4292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F9D68"/>
                </a:solidFill>
                <a:latin typeface="Arial"/>
                <a:ea typeface="Microsoft YaHei"/>
                <a:cs typeface="Arial"/>
              </a:rPr>
              <a:t>GPU 6</a:t>
            </a:r>
          </a:p>
        </p:txBody>
      </p:sp>
      <p:sp>
        <p:nvSpPr>
          <p:cNvPr id="80" name="Rectangle 80"/>
          <p:cNvSpPr/>
          <p:nvPr/>
        </p:nvSpPr>
        <p:spPr>
          <a:xfrm>
            <a:off x="8058150" y="2457450"/>
            <a:ext cx="800100" cy="80010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grpSp>
        <p:nvGrpSpPr>
          <p:cNvPr id="83" name="Group 83"/>
          <p:cNvGrpSpPr/>
          <p:nvPr/>
        </p:nvGrpSpPr>
        <p:grpSpPr>
          <a:xfrm>
            <a:off x="8305800" y="2667000"/>
            <a:ext cx="304800" cy="228600"/>
            <a:chOff x="8305800" y="2667000"/>
            <a:chExt cx="304800" cy="228600"/>
          </a:xfrm>
        </p:grpSpPr>
        <p:sp>
          <p:nvSpPr>
            <p:cNvPr id="81" name="Freeform 81"/>
            <p:cNvSpPr/>
            <p:nvPr/>
          </p:nvSpPr>
          <p:spPr>
            <a:xfrm>
              <a:off x="8305800" y="2667000"/>
              <a:ext cx="304800" cy="95250"/>
            </a:xfrm>
            <a:custGeom>
              <a:avLst/>
              <a:gdLst/>
              <a:ahLst/>
              <a:cxnLst/>
              <a:rect l="l" t="t" r="r" b="b"/>
              <a:pathLst>
                <a:path w="304800" h="95250">
                  <a:moveTo>
                    <a:pt x="304800" y="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304800" y="95250"/>
                  </a:lnTo>
                  <a:lnTo>
                    <a:pt x="304800" y="0"/>
                  </a:lnTo>
                  <a:close/>
                  <a:moveTo>
                    <a:pt x="76200" y="47625"/>
                  </a:moveTo>
                  <a:cubicBezTo>
                    <a:pt x="76200" y="58146"/>
                    <a:pt x="67671" y="66675"/>
                    <a:pt x="57150" y="66675"/>
                  </a:cubicBezTo>
                  <a:cubicBezTo>
                    <a:pt x="46629" y="66675"/>
                    <a:pt x="38100" y="58146"/>
                    <a:pt x="38100" y="47625"/>
                  </a:cubicBezTo>
                  <a:cubicBezTo>
                    <a:pt x="38100" y="37104"/>
                    <a:pt x="46629" y="28575"/>
                    <a:pt x="57150" y="28575"/>
                  </a:cubicBezTo>
                  <a:cubicBezTo>
                    <a:pt x="67671" y="28575"/>
                    <a:pt x="76200" y="37104"/>
                    <a:pt x="76200" y="47625"/>
                  </a:cubicBezTo>
                  <a:close/>
                </a:path>
              </a:pathLst>
            </a:custGeom>
            <a:solidFill>
              <a:srgbClr val="8A94A3"/>
            </a:solidFill>
            <a:ln>
              <a:noFill/>
            </a:ln>
          </p:spPr>
        </p:sp>
        <p:sp>
          <p:nvSpPr>
            <p:cNvPr id="82" name="Freeform 82"/>
            <p:cNvSpPr/>
            <p:nvPr/>
          </p:nvSpPr>
          <p:spPr>
            <a:xfrm>
              <a:off x="8305800" y="2800350"/>
              <a:ext cx="304800" cy="95250"/>
            </a:xfrm>
            <a:custGeom>
              <a:avLst/>
              <a:gdLst/>
              <a:ahLst/>
              <a:cxnLst/>
              <a:rect l="l" t="t" r="r" b="b"/>
              <a:pathLst>
                <a:path w="304800" h="95250">
                  <a:moveTo>
                    <a:pt x="304800" y="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304800" y="95250"/>
                  </a:lnTo>
                  <a:lnTo>
                    <a:pt x="304800" y="0"/>
                  </a:lnTo>
                  <a:close/>
                  <a:moveTo>
                    <a:pt x="57150" y="66675"/>
                  </a:moveTo>
                  <a:cubicBezTo>
                    <a:pt x="67671" y="66675"/>
                    <a:pt x="76200" y="58146"/>
                    <a:pt x="76200" y="47625"/>
                  </a:cubicBezTo>
                  <a:cubicBezTo>
                    <a:pt x="76200" y="37104"/>
                    <a:pt x="67671" y="28575"/>
                    <a:pt x="57150" y="28575"/>
                  </a:cubicBezTo>
                  <a:cubicBezTo>
                    <a:pt x="46629" y="28575"/>
                    <a:pt x="38100" y="37104"/>
                    <a:pt x="38100" y="47625"/>
                  </a:cubicBezTo>
                  <a:cubicBezTo>
                    <a:pt x="38100" y="58146"/>
                    <a:pt x="46629" y="66675"/>
                    <a:pt x="57150" y="66675"/>
                  </a:cubicBezTo>
                  <a:close/>
                </a:path>
              </a:pathLst>
            </a:custGeom>
            <a:solidFill>
              <a:srgbClr val="8A94A3"/>
            </a:solidFill>
            <a:ln>
              <a:noFill/>
            </a:ln>
          </p:spPr>
        </p:sp>
      </p:grpSp>
      <p:sp>
        <p:nvSpPr>
          <p:cNvPr id="84" name="TextBox 84"/>
          <p:cNvSpPr txBox="1"/>
          <p:nvPr/>
        </p:nvSpPr>
        <p:spPr>
          <a:xfrm>
            <a:off x="8272343" y="3372802"/>
            <a:ext cx="3717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GPU 1</a:t>
            </a:r>
          </a:p>
        </p:txBody>
      </p:sp>
      <p:sp>
        <p:nvSpPr>
          <p:cNvPr id="85" name="Rectangle 85"/>
          <p:cNvSpPr/>
          <p:nvPr/>
        </p:nvSpPr>
        <p:spPr>
          <a:xfrm>
            <a:off x="10039350" y="2457450"/>
            <a:ext cx="800100" cy="80010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grpSp>
        <p:nvGrpSpPr>
          <p:cNvPr id="88" name="Group 88"/>
          <p:cNvGrpSpPr/>
          <p:nvPr/>
        </p:nvGrpSpPr>
        <p:grpSpPr>
          <a:xfrm>
            <a:off x="10287000" y="2667000"/>
            <a:ext cx="304800" cy="228600"/>
            <a:chOff x="10287000" y="2667000"/>
            <a:chExt cx="304800" cy="228600"/>
          </a:xfrm>
        </p:grpSpPr>
        <p:sp>
          <p:nvSpPr>
            <p:cNvPr id="86" name="Freeform 86"/>
            <p:cNvSpPr/>
            <p:nvPr/>
          </p:nvSpPr>
          <p:spPr>
            <a:xfrm>
              <a:off x="10287000" y="2667000"/>
              <a:ext cx="304800" cy="95250"/>
            </a:xfrm>
            <a:custGeom>
              <a:avLst/>
              <a:gdLst/>
              <a:ahLst/>
              <a:cxnLst/>
              <a:rect l="l" t="t" r="r" b="b"/>
              <a:pathLst>
                <a:path w="304800" h="95250">
                  <a:moveTo>
                    <a:pt x="304800" y="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304800" y="95250"/>
                  </a:lnTo>
                  <a:lnTo>
                    <a:pt x="304800" y="0"/>
                  </a:lnTo>
                  <a:close/>
                  <a:moveTo>
                    <a:pt x="76200" y="47625"/>
                  </a:moveTo>
                  <a:cubicBezTo>
                    <a:pt x="76200" y="58146"/>
                    <a:pt x="67671" y="66675"/>
                    <a:pt x="57150" y="66675"/>
                  </a:cubicBezTo>
                  <a:cubicBezTo>
                    <a:pt x="46629" y="66675"/>
                    <a:pt x="38100" y="58146"/>
                    <a:pt x="38100" y="47625"/>
                  </a:cubicBezTo>
                  <a:cubicBezTo>
                    <a:pt x="38100" y="37104"/>
                    <a:pt x="46629" y="28575"/>
                    <a:pt x="57150" y="28575"/>
                  </a:cubicBezTo>
                  <a:cubicBezTo>
                    <a:pt x="67671" y="28575"/>
                    <a:pt x="76200" y="37104"/>
                    <a:pt x="76200" y="47625"/>
                  </a:cubicBezTo>
                  <a:close/>
                </a:path>
              </a:pathLst>
            </a:custGeom>
            <a:solidFill>
              <a:srgbClr val="8A94A3"/>
            </a:solidFill>
            <a:ln>
              <a:noFill/>
            </a:ln>
          </p:spPr>
        </p:sp>
        <p:sp>
          <p:nvSpPr>
            <p:cNvPr id="87" name="Freeform 87"/>
            <p:cNvSpPr/>
            <p:nvPr/>
          </p:nvSpPr>
          <p:spPr>
            <a:xfrm>
              <a:off x="10287000" y="2800350"/>
              <a:ext cx="304800" cy="95250"/>
            </a:xfrm>
            <a:custGeom>
              <a:avLst/>
              <a:gdLst/>
              <a:ahLst/>
              <a:cxnLst/>
              <a:rect l="l" t="t" r="r" b="b"/>
              <a:pathLst>
                <a:path w="304800" h="95250">
                  <a:moveTo>
                    <a:pt x="304800" y="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304800" y="95250"/>
                  </a:lnTo>
                  <a:lnTo>
                    <a:pt x="304800" y="0"/>
                  </a:lnTo>
                  <a:close/>
                  <a:moveTo>
                    <a:pt x="57150" y="66675"/>
                  </a:moveTo>
                  <a:cubicBezTo>
                    <a:pt x="67671" y="66675"/>
                    <a:pt x="76200" y="58146"/>
                    <a:pt x="76200" y="47625"/>
                  </a:cubicBezTo>
                  <a:cubicBezTo>
                    <a:pt x="76200" y="37104"/>
                    <a:pt x="67671" y="28575"/>
                    <a:pt x="57150" y="28575"/>
                  </a:cubicBezTo>
                  <a:cubicBezTo>
                    <a:pt x="46629" y="28575"/>
                    <a:pt x="38100" y="37104"/>
                    <a:pt x="38100" y="47625"/>
                  </a:cubicBezTo>
                  <a:cubicBezTo>
                    <a:pt x="38100" y="58146"/>
                    <a:pt x="46629" y="66675"/>
                    <a:pt x="57150" y="66675"/>
                  </a:cubicBezTo>
                  <a:close/>
                </a:path>
              </a:pathLst>
            </a:custGeom>
            <a:solidFill>
              <a:srgbClr val="8A94A3"/>
            </a:solidFill>
            <a:ln>
              <a:noFill/>
            </a:ln>
          </p:spPr>
        </p:sp>
      </p:grpSp>
      <p:sp>
        <p:nvSpPr>
          <p:cNvPr id="89" name="TextBox 89"/>
          <p:cNvSpPr txBox="1"/>
          <p:nvPr/>
        </p:nvSpPr>
        <p:spPr>
          <a:xfrm>
            <a:off x="10234374" y="3372802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GPU 3</a:t>
            </a:r>
          </a:p>
        </p:txBody>
      </p:sp>
      <p:sp>
        <p:nvSpPr>
          <p:cNvPr id="90" name="Rectangle 90"/>
          <p:cNvSpPr/>
          <p:nvPr/>
        </p:nvSpPr>
        <p:spPr>
          <a:xfrm>
            <a:off x="7067550" y="3638550"/>
            <a:ext cx="800100" cy="80010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grpSp>
        <p:nvGrpSpPr>
          <p:cNvPr id="93" name="Group 93"/>
          <p:cNvGrpSpPr/>
          <p:nvPr/>
        </p:nvGrpSpPr>
        <p:grpSpPr>
          <a:xfrm>
            <a:off x="7315200" y="3848100"/>
            <a:ext cx="304800" cy="228600"/>
            <a:chOff x="7315200" y="3848100"/>
            <a:chExt cx="304800" cy="228600"/>
          </a:xfrm>
        </p:grpSpPr>
        <p:sp>
          <p:nvSpPr>
            <p:cNvPr id="91" name="Freeform 91"/>
            <p:cNvSpPr/>
            <p:nvPr/>
          </p:nvSpPr>
          <p:spPr>
            <a:xfrm>
              <a:off x="7315200" y="3848100"/>
              <a:ext cx="304800" cy="95250"/>
            </a:xfrm>
            <a:custGeom>
              <a:avLst/>
              <a:gdLst/>
              <a:ahLst/>
              <a:cxnLst/>
              <a:rect l="l" t="t" r="r" b="b"/>
              <a:pathLst>
                <a:path w="304800" h="95250">
                  <a:moveTo>
                    <a:pt x="304800" y="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304800" y="95250"/>
                  </a:lnTo>
                  <a:lnTo>
                    <a:pt x="304800" y="0"/>
                  </a:lnTo>
                  <a:close/>
                  <a:moveTo>
                    <a:pt x="76200" y="47625"/>
                  </a:moveTo>
                  <a:cubicBezTo>
                    <a:pt x="76200" y="58146"/>
                    <a:pt x="67671" y="66675"/>
                    <a:pt x="57150" y="66675"/>
                  </a:cubicBezTo>
                  <a:cubicBezTo>
                    <a:pt x="46629" y="66675"/>
                    <a:pt x="38100" y="58146"/>
                    <a:pt x="38100" y="47625"/>
                  </a:cubicBezTo>
                  <a:cubicBezTo>
                    <a:pt x="38100" y="37104"/>
                    <a:pt x="46629" y="28575"/>
                    <a:pt x="57150" y="28575"/>
                  </a:cubicBezTo>
                  <a:cubicBezTo>
                    <a:pt x="67671" y="28575"/>
                    <a:pt x="76200" y="37104"/>
                    <a:pt x="76200" y="47625"/>
                  </a:cubicBezTo>
                  <a:close/>
                </a:path>
              </a:pathLst>
            </a:custGeom>
            <a:solidFill>
              <a:srgbClr val="8A94A3"/>
            </a:solidFill>
            <a:ln>
              <a:noFill/>
            </a:ln>
          </p:spPr>
        </p:sp>
        <p:sp>
          <p:nvSpPr>
            <p:cNvPr id="92" name="Freeform 92"/>
            <p:cNvSpPr/>
            <p:nvPr/>
          </p:nvSpPr>
          <p:spPr>
            <a:xfrm>
              <a:off x="7315200" y="3981450"/>
              <a:ext cx="304800" cy="95250"/>
            </a:xfrm>
            <a:custGeom>
              <a:avLst/>
              <a:gdLst/>
              <a:ahLst/>
              <a:cxnLst/>
              <a:rect l="l" t="t" r="r" b="b"/>
              <a:pathLst>
                <a:path w="304800" h="95250">
                  <a:moveTo>
                    <a:pt x="304800" y="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304800" y="95250"/>
                  </a:lnTo>
                  <a:lnTo>
                    <a:pt x="304800" y="0"/>
                  </a:lnTo>
                  <a:close/>
                  <a:moveTo>
                    <a:pt x="57150" y="66675"/>
                  </a:moveTo>
                  <a:cubicBezTo>
                    <a:pt x="67671" y="66675"/>
                    <a:pt x="76200" y="58146"/>
                    <a:pt x="76200" y="47625"/>
                  </a:cubicBezTo>
                  <a:cubicBezTo>
                    <a:pt x="76200" y="37104"/>
                    <a:pt x="67671" y="28575"/>
                    <a:pt x="57150" y="28575"/>
                  </a:cubicBezTo>
                  <a:cubicBezTo>
                    <a:pt x="46629" y="28575"/>
                    <a:pt x="38100" y="37104"/>
                    <a:pt x="38100" y="47625"/>
                  </a:cubicBezTo>
                  <a:cubicBezTo>
                    <a:pt x="38100" y="58146"/>
                    <a:pt x="46629" y="66675"/>
                    <a:pt x="57150" y="66675"/>
                  </a:cubicBezTo>
                  <a:close/>
                </a:path>
              </a:pathLst>
            </a:custGeom>
            <a:solidFill>
              <a:srgbClr val="8A94A3"/>
            </a:solidFill>
            <a:ln>
              <a:noFill/>
            </a:ln>
          </p:spPr>
        </p:sp>
      </p:grpSp>
      <p:sp>
        <p:nvSpPr>
          <p:cNvPr id="94" name="TextBox 94"/>
          <p:cNvSpPr txBox="1"/>
          <p:nvPr/>
        </p:nvSpPr>
        <p:spPr>
          <a:xfrm>
            <a:off x="7262574" y="4553902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GPU 4</a:t>
            </a:r>
          </a:p>
        </p:txBody>
      </p:sp>
      <p:sp>
        <p:nvSpPr>
          <p:cNvPr id="95" name="Rectangle 95"/>
          <p:cNvSpPr/>
          <p:nvPr/>
        </p:nvSpPr>
        <p:spPr>
          <a:xfrm>
            <a:off x="10039350" y="3638550"/>
            <a:ext cx="800100" cy="80010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grpSp>
        <p:nvGrpSpPr>
          <p:cNvPr id="98" name="Group 98"/>
          <p:cNvGrpSpPr/>
          <p:nvPr/>
        </p:nvGrpSpPr>
        <p:grpSpPr>
          <a:xfrm>
            <a:off x="10287000" y="3848100"/>
            <a:ext cx="304800" cy="228600"/>
            <a:chOff x="10287000" y="3848100"/>
            <a:chExt cx="304800" cy="228600"/>
          </a:xfrm>
        </p:grpSpPr>
        <p:sp>
          <p:nvSpPr>
            <p:cNvPr id="96" name="Freeform 96"/>
            <p:cNvSpPr/>
            <p:nvPr/>
          </p:nvSpPr>
          <p:spPr>
            <a:xfrm>
              <a:off x="10287000" y="3848100"/>
              <a:ext cx="304800" cy="95250"/>
            </a:xfrm>
            <a:custGeom>
              <a:avLst/>
              <a:gdLst/>
              <a:ahLst/>
              <a:cxnLst/>
              <a:rect l="l" t="t" r="r" b="b"/>
              <a:pathLst>
                <a:path w="304800" h="95250">
                  <a:moveTo>
                    <a:pt x="304800" y="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304800" y="95250"/>
                  </a:lnTo>
                  <a:lnTo>
                    <a:pt x="304800" y="0"/>
                  </a:lnTo>
                  <a:close/>
                  <a:moveTo>
                    <a:pt x="76200" y="47625"/>
                  </a:moveTo>
                  <a:cubicBezTo>
                    <a:pt x="76200" y="58146"/>
                    <a:pt x="67671" y="66675"/>
                    <a:pt x="57150" y="66675"/>
                  </a:cubicBezTo>
                  <a:cubicBezTo>
                    <a:pt x="46629" y="66675"/>
                    <a:pt x="38100" y="58146"/>
                    <a:pt x="38100" y="47625"/>
                  </a:cubicBezTo>
                  <a:cubicBezTo>
                    <a:pt x="38100" y="37104"/>
                    <a:pt x="46629" y="28575"/>
                    <a:pt x="57150" y="28575"/>
                  </a:cubicBezTo>
                  <a:cubicBezTo>
                    <a:pt x="67671" y="28575"/>
                    <a:pt x="76200" y="37104"/>
                    <a:pt x="76200" y="47625"/>
                  </a:cubicBezTo>
                  <a:close/>
                </a:path>
              </a:pathLst>
            </a:custGeom>
            <a:solidFill>
              <a:srgbClr val="8A94A3"/>
            </a:solidFill>
            <a:ln>
              <a:noFill/>
            </a:ln>
          </p:spPr>
        </p:sp>
        <p:sp>
          <p:nvSpPr>
            <p:cNvPr id="97" name="Freeform 97"/>
            <p:cNvSpPr/>
            <p:nvPr/>
          </p:nvSpPr>
          <p:spPr>
            <a:xfrm>
              <a:off x="10287000" y="3981450"/>
              <a:ext cx="304800" cy="95250"/>
            </a:xfrm>
            <a:custGeom>
              <a:avLst/>
              <a:gdLst/>
              <a:ahLst/>
              <a:cxnLst/>
              <a:rect l="l" t="t" r="r" b="b"/>
              <a:pathLst>
                <a:path w="304800" h="95250">
                  <a:moveTo>
                    <a:pt x="304800" y="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304800" y="95250"/>
                  </a:lnTo>
                  <a:lnTo>
                    <a:pt x="304800" y="0"/>
                  </a:lnTo>
                  <a:close/>
                  <a:moveTo>
                    <a:pt x="57150" y="66675"/>
                  </a:moveTo>
                  <a:cubicBezTo>
                    <a:pt x="67671" y="66675"/>
                    <a:pt x="76200" y="58146"/>
                    <a:pt x="76200" y="47625"/>
                  </a:cubicBezTo>
                  <a:cubicBezTo>
                    <a:pt x="76200" y="37104"/>
                    <a:pt x="67671" y="28575"/>
                    <a:pt x="57150" y="28575"/>
                  </a:cubicBezTo>
                  <a:cubicBezTo>
                    <a:pt x="46629" y="28575"/>
                    <a:pt x="38100" y="37104"/>
                    <a:pt x="38100" y="47625"/>
                  </a:cubicBezTo>
                  <a:cubicBezTo>
                    <a:pt x="38100" y="58146"/>
                    <a:pt x="46629" y="66675"/>
                    <a:pt x="57150" y="66675"/>
                  </a:cubicBezTo>
                  <a:close/>
                </a:path>
              </a:pathLst>
            </a:custGeom>
            <a:solidFill>
              <a:srgbClr val="8A94A3"/>
            </a:solidFill>
            <a:ln>
              <a:noFill/>
            </a:ln>
          </p:spPr>
        </p:sp>
      </p:grpSp>
      <p:sp>
        <p:nvSpPr>
          <p:cNvPr id="99" name="TextBox 99"/>
          <p:cNvSpPr txBox="1"/>
          <p:nvPr/>
        </p:nvSpPr>
        <p:spPr>
          <a:xfrm>
            <a:off x="10234374" y="4553902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GPU 7</a:t>
            </a:r>
          </a:p>
        </p:txBody>
      </p:sp>
      <p:sp>
        <p:nvSpPr>
          <p:cNvPr id="100" name="Line 100"/>
          <p:cNvSpPr/>
          <p:nvPr/>
        </p:nvSpPr>
        <p:spPr>
          <a:xfrm>
            <a:off x="5619750" y="3581400"/>
            <a:ext cx="933450" cy="9525"/>
          </a:xfrm>
          <a:custGeom>
            <a:avLst/>
            <a:gdLst/>
            <a:ahLst/>
            <a:cxnLst/>
            <a:rect l="l" t="t" r="r" b="b"/>
            <a:pathLst>
              <a:path w="933450" h="9525">
                <a:moveTo>
                  <a:pt x="0" y="0"/>
                </a:moveTo>
                <a:lnTo>
                  <a:pt x="933450" y="0"/>
                </a:lnTo>
              </a:path>
            </a:pathLst>
          </a:custGeom>
          <a:noFill/>
          <a:ln w="57150">
            <a:solidFill>
              <a:srgbClr val="5B8DEF"/>
            </a:solidFill>
          </a:ln>
        </p:spPr>
      </p:sp>
      <p:sp>
        <p:nvSpPr>
          <p:cNvPr id="101" name="Polygon 101"/>
          <p:cNvSpPr/>
          <p:nvPr/>
        </p:nvSpPr>
        <p:spPr>
          <a:xfrm>
            <a:off x="6362700" y="3467100"/>
            <a:ext cx="190500" cy="228600"/>
          </a:xfrm>
          <a:custGeom>
            <a:avLst/>
            <a:gdLst/>
            <a:ahLst/>
            <a:cxnLst/>
            <a:rect l="l" t="t" r="r" b="b"/>
            <a:pathLst>
              <a:path w="190500" h="228600">
                <a:moveTo>
                  <a:pt x="190500" y="114300"/>
                </a:move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5B8DEF"/>
          </a:solidFill>
          <a:ln>
            <a:noFill/>
          </a:ln>
        </p:spPr>
      </p:sp>
      <p:sp>
        <p:nvSpPr>
          <p:cNvPr id="102" name="Rectangle 102"/>
          <p:cNvSpPr/>
          <p:nvPr/>
        </p:nvSpPr>
        <p:spPr>
          <a:xfrm>
            <a:off x="5105400" y="3162300"/>
            <a:ext cx="1047750" cy="266700"/>
          </a:xfrm>
          <a:prstGeom prst="rect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103" name="TextBox 103"/>
          <p:cNvSpPr txBox="1"/>
          <p:nvPr/>
        </p:nvSpPr>
        <p:spPr>
          <a:xfrm>
            <a:off x="5341810" y="3246120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导入过滤</a:t>
            </a:r>
          </a:p>
        </p:txBody>
      </p:sp>
      <p:sp>
        <p:nvSpPr>
          <p:cNvPr id="104" name="Rectangle 104"/>
          <p:cNvSpPr/>
          <p:nvPr/>
        </p:nvSpPr>
        <p:spPr>
          <a:xfrm>
            <a:off x="838200" y="5867400"/>
            <a:ext cx="10572750" cy="5143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105" name="Rectangle 105"/>
          <p:cNvSpPr/>
          <p:nvPr/>
        </p:nvSpPr>
        <p:spPr>
          <a:xfrm>
            <a:off x="800100" y="5810250"/>
            <a:ext cx="10572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106" name="Rectangle 106"/>
          <p:cNvSpPr/>
          <p:nvPr/>
        </p:nvSpPr>
        <p:spPr>
          <a:xfrm>
            <a:off x="800100" y="5810250"/>
            <a:ext cx="10572750" cy="5715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107" name="TextBox 107"/>
          <p:cNvSpPr txBox="1"/>
          <p:nvPr/>
        </p:nvSpPr>
        <p:spPr>
          <a:xfrm>
            <a:off x="1105852" y="5989796"/>
            <a:ext cx="6373487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好处：避免误操作、减少噪音、让责任边界和治理动作保持一致。</a:t>
            </a:r>
          </a:p>
        </p:txBody>
      </p:sp>
    </p:spTree>
  </p:cSld>
  <p:clrMapOvr>
    <a:masterClrMapping/>
  </p:clrMapOvr>
  <p:transition 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B8DEF">
                  <a:alpha val="8000"/>
                </a:srgbClr>
              </a:gs>
              <a:gs pos="100000">
                <a:srgbClr val="5B8D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7313A"/>
              </a:gs>
              <a:gs pos="100000">
                <a:srgbClr val="19A38C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05778" y="193834"/>
            <a:ext cx="4057745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已保存主机支持复用与恢复</a:t>
            </a:r>
          </a:p>
        </p:txBody>
      </p:sp>
      <p:sp>
        <p:nvSpPr>
          <p:cNvPr id="6" name="Rectangle 6"/>
          <p:cNvSpPr/>
          <p:nvPr/>
        </p:nvSpPr>
        <p:spPr>
          <a:xfrm>
            <a:off x="533400" y="609600"/>
            <a:ext cx="11125200" cy="41910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25805" y="730568"/>
            <a:ext cx="605874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成功接入过的目标机会被记住，后续用户可以直接“扫描并继续”。</a:t>
            </a:r>
          </a:p>
        </p:txBody>
      </p:sp>
      <p:sp>
        <p:nvSpPr>
          <p:cNvPr id="8" name="Line 8"/>
          <p:cNvSpPr/>
          <p:nvPr/>
        </p:nvSpPr>
        <p:spPr>
          <a:xfrm>
            <a:off x="0" y="66103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D8E0E8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371475" y="6691312"/>
            <a:ext cx="36776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Source: AI DataCenter repository and implemented product features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04886" y="6691312"/>
            <a:ext cx="258222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STRICTLY CONFIDENTIAL | AI DATACENTER SHOWCASE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08368" y="6691312"/>
            <a:ext cx="11215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sp>
        <p:nvSpPr>
          <p:cNvPr id="12" name="Rectangle 12"/>
          <p:cNvSpPr/>
          <p:nvPr/>
        </p:nvSpPr>
        <p:spPr>
          <a:xfrm>
            <a:off x="838200" y="1581150"/>
            <a:ext cx="4171950" cy="44577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800100" y="1524000"/>
            <a:ext cx="4171950" cy="445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800100" y="1524000"/>
            <a:ext cx="4171950" cy="5715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045845" y="1669732"/>
            <a:ext cx="181313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已保存主机列表</a:t>
            </a:r>
          </a:p>
        </p:txBody>
      </p:sp>
      <p:sp>
        <p:nvSpPr>
          <p:cNvPr id="16" name="Rectangle 16"/>
          <p:cNvSpPr/>
          <p:nvPr/>
        </p:nvSpPr>
        <p:spPr>
          <a:xfrm>
            <a:off x="1104900" y="2305050"/>
            <a:ext cx="3638550" cy="8572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1066800" y="2247900"/>
            <a:ext cx="3638550" cy="8572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1066800" y="2247900"/>
            <a:ext cx="3638550" cy="5715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259205" y="2426018"/>
            <a:ext cx="15973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实验室 A100 节点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63968" y="2695099"/>
            <a:ext cx="15341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dell@10.151.225.108:22</a:t>
            </a:r>
          </a:p>
        </p:txBody>
      </p:sp>
      <p:sp>
        <p:nvSpPr>
          <p:cNvPr id="21" name="Rectangle 21"/>
          <p:cNvSpPr/>
          <p:nvPr/>
        </p:nvSpPr>
        <p:spPr>
          <a:xfrm>
            <a:off x="3562350" y="2419350"/>
            <a:ext cx="914400" cy="26670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3701032" y="2503170"/>
            <a:ext cx="6370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SSH Linux</a:t>
            </a:r>
          </a:p>
        </p:txBody>
      </p:sp>
      <p:sp>
        <p:nvSpPr>
          <p:cNvPr id="23" name="Rectangle 23"/>
          <p:cNvSpPr/>
          <p:nvPr/>
        </p:nvSpPr>
        <p:spPr>
          <a:xfrm>
            <a:off x="1104900" y="3371850"/>
            <a:ext cx="3638550" cy="8572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1066800" y="3314700"/>
            <a:ext cx="3638550" cy="8572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1066800" y="3314700"/>
            <a:ext cx="3638550" cy="57150"/>
          </a:xfrm>
          <a:prstGeom prst="rect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259205" y="349281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远程采集节点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63968" y="3761899"/>
            <a:ext cx="16053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http://10.10.0.21:6123</a:t>
            </a:r>
          </a:p>
        </p:txBody>
      </p:sp>
      <p:sp>
        <p:nvSpPr>
          <p:cNvPr id="28" name="Rectangle 28"/>
          <p:cNvSpPr/>
          <p:nvPr/>
        </p:nvSpPr>
        <p:spPr>
          <a:xfrm>
            <a:off x="3562350" y="3486150"/>
            <a:ext cx="914400" cy="266700"/>
          </a:xfrm>
          <a:prstGeom prst="rect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3659626" y="3569970"/>
            <a:ext cx="71984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远程 Agent</a:t>
            </a:r>
          </a:p>
        </p:txBody>
      </p:sp>
      <p:sp>
        <p:nvSpPr>
          <p:cNvPr id="30" name="Rectangle 30"/>
          <p:cNvSpPr/>
          <p:nvPr/>
        </p:nvSpPr>
        <p:spPr>
          <a:xfrm>
            <a:off x="1104900" y="4438650"/>
            <a:ext cx="3638550" cy="8572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1066800" y="4381500"/>
            <a:ext cx="3638550" cy="8572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1066800" y="4381500"/>
            <a:ext cx="3638550" cy="57150"/>
          </a:xfrm>
          <a:prstGeom prst="rect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259205" y="455961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本机演示环境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63968" y="4828699"/>
            <a:ext cx="16409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http://127.0.0.1:62169</a:t>
            </a:r>
          </a:p>
        </p:txBody>
      </p:sp>
      <p:sp>
        <p:nvSpPr>
          <p:cNvPr id="35" name="Rectangle 35"/>
          <p:cNvSpPr/>
          <p:nvPr/>
        </p:nvSpPr>
        <p:spPr>
          <a:xfrm>
            <a:off x="3562350" y="4552950"/>
            <a:ext cx="914400" cy="266700"/>
          </a:xfrm>
          <a:prstGeom prst="rect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3659626" y="4636770"/>
            <a:ext cx="71984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本机 Agent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429250" y="1581150"/>
            <a:ext cx="5981700" cy="44577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5391150" y="1524000"/>
            <a:ext cx="5981700" cy="445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5391150" y="1524000"/>
            <a:ext cx="5981700" cy="57150"/>
          </a:xfrm>
          <a:prstGeom prst="rect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5636895" y="166973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复用链路</a:t>
            </a:r>
          </a:p>
        </p:txBody>
      </p:sp>
      <p:sp>
        <p:nvSpPr>
          <p:cNvPr id="41" name="Ellipse 41"/>
          <p:cNvSpPr/>
          <p:nvPr/>
        </p:nvSpPr>
        <p:spPr>
          <a:xfrm>
            <a:off x="6076950" y="2857500"/>
            <a:ext cx="838200" cy="838200"/>
          </a:xfrm>
          <a:prstGeom prst="ellipse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6421074" y="3126105"/>
            <a:ext cx="14995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296787" y="3794760"/>
            <a:ext cx="3985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选择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020752" y="4023360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已保存主机</a:t>
            </a:r>
          </a:p>
        </p:txBody>
      </p:sp>
      <p:sp>
        <p:nvSpPr>
          <p:cNvPr id="45" name="Ellipse 45"/>
          <p:cNvSpPr/>
          <p:nvPr/>
        </p:nvSpPr>
        <p:spPr>
          <a:xfrm>
            <a:off x="8020050" y="2857500"/>
            <a:ext cx="838200" cy="838200"/>
          </a:xfrm>
          <a:prstGeom prst="ellipse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8323919" y="3126105"/>
            <a:ext cx="23046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963852" y="3794760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扫描并继续</a:t>
            </a:r>
          </a:p>
        </p:txBody>
      </p:sp>
      <p:sp>
        <p:nvSpPr>
          <p:cNvPr id="48" name="Ellipse 48"/>
          <p:cNvSpPr/>
          <p:nvPr/>
        </p:nvSpPr>
        <p:spPr>
          <a:xfrm>
            <a:off x="9963150" y="2857500"/>
            <a:ext cx="838200" cy="838200"/>
          </a:xfrm>
          <a:prstGeom prst="ellipse">
            <a:avLst/>
          </a:prstGeom>
          <a:solidFill>
            <a:srgbClr val="1F9D68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10267019" y="3126105"/>
            <a:ext cx="23046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906953" y="3794760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保留绑定态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998964" y="402336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继续导入</a:t>
            </a:r>
          </a:p>
        </p:txBody>
      </p:sp>
      <p:sp>
        <p:nvSpPr>
          <p:cNvPr id="52" name="Line 52"/>
          <p:cNvSpPr/>
          <p:nvPr/>
        </p:nvSpPr>
        <p:spPr>
          <a:xfrm>
            <a:off x="6915150" y="3276600"/>
            <a:ext cx="1066800" cy="9525"/>
          </a:xfrm>
          <a:custGeom>
            <a:avLst/>
            <a:gdLst/>
            <a:ahLst/>
            <a:cxnLst/>
            <a:rect l="l" t="t" r="r" b="b"/>
            <a:pathLst>
              <a:path w="1066800" h="9525">
                <a:moveTo>
                  <a:pt x="0" y="0"/>
                </a:moveTo>
                <a:lnTo>
                  <a:pt x="1066800" y="0"/>
                </a:lnTo>
              </a:path>
            </a:pathLst>
          </a:custGeom>
          <a:noFill/>
          <a:ln w="47625">
            <a:solidFill>
              <a:srgbClr val="5B8DEF"/>
            </a:solidFill>
          </a:ln>
        </p:spPr>
      </p:sp>
      <p:sp>
        <p:nvSpPr>
          <p:cNvPr id="53" name="Polygon 53"/>
          <p:cNvSpPr/>
          <p:nvPr/>
        </p:nvSpPr>
        <p:spPr>
          <a:xfrm>
            <a:off x="7829550" y="3181350"/>
            <a:ext cx="152400" cy="190500"/>
          </a:xfrm>
          <a:custGeom>
            <a:avLst/>
            <a:gdLst/>
            <a:ahLst/>
            <a:cxnLst/>
            <a:rect l="l" t="t" r="r" b="b"/>
            <a:pathLst>
              <a:path w="152400" h="190500">
                <a:moveTo>
                  <a:pt x="152400" y="95250"/>
                </a:moveTo>
                <a:lnTo>
                  <a:pt x="0" y="0"/>
                </a:lnTo>
                <a:lnTo>
                  <a:pt x="0" y="190500"/>
                </a:lnTo>
                <a:close/>
              </a:path>
            </a:pathLst>
          </a:custGeom>
          <a:solidFill>
            <a:srgbClr val="5B8DEF"/>
          </a:solidFill>
          <a:ln>
            <a:noFill/>
          </a:ln>
        </p:spPr>
      </p:sp>
      <p:sp>
        <p:nvSpPr>
          <p:cNvPr id="54" name="Line 54"/>
          <p:cNvSpPr/>
          <p:nvPr/>
        </p:nvSpPr>
        <p:spPr>
          <a:xfrm>
            <a:off x="8858250" y="3276600"/>
            <a:ext cx="1066800" cy="9525"/>
          </a:xfrm>
          <a:custGeom>
            <a:avLst/>
            <a:gdLst/>
            <a:ahLst/>
            <a:cxnLst/>
            <a:rect l="l" t="t" r="r" b="b"/>
            <a:pathLst>
              <a:path w="1066800" h="9525">
                <a:moveTo>
                  <a:pt x="0" y="0"/>
                </a:moveTo>
                <a:lnTo>
                  <a:pt x="1066800" y="0"/>
                </a:lnTo>
              </a:path>
            </a:pathLst>
          </a:custGeom>
          <a:noFill/>
          <a:ln w="47625">
            <a:solidFill>
              <a:srgbClr val="5B8DEF"/>
            </a:solidFill>
          </a:ln>
        </p:spPr>
      </p:sp>
      <p:sp>
        <p:nvSpPr>
          <p:cNvPr id="55" name="Polygon 55"/>
          <p:cNvSpPr/>
          <p:nvPr/>
        </p:nvSpPr>
        <p:spPr>
          <a:xfrm>
            <a:off x="9772650" y="3181350"/>
            <a:ext cx="152400" cy="190500"/>
          </a:xfrm>
          <a:custGeom>
            <a:avLst/>
            <a:gdLst/>
            <a:ahLst/>
            <a:cxnLst/>
            <a:rect l="l" t="t" r="r" b="b"/>
            <a:pathLst>
              <a:path w="152400" h="190500">
                <a:moveTo>
                  <a:pt x="152400" y="95250"/>
                </a:moveTo>
                <a:lnTo>
                  <a:pt x="0" y="0"/>
                </a:lnTo>
                <a:lnTo>
                  <a:pt x="0" y="190500"/>
                </a:lnTo>
                <a:close/>
              </a:path>
            </a:pathLst>
          </a:custGeom>
          <a:solidFill>
            <a:srgbClr val="5B8DEF"/>
          </a:solidFill>
          <a:ln>
            <a:noFill/>
          </a:ln>
        </p:spPr>
      </p:sp>
      <p:sp>
        <p:nvSpPr>
          <p:cNvPr id="56" name="Rectangle 56"/>
          <p:cNvSpPr/>
          <p:nvPr/>
        </p:nvSpPr>
        <p:spPr>
          <a:xfrm>
            <a:off x="5810250" y="4819650"/>
            <a:ext cx="5219700" cy="8382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57" name="Rectangle 57"/>
          <p:cNvSpPr/>
          <p:nvPr/>
        </p:nvSpPr>
        <p:spPr>
          <a:xfrm>
            <a:off x="5772150" y="4762500"/>
            <a:ext cx="5219700" cy="83820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58" name="Rectangle 58"/>
          <p:cNvSpPr/>
          <p:nvPr/>
        </p:nvSpPr>
        <p:spPr>
          <a:xfrm>
            <a:off x="5772150" y="4762500"/>
            <a:ext cx="5219700" cy="5715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59" name="Freeform 59"/>
          <p:cNvSpPr/>
          <p:nvPr/>
        </p:nvSpPr>
        <p:spPr>
          <a:xfrm>
            <a:off x="6048375" y="50101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8575" y="85725"/>
                </a:moveTo>
                <a:lnTo>
                  <a:pt x="28575" y="57150"/>
                </a:lnTo>
                <a:cubicBezTo>
                  <a:pt x="28575" y="25587"/>
                  <a:pt x="54162" y="0"/>
                  <a:pt x="85725" y="0"/>
                </a:cubicBezTo>
                <a:cubicBezTo>
                  <a:pt x="117288" y="0"/>
                  <a:pt x="142875" y="25587"/>
                  <a:pt x="142875" y="57150"/>
                </a:cubicBezTo>
                <a:lnTo>
                  <a:pt x="142875" y="85725"/>
                </a:lnTo>
                <a:lnTo>
                  <a:pt x="171450" y="85725"/>
                </a:lnTo>
                <a:lnTo>
                  <a:pt x="171450" y="228600"/>
                </a:lnTo>
                <a:lnTo>
                  <a:pt x="0" y="228600"/>
                </a:lnTo>
                <a:lnTo>
                  <a:pt x="0" y="85725"/>
                </a:lnTo>
                <a:lnTo>
                  <a:pt x="28575" y="85725"/>
                </a:lnTo>
                <a:close/>
                <a:moveTo>
                  <a:pt x="57150" y="57150"/>
                </a:moveTo>
                <a:cubicBezTo>
                  <a:pt x="57150" y="41368"/>
                  <a:pt x="69943" y="28575"/>
                  <a:pt x="85725" y="28575"/>
                </a:cubicBezTo>
                <a:cubicBezTo>
                  <a:pt x="101507" y="28575"/>
                  <a:pt x="114300" y="41368"/>
                  <a:pt x="114300" y="57150"/>
                </a:cubicBezTo>
                <a:lnTo>
                  <a:pt x="114300" y="85725"/>
                </a:lnTo>
                <a:lnTo>
                  <a:pt x="57150" y="85725"/>
                </a:lnTo>
                <a:lnTo>
                  <a:pt x="57150" y="57150"/>
                </a:lnTo>
                <a:close/>
                <a:moveTo>
                  <a:pt x="71438" y="185738"/>
                </a:moveTo>
                <a:lnTo>
                  <a:pt x="71438" y="128588"/>
                </a:lnTo>
                <a:lnTo>
                  <a:pt x="100012" y="128588"/>
                </a:lnTo>
                <a:lnTo>
                  <a:pt x="100012" y="185738"/>
                </a:lnTo>
                <a:lnTo>
                  <a:pt x="71438" y="185738"/>
                </a:lnTo>
                <a:close/>
              </a:path>
            </a:pathLst>
          </a:custGeom>
          <a:solidFill>
            <a:srgbClr val="17313A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6367462" y="4907756"/>
            <a:ext cx="430053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凭据不会明文保存；主密钥可用时，系统会自动解密复用，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367462" y="5136356"/>
            <a:ext cx="34790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主密钥失效或凭据异常时则显式提示用户补录。</a:t>
            </a:r>
          </a:p>
        </p:txBody>
      </p:sp>
    </p:spTree>
  </p:cSld>
  <p:clrMapOvr>
    <a:masterClrMapping/>
  </p:clrMapOvr>
  <p:transition 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B8DEF">
                  <a:alpha val="8000"/>
                </a:srgbClr>
              </a:gs>
              <a:gs pos="100000">
                <a:srgbClr val="5B8D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7313A"/>
              </a:gs>
              <a:gs pos="100000">
                <a:srgbClr val="19A38C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05778" y="193834"/>
            <a:ext cx="4057745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控制台只保留治理相关能力</a:t>
            </a:r>
          </a:p>
        </p:txBody>
      </p:sp>
      <p:sp>
        <p:nvSpPr>
          <p:cNvPr id="6" name="Rectangle 6"/>
          <p:cNvSpPr/>
          <p:nvPr/>
        </p:nvSpPr>
        <p:spPr>
          <a:xfrm>
            <a:off x="533400" y="609600"/>
            <a:ext cx="11125200" cy="41910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25805" y="730568"/>
            <a:ext cx="66591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连接逻辑已经在导入层完成收束，因此控制台可以聚焦治理与监控本身。</a:t>
            </a:r>
          </a:p>
        </p:txBody>
      </p:sp>
      <p:sp>
        <p:nvSpPr>
          <p:cNvPr id="8" name="Line 8"/>
          <p:cNvSpPr/>
          <p:nvPr/>
        </p:nvSpPr>
        <p:spPr>
          <a:xfrm>
            <a:off x="0" y="66103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D8E0E8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371475" y="6691312"/>
            <a:ext cx="36776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Source: AI DataCenter repository and implemented product features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04886" y="6691312"/>
            <a:ext cx="258222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STRICTLY CONFIDENTIAL | AI DATACENTER SHOWCASE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08368" y="6691312"/>
            <a:ext cx="11215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66750" y="1466850"/>
            <a:ext cx="10934700" cy="46672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628650" y="1409700"/>
            <a:ext cx="10934700" cy="4667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628650" y="1409700"/>
            <a:ext cx="10934700" cy="323850"/>
          </a:xfrm>
          <a:prstGeom prst="rect">
            <a:avLst/>
          </a:prstGeom>
          <a:solidFill>
            <a:srgbClr val="EDF2F6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752475" y="1524000"/>
            <a:ext cx="95250" cy="95250"/>
          </a:xfrm>
          <a:prstGeom prst="ellipse">
            <a:avLst/>
          </a:prstGeom>
          <a:solidFill>
            <a:srgbClr val="D9485F"/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904875" y="1524000"/>
            <a:ext cx="95250" cy="952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1057275" y="1524000"/>
            <a:ext cx="95250" cy="95250"/>
          </a:xfrm>
          <a:prstGeom prst="ellipse">
            <a:avLst/>
          </a:prstGeom>
          <a:solidFill>
            <a:srgbClr val="1F9D68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360170" y="1522095"/>
            <a:ext cx="14096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AI DataCenter Console</a:t>
            </a:r>
          </a:p>
        </p:txBody>
      </p:sp>
      <p:sp>
        <p:nvSpPr>
          <p:cNvPr id="19" name="Rectangle 19"/>
          <p:cNvSpPr/>
          <p:nvPr/>
        </p:nvSpPr>
        <p:spPr>
          <a:xfrm>
            <a:off x="952500" y="1790700"/>
            <a:ext cx="2000250" cy="3924300"/>
          </a:xfrm>
          <a:prstGeom prst="rect">
            <a:avLst/>
          </a:prstGeom>
          <a:solidFill>
            <a:srgbClr val="F1F5F9"/>
          </a:solidFill>
          <a:ln w="9525">
            <a:solidFill>
              <a:srgbClr val="D8E0E8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1179195" y="1917382"/>
            <a:ext cx="145888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Console Rail</a:t>
            </a:r>
          </a:p>
        </p:txBody>
      </p:sp>
      <p:sp>
        <p:nvSpPr>
          <p:cNvPr id="21" name="Rectangle 21"/>
          <p:cNvSpPr/>
          <p:nvPr/>
        </p:nvSpPr>
        <p:spPr>
          <a:xfrm>
            <a:off x="1162050" y="2419350"/>
            <a:ext cx="15811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1319212" y="2536031"/>
            <a:ext cx="88255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Dashboard</a:t>
            </a:r>
          </a:p>
        </p:txBody>
      </p:sp>
      <p:sp>
        <p:nvSpPr>
          <p:cNvPr id="23" name="Rectangle 23"/>
          <p:cNvSpPr/>
          <p:nvPr/>
        </p:nvSpPr>
        <p:spPr>
          <a:xfrm>
            <a:off x="1162050" y="2933700"/>
            <a:ext cx="15811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1319212" y="3050381"/>
            <a:ext cx="124444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Monitor Center</a:t>
            </a:r>
          </a:p>
        </p:txBody>
      </p:sp>
      <p:sp>
        <p:nvSpPr>
          <p:cNvPr id="25" name="Rectangle 25"/>
          <p:cNvSpPr/>
          <p:nvPr/>
        </p:nvSpPr>
        <p:spPr>
          <a:xfrm>
            <a:off x="1162050" y="3448050"/>
            <a:ext cx="15811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319212" y="3564731"/>
            <a:ext cx="11047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Task Manager</a:t>
            </a:r>
          </a:p>
        </p:txBody>
      </p:sp>
      <p:sp>
        <p:nvSpPr>
          <p:cNvPr id="27" name="Rectangle 27"/>
          <p:cNvSpPr/>
          <p:nvPr/>
        </p:nvSpPr>
        <p:spPr>
          <a:xfrm>
            <a:off x="1162050" y="3962400"/>
            <a:ext cx="15811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1319212" y="4079081"/>
            <a:ext cx="103084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Alert Center</a:t>
            </a:r>
          </a:p>
        </p:txBody>
      </p:sp>
      <p:sp>
        <p:nvSpPr>
          <p:cNvPr id="29" name="Rectangle 29"/>
          <p:cNvSpPr/>
          <p:nvPr/>
        </p:nvSpPr>
        <p:spPr>
          <a:xfrm>
            <a:off x="1162050" y="4476750"/>
            <a:ext cx="15811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1319212" y="4593431"/>
            <a:ext cx="80081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Scheduler</a:t>
            </a:r>
          </a:p>
        </p:txBody>
      </p:sp>
      <p:sp>
        <p:nvSpPr>
          <p:cNvPr id="31" name="Rectangle 31"/>
          <p:cNvSpPr/>
          <p:nvPr/>
        </p:nvSpPr>
        <p:spPr>
          <a:xfrm>
            <a:off x="1162050" y="4991100"/>
            <a:ext cx="15811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1319212" y="5107781"/>
            <a:ext cx="98976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AI Assistant</a:t>
            </a:r>
          </a:p>
        </p:txBody>
      </p:sp>
      <p:sp>
        <p:nvSpPr>
          <p:cNvPr id="33" name="Rectangle 33"/>
          <p:cNvSpPr/>
          <p:nvPr/>
        </p:nvSpPr>
        <p:spPr>
          <a:xfrm>
            <a:off x="3200400" y="1790700"/>
            <a:ext cx="80391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3448050" y="2019300"/>
            <a:ext cx="1714500" cy="4953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3409950" y="1962150"/>
            <a:ext cx="17145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3409950" y="1962150"/>
            <a:ext cx="1714500" cy="57150"/>
          </a:xfrm>
          <a:prstGeom prst="rect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3570922" y="2139791"/>
            <a:ext cx="6472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已导入 GPU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549015" y="2372678"/>
            <a:ext cx="279847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9A38C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569970" y="2779395"/>
            <a:ext cx="9298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current scope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353050" y="2019300"/>
            <a:ext cx="1714500" cy="4953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5314950" y="1962150"/>
            <a:ext cx="17145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42" name="Rectangle 42"/>
          <p:cNvSpPr/>
          <p:nvPr/>
        </p:nvSpPr>
        <p:spPr>
          <a:xfrm>
            <a:off x="5314950" y="1962150"/>
            <a:ext cx="1714500" cy="5715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5475922" y="2139791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运行任务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454015" y="2372678"/>
            <a:ext cx="279847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474970" y="2779395"/>
            <a:ext cx="12255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training processes</a:t>
            </a:r>
          </a:p>
        </p:txBody>
      </p:sp>
      <p:sp>
        <p:nvSpPr>
          <p:cNvPr id="46" name="Rectangle 46"/>
          <p:cNvSpPr/>
          <p:nvPr/>
        </p:nvSpPr>
        <p:spPr>
          <a:xfrm>
            <a:off x="7258050" y="2019300"/>
            <a:ext cx="1714500" cy="4953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47" name="Rectangle 47"/>
          <p:cNvSpPr/>
          <p:nvPr/>
        </p:nvSpPr>
        <p:spPr>
          <a:xfrm>
            <a:off x="7219950" y="1962150"/>
            <a:ext cx="17145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7219950" y="1962150"/>
            <a:ext cx="1714500" cy="57150"/>
          </a:xfrm>
          <a:prstGeom prst="rect">
            <a:avLst/>
          </a:prstGeom>
          <a:solidFill>
            <a:srgbClr val="D9485F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7380922" y="2139791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活跃告警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359015" y="2372678"/>
            <a:ext cx="279847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D9485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379970" y="2779395"/>
            <a:ext cx="7523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need action</a:t>
            </a:r>
          </a:p>
        </p:txBody>
      </p:sp>
      <p:sp>
        <p:nvSpPr>
          <p:cNvPr id="52" name="Rectangle 52"/>
          <p:cNvSpPr/>
          <p:nvPr/>
        </p:nvSpPr>
        <p:spPr>
          <a:xfrm>
            <a:off x="9163050" y="2019300"/>
            <a:ext cx="1714500" cy="4953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53" name="Rectangle 53"/>
          <p:cNvSpPr/>
          <p:nvPr/>
        </p:nvSpPr>
        <p:spPr>
          <a:xfrm>
            <a:off x="9124950" y="1962150"/>
            <a:ext cx="17145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54" name="Rectangle 54"/>
          <p:cNvSpPr/>
          <p:nvPr/>
        </p:nvSpPr>
        <p:spPr>
          <a:xfrm>
            <a:off x="9124950" y="1962150"/>
            <a:ext cx="1714500" cy="57150"/>
          </a:xfrm>
          <a:prstGeom prst="rect">
            <a:avLst/>
          </a:prstGeom>
          <a:solidFill>
            <a:srgbClr val="1F9D68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9285922" y="2139791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调度状态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264015" y="2372678"/>
            <a:ext cx="57313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F9D68"/>
                </a:solidFill>
                <a:latin typeface="Arial"/>
                <a:ea typeface="Microsoft YaHei"/>
                <a:cs typeface="Arial"/>
              </a:rPr>
              <a:t>OK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284970" y="2779395"/>
            <a:ext cx="115328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scheduler healthy</a:t>
            </a:r>
          </a:p>
        </p:txBody>
      </p:sp>
      <p:sp>
        <p:nvSpPr>
          <p:cNvPr id="58" name="Rectangle 58"/>
          <p:cNvSpPr/>
          <p:nvPr/>
        </p:nvSpPr>
        <p:spPr>
          <a:xfrm>
            <a:off x="3238500" y="2895600"/>
            <a:ext cx="5105400" cy="28765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59" name="Rectangle 59"/>
          <p:cNvSpPr/>
          <p:nvPr/>
        </p:nvSpPr>
        <p:spPr>
          <a:xfrm>
            <a:off x="3200400" y="2838450"/>
            <a:ext cx="5105400" cy="2876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60" name="Rectangle 60"/>
          <p:cNvSpPr/>
          <p:nvPr/>
        </p:nvSpPr>
        <p:spPr>
          <a:xfrm>
            <a:off x="3200400" y="2838450"/>
            <a:ext cx="5105400" cy="57150"/>
          </a:xfrm>
          <a:prstGeom prst="rect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3446145" y="29841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主监控区</a:t>
            </a:r>
          </a:p>
        </p:txBody>
      </p:sp>
      <p:sp>
        <p:nvSpPr>
          <p:cNvPr id="62" name="Rectangle 62"/>
          <p:cNvSpPr/>
          <p:nvPr/>
        </p:nvSpPr>
        <p:spPr>
          <a:xfrm>
            <a:off x="3467100" y="3390900"/>
            <a:ext cx="4572000" cy="80010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63" name="Line 63"/>
          <p:cNvSpPr/>
          <p:nvPr/>
        </p:nvSpPr>
        <p:spPr>
          <a:xfrm>
            <a:off x="3733800" y="3981450"/>
            <a:ext cx="4076700" cy="9525"/>
          </a:xfrm>
          <a:custGeom>
            <a:avLst/>
            <a:gdLst/>
            <a:ahLst/>
            <a:cxnLst/>
            <a:rect l="l" t="t" r="r" b="b"/>
            <a:pathLst>
              <a:path w="4076700" h="9525">
                <a:moveTo>
                  <a:pt x="0" y="0"/>
                </a:moveTo>
                <a:lnTo>
                  <a:pt x="4076700" y="0"/>
                </a:lnTo>
              </a:path>
            </a:pathLst>
          </a:custGeom>
          <a:noFill/>
          <a:ln w="38100">
            <a:solidFill>
              <a:srgbClr val="5B8DEF"/>
            </a:solidFill>
          </a:ln>
        </p:spPr>
      </p:sp>
      <p:sp>
        <p:nvSpPr>
          <p:cNvPr id="64" name="Polygon 64"/>
          <p:cNvSpPr/>
          <p:nvPr/>
        </p:nvSpPr>
        <p:spPr>
          <a:xfrm>
            <a:off x="7658100" y="3867150"/>
            <a:ext cx="152400" cy="228600"/>
          </a:xfrm>
          <a:custGeom>
            <a:avLst/>
            <a:gdLst/>
            <a:ahLst/>
            <a:cxnLst/>
            <a:rect l="l" t="t" r="r" b="b"/>
            <a:pathLst>
              <a:path w="152400" h="228600">
                <a:moveTo>
                  <a:pt x="152400" y="114300"/>
                </a:move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5B8DEF"/>
          </a:solidFill>
          <a:ln>
            <a:noFill/>
          </a:ln>
        </p:spPr>
      </p:sp>
      <p:sp>
        <p:nvSpPr>
          <p:cNvPr id="65" name="Ellipse 65"/>
          <p:cNvSpPr/>
          <p:nvPr/>
        </p:nvSpPr>
        <p:spPr>
          <a:xfrm>
            <a:off x="4572000" y="3905250"/>
            <a:ext cx="152400" cy="15240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66" name="Ellipse 66"/>
          <p:cNvSpPr/>
          <p:nvPr/>
        </p:nvSpPr>
        <p:spPr>
          <a:xfrm>
            <a:off x="5657850" y="3676650"/>
            <a:ext cx="152400" cy="15240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67" name="Ellipse 67"/>
          <p:cNvSpPr/>
          <p:nvPr/>
        </p:nvSpPr>
        <p:spPr>
          <a:xfrm>
            <a:off x="6686550" y="4038600"/>
            <a:ext cx="152400" cy="15240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3451860" y="4385310"/>
            <a:ext cx="320268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控制台只消费过滤后的 GPU / 进程数据，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3451860" y="4652010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而不再承担接入来源切换逻辑。</a:t>
            </a:r>
          </a:p>
        </p:txBody>
      </p:sp>
      <p:sp>
        <p:nvSpPr>
          <p:cNvPr id="70" name="Rectangle 70"/>
          <p:cNvSpPr/>
          <p:nvPr/>
        </p:nvSpPr>
        <p:spPr>
          <a:xfrm>
            <a:off x="8515350" y="2895600"/>
            <a:ext cx="2762250" cy="28765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71" name="Rectangle 71"/>
          <p:cNvSpPr/>
          <p:nvPr/>
        </p:nvSpPr>
        <p:spPr>
          <a:xfrm>
            <a:off x="8477250" y="2838450"/>
            <a:ext cx="2762250" cy="2876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72" name="Rectangle 72"/>
          <p:cNvSpPr/>
          <p:nvPr/>
        </p:nvSpPr>
        <p:spPr>
          <a:xfrm>
            <a:off x="8477250" y="2838450"/>
            <a:ext cx="2762250" cy="5715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73" name="TextBox 73"/>
          <p:cNvSpPr txBox="1"/>
          <p:nvPr/>
        </p:nvSpPr>
        <p:spPr>
          <a:xfrm>
            <a:off x="8722995" y="2984182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辅助工作区</a:t>
            </a:r>
          </a:p>
        </p:txBody>
      </p:sp>
      <p:sp>
        <p:nvSpPr>
          <p:cNvPr id="74" name="Ellipse 74"/>
          <p:cNvSpPr/>
          <p:nvPr/>
        </p:nvSpPr>
        <p:spPr>
          <a:xfrm>
            <a:off x="8810625" y="3514725"/>
            <a:ext cx="95250" cy="95250"/>
          </a:xfrm>
          <a:prstGeom prst="ellipse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75" name="TextBox 75"/>
          <p:cNvSpPr txBox="1"/>
          <p:nvPr/>
        </p:nvSpPr>
        <p:spPr>
          <a:xfrm>
            <a:off x="8995410" y="3489960"/>
            <a:ext cx="17830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左侧入口聚焦模块导航</a:t>
            </a:r>
          </a:p>
        </p:txBody>
      </p:sp>
      <p:sp>
        <p:nvSpPr>
          <p:cNvPr id="76" name="Ellipse 76"/>
          <p:cNvSpPr/>
          <p:nvPr/>
        </p:nvSpPr>
        <p:spPr>
          <a:xfrm>
            <a:off x="8810625" y="3876675"/>
            <a:ext cx="95250" cy="95250"/>
          </a:xfrm>
          <a:prstGeom prst="ellipse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8995410" y="3851910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中间主区承担核心工作流</a:t>
            </a:r>
          </a:p>
        </p:txBody>
      </p:sp>
      <p:sp>
        <p:nvSpPr>
          <p:cNvPr id="78" name="Ellipse 78"/>
          <p:cNvSpPr/>
          <p:nvPr/>
        </p:nvSpPr>
        <p:spPr>
          <a:xfrm>
            <a:off x="8810625" y="4238625"/>
            <a:ext cx="95250" cy="95250"/>
          </a:xfrm>
          <a:prstGeom prst="ellipse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79" name="TextBox 79"/>
          <p:cNvSpPr txBox="1"/>
          <p:nvPr/>
        </p:nvSpPr>
        <p:spPr>
          <a:xfrm>
            <a:off x="8995410" y="4213860"/>
            <a:ext cx="2308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右侧区域承载摘要和状态说明</a:t>
            </a:r>
          </a:p>
        </p:txBody>
      </p:sp>
    </p:spTree>
  </p:cSld>
  <p:clrMapOvr>
    <a:masterClrMapping/>
  </p:clrMapOvr>
  <p:transition 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B8DEF">
                  <a:alpha val="8000"/>
                </a:srgbClr>
              </a:gs>
              <a:gs pos="100000">
                <a:srgbClr val="5B8D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7313A"/>
              </a:gs>
              <a:gs pos="100000">
                <a:srgbClr val="19A38C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05778" y="193834"/>
            <a:ext cx="3724204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监控与治理形成操作闭环</a:t>
            </a:r>
          </a:p>
        </p:txBody>
      </p:sp>
      <p:sp>
        <p:nvSpPr>
          <p:cNvPr id="6" name="Rectangle 6"/>
          <p:cNvSpPr/>
          <p:nvPr/>
        </p:nvSpPr>
        <p:spPr>
          <a:xfrm>
            <a:off x="533400" y="609600"/>
            <a:ext cx="11125200" cy="41910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25805" y="730568"/>
            <a:ext cx="68661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从发现问题到执行动作再到观察结果，用户不必在多套工具之间来回切换。</a:t>
            </a:r>
          </a:p>
        </p:txBody>
      </p:sp>
      <p:sp>
        <p:nvSpPr>
          <p:cNvPr id="8" name="Line 8"/>
          <p:cNvSpPr/>
          <p:nvPr/>
        </p:nvSpPr>
        <p:spPr>
          <a:xfrm>
            <a:off x="0" y="66103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D8E0E8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371475" y="6691312"/>
            <a:ext cx="36776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Source: AI DataCenter repository and implemented product features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04886" y="6691312"/>
            <a:ext cx="258222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STRICTLY CONFIDENTIAL | AI DATACENTER SHOWCASE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08368" y="6691312"/>
            <a:ext cx="11215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sp>
        <p:nvSpPr>
          <p:cNvPr id="12" name="Rectangle 12"/>
          <p:cNvSpPr/>
          <p:nvPr/>
        </p:nvSpPr>
        <p:spPr>
          <a:xfrm>
            <a:off x="838200" y="1638300"/>
            <a:ext cx="3086100" cy="40576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800100" y="1581150"/>
            <a:ext cx="3086100" cy="40576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800100" y="1581150"/>
            <a:ext cx="3086100" cy="57150"/>
          </a:xfrm>
          <a:prstGeom prst="rect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4591050" y="1638300"/>
            <a:ext cx="3086100" cy="40576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4552950" y="1581150"/>
            <a:ext cx="3086100" cy="40576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552950" y="1581150"/>
            <a:ext cx="3086100" cy="57150"/>
          </a:xfrm>
          <a:prstGeom prst="rect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8343900" y="1638300"/>
            <a:ext cx="3086100" cy="40576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8305800" y="1581150"/>
            <a:ext cx="3086100" cy="40576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8305800" y="1581150"/>
            <a:ext cx="3086100" cy="5715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045845" y="1707832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监控侧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798695" y="1707832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决策与动作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551545" y="170783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治理结果</a:t>
            </a:r>
          </a:p>
        </p:txBody>
      </p:sp>
      <p:sp>
        <p:nvSpPr>
          <p:cNvPr id="24" name="Ellipse 24"/>
          <p:cNvSpPr/>
          <p:nvPr/>
        </p:nvSpPr>
        <p:spPr>
          <a:xfrm>
            <a:off x="1133475" y="2257425"/>
            <a:ext cx="95250" cy="9525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318260" y="2232660"/>
            <a:ext cx="200215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GPU 温度 / 功耗 / 利用率</a:t>
            </a:r>
          </a:p>
        </p:txBody>
      </p:sp>
      <p:sp>
        <p:nvSpPr>
          <p:cNvPr id="26" name="Ellipse 26"/>
          <p:cNvSpPr/>
          <p:nvPr/>
        </p:nvSpPr>
        <p:spPr>
          <a:xfrm>
            <a:off x="1133475" y="2638425"/>
            <a:ext cx="95250" cy="9525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318260" y="2613660"/>
            <a:ext cx="17743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CPU / 内存 / 进程状态</a:t>
            </a:r>
          </a:p>
        </p:txBody>
      </p:sp>
      <p:sp>
        <p:nvSpPr>
          <p:cNvPr id="28" name="Ellipse 28"/>
          <p:cNvSpPr/>
          <p:nvPr/>
        </p:nvSpPr>
        <p:spPr>
          <a:xfrm>
            <a:off x="1133475" y="3019425"/>
            <a:ext cx="95250" cy="9525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318260" y="299466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告警与任务变化</a:t>
            </a:r>
          </a:p>
        </p:txBody>
      </p:sp>
      <p:sp>
        <p:nvSpPr>
          <p:cNvPr id="30" name="Ellipse 30"/>
          <p:cNvSpPr/>
          <p:nvPr/>
        </p:nvSpPr>
        <p:spPr>
          <a:xfrm>
            <a:off x="4886325" y="2257425"/>
            <a:ext cx="95250" cy="95250"/>
          </a:xfrm>
          <a:prstGeom prst="ellipse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5071110" y="2232660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设置功耗限制</a:t>
            </a:r>
          </a:p>
        </p:txBody>
      </p:sp>
      <p:sp>
        <p:nvSpPr>
          <p:cNvPr id="32" name="Ellipse 32"/>
          <p:cNvSpPr/>
          <p:nvPr/>
        </p:nvSpPr>
        <p:spPr>
          <a:xfrm>
            <a:off x="4886325" y="2638425"/>
            <a:ext cx="95250" cy="95250"/>
          </a:xfrm>
          <a:prstGeom prst="ellipse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5071110" y="2613660"/>
            <a:ext cx="183565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暂停 / 恢复 / 终止任务</a:t>
            </a:r>
          </a:p>
        </p:txBody>
      </p:sp>
      <p:sp>
        <p:nvSpPr>
          <p:cNvPr id="34" name="Ellipse 34"/>
          <p:cNvSpPr/>
          <p:nvPr/>
        </p:nvSpPr>
        <p:spPr>
          <a:xfrm>
            <a:off x="4886325" y="3019425"/>
            <a:ext cx="95250" cy="95250"/>
          </a:xfrm>
          <a:prstGeom prst="ellipse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5071110" y="2994660"/>
            <a:ext cx="1607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进入调度与策略判断</a:t>
            </a:r>
          </a:p>
        </p:txBody>
      </p:sp>
      <p:sp>
        <p:nvSpPr>
          <p:cNvPr id="36" name="Ellipse 36"/>
          <p:cNvSpPr/>
          <p:nvPr/>
        </p:nvSpPr>
        <p:spPr>
          <a:xfrm>
            <a:off x="8639175" y="2257425"/>
            <a:ext cx="95250" cy="95250"/>
          </a:xfrm>
          <a:prstGeom prst="ellipse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8823960" y="2232660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状态立即回流到监控视图</a:t>
            </a:r>
          </a:p>
        </p:txBody>
      </p:sp>
      <p:sp>
        <p:nvSpPr>
          <p:cNvPr id="38" name="Ellipse 38"/>
          <p:cNvSpPr/>
          <p:nvPr/>
        </p:nvSpPr>
        <p:spPr>
          <a:xfrm>
            <a:off x="8639175" y="2638425"/>
            <a:ext cx="95250" cy="95250"/>
          </a:xfrm>
          <a:prstGeom prst="ellipse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8823960" y="2613660"/>
            <a:ext cx="2133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新的告警和任务状态被记录</a:t>
            </a:r>
          </a:p>
        </p:txBody>
      </p:sp>
      <p:sp>
        <p:nvSpPr>
          <p:cNvPr id="40" name="Ellipse 40"/>
          <p:cNvSpPr/>
          <p:nvPr/>
        </p:nvSpPr>
        <p:spPr>
          <a:xfrm>
            <a:off x="8639175" y="3019425"/>
            <a:ext cx="95250" cy="95250"/>
          </a:xfrm>
          <a:prstGeom prst="ellipse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8823960" y="2994660"/>
            <a:ext cx="257175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形成“发现 -&gt; 动作 -&gt; 复盘”闭环</a:t>
            </a:r>
          </a:p>
        </p:txBody>
      </p:sp>
      <p:sp>
        <p:nvSpPr>
          <p:cNvPr id="42" name="Ellipse 42"/>
          <p:cNvSpPr/>
          <p:nvPr/>
        </p:nvSpPr>
        <p:spPr>
          <a:xfrm>
            <a:off x="5429250" y="3581400"/>
            <a:ext cx="1333500" cy="1333500"/>
          </a:xfrm>
          <a:prstGeom prst="ellipse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5822013" y="3917632"/>
            <a:ext cx="54797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监控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822013" y="4184332"/>
            <a:ext cx="54797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治理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822013" y="4451032"/>
            <a:ext cx="54797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复盘</a:t>
            </a:r>
          </a:p>
        </p:txBody>
      </p:sp>
      <p:sp>
        <p:nvSpPr>
          <p:cNvPr id="46" name="Line 46"/>
          <p:cNvSpPr/>
          <p:nvPr/>
        </p:nvSpPr>
        <p:spPr>
          <a:xfrm>
            <a:off x="3886200" y="3619500"/>
            <a:ext cx="666750" cy="9525"/>
          </a:xfrm>
          <a:custGeom>
            <a:avLst/>
            <a:gdLst/>
            <a:ahLst/>
            <a:cxnLst/>
            <a:rect l="l" t="t" r="r" b="b"/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47625">
            <a:solidFill>
              <a:srgbClr val="5B8DEF"/>
            </a:solidFill>
          </a:ln>
        </p:spPr>
      </p:sp>
      <p:sp>
        <p:nvSpPr>
          <p:cNvPr id="47" name="Polygon 47"/>
          <p:cNvSpPr/>
          <p:nvPr/>
        </p:nvSpPr>
        <p:spPr>
          <a:xfrm>
            <a:off x="4400550" y="3524250"/>
            <a:ext cx="152400" cy="190500"/>
          </a:xfrm>
          <a:custGeom>
            <a:avLst/>
            <a:gdLst/>
            <a:ahLst/>
            <a:cxnLst/>
            <a:rect l="l" t="t" r="r" b="b"/>
            <a:pathLst>
              <a:path w="152400" h="190500">
                <a:moveTo>
                  <a:pt x="152400" y="95250"/>
                </a:moveTo>
                <a:lnTo>
                  <a:pt x="0" y="0"/>
                </a:lnTo>
                <a:lnTo>
                  <a:pt x="0" y="190500"/>
                </a:lnTo>
                <a:close/>
              </a:path>
            </a:pathLst>
          </a:custGeom>
          <a:solidFill>
            <a:srgbClr val="5B8DEF"/>
          </a:solidFill>
          <a:ln>
            <a:noFill/>
          </a:ln>
        </p:spPr>
      </p:sp>
      <p:sp>
        <p:nvSpPr>
          <p:cNvPr id="48" name="Line 48"/>
          <p:cNvSpPr/>
          <p:nvPr/>
        </p:nvSpPr>
        <p:spPr>
          <a:xfrm>
            <a:off x="7639050" y="3619500"/>
            <a:ext cx="666750" cy="9525"/>
          </a:xfrm>
          <a:custGeom>
            <a:avLst/>
            <a:gdLst/>
            <a:ahLst/>
            <a:cxnLst/>
            <a:rect l="l" t="t" r="r" b="b"/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47625">
            <a:solidFill>
              <a:srgbClr val="5B8DEF"/>
            </a:solidFill>
          </a:ln>
        </p:spPr>
      </p:sp>
      <p:sp>
        <p:nvSpPr>
          <p:cNvPr id="49" name="Polygon 49"/>
          <p:cNvSpPr/>
          <p:nvPr/>
        </p:nvSpPr>
        <p:spPr>
          <a:xfrm>
            <a:off x="8153400" y="3524250"/>
            <a:ext cx="152400" cy="190500"/>
          </a:xfrm>
          <a:custGeom>
            <a:avLst/>
            <a:gdLst/>
            <a:ahLst/>
            <a:cxnLst/>
            <a:rect l="l" t="t" r="r" b="b"/>
            <a:pathLst>
              <a:path w="152400" h="190500">
                <a:moveTo>
                  <a:pt x="152400" y="95250"/>
                </a:moveTo>
                <a:lnTo>
                  <a:pt x="0" y="0"/>
                </a:lnTo>
                <a:lnTo>
                  <a:pt x="0" y="190500"/>
                </a:lnTo>
                <a:close/>
              </a:path>
            </a:pathLst>
          </a:custGeom>
          <a:solidFill>
            <a:srgbClr val="5B8DEF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838200" y="5867400"/>
            <a:ext cx="10591800" cy="5143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51" name="Rectangle 51"/>
          <p:cNvSpPr/>
          <p:nvPr/>
        </p:nvSpPr>
        <p:spPr>
          <a:xfrm>
            <a:off x="800100" y="5810250"/>
            <a:ext cx="105918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52" name="Rectangle 52"/>
          <p:cNvSpPr/>
          <p:nvPr/>
        </p:nvSpPr>
        <p:spPr>
          <a:xfrm>
            <a:off x="800100" y="5810250"/>
            <a:ext cx="10591800" cy="57150"/>
          </a:xfrm>
          <a:prstGeom prst="rect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1067752" y="5980271"/>
            <a:ext cx="7903178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平台的核心价值不在于多一张图表，而在于图表背后可以直接触发真实治理动作。</a:t>
            </a:r>
          </a:p>
        </p:txBody>
      </p:sp>
    </p:spTree>
  </p:cSld>
  <p:clrMapOvr>
    <a:masterClrMapping/>
  </p:clrMapOvr>
  <p:transition 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B8DEF">
                  <a:alpha val="8000"/>
                </a:srgbClr>
              </a:gs>
              <a:gs pos="100000">
                <a:srgbClr val="5B8D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7313A"/>
              </a:gs>
              <a:gs pos="100000">
                <a:srgbClr val="19A38C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05778" y="193834"/>
            <a:ext cx="3724204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告警任务调度构成运营层</a:t>
            </a:r>
          </a:p>
        </p:txBody>
      </p:sp>
      <p:sp>
        <p:nvSpPr>
          <p:cNvPr id="6" name="Rectangle 6"/>
          <p:cNvSpPr/>
          <p:nvPr/>
        </p:nvSpPr>
        <p:spPr>
          <a:xfrm>
            <a:off x="533400" y="609600"/>
            <a:ext cx="11125200" cy="41910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25805" y="730568"/>
            <a:ext cx="68661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当监控与治理能力落地后，告警、任务和调度自然成为平台的运营工作台。</a:t>
            </a:r>
          </a:p>
        </p:txBody>
      </p:sp>
      <p:sp>
        <p:nvSpPr>
          <p:cNvPr id="8" name="Line 8"/>
          <p:cNvSpPr/>
          <p:nvPr/>
        </p:nvSpPr>
        <p:spPr>
          <a:xfrm>
            <a:off x="0" y="66103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D8E0E8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371475" y="6691312"/>
            <a:ext cx="36776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Source: AI DataCenter repository and implemented product features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04886" y="6691312"/>
            <a:ext cx="258222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STRICTLY CONFIDENTIAL | AI DATACENTER SHOWCASE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08368" y="6691312"/>
            <a:ext cx="11215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sp>
        <p:nvSpPr>
          <p:cNvPr id="12" name="Rectangle 12"/>
          <p:cNvSpPr/>
          <p:nvPr/>
        </p:nvSpPr>
        <p:spPr>
          <a:xfrm>
            <a:off x="838200" y="1657350"/>
            <a:ext cx="3238500" cy="43815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800100" y="1600200"/>
            <a:ext cx="3238500" cy="438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800100" y="1600200"/>
            <a:ext cx="3238500" cy="57150"/>
          </a:xfrm>
          <a:prstGeom prst="rect">
            <a:avLst/>
          </a:prstGeom>
          <a:solidFill>
            <a:srgbClr val="D9485F"/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1066800" y="1905000"/>
            <a:ext cx="266700" cy="250031"/>
          </a:xfrm>
          <a:custGeom>
            <a:avLst/>
            <a:gdLst/>
            <a:ahLst/>
            <a:cxnLst/>
            <a:rect l="l" t="t" r="r" b="b"/>
            <a:pathLst>
              <a:path w="266700" h="250031">
                <a:moveTo>
                  <a:pt x="266700" y="250031"/>
                </a:moveTo>
                <a:lnTo>
                  <a:pt x="0" y="250031"/>
                </a:lnTo>
                <a:lnTo>
                  <a:pt x="0" y="200025"/>
                </a:lnTo>
                <a:lnTo>
                  <a:pt x="116681" y="0"/>
                </a:lnTo>
                <a:lnTo>
                  <a:pt x="150019" y="0"/>
                </a:lnTo>
                <a:lnTo>
                  <a:pt x="266700" y="200025"/>
                </a:lnTo>
                <a:lnTo>
                  <a:pt x="266700" y="250031"/>
                </a:lnTo>
                <a:close/>
                <a:moveTo>
                  <a:pt x="116681" y="66675"/>
                </a:moveTo>
                <a:lnTo>
                  <a:pt x="150019" y="66675"/>
                </a:lnTo>
                <a:lnTo>
                  <a:pt x="150019" y="150019"/>
                </a:lnTo>
                <a:lnTo>
                  <a:pt x="116681" y="150019"/>
                </a:lnTo>
                <a:lnTo>
                  <a:pt x="116681" y="66675"/>
                </a:lnTo>
                <a:close/>
                <a:moveTo>
                  <a:pt x="116681" y="183356"/>
                </a:moveTo>
                <a:lnTo>
                  <a:pt x="150019" y="183356"/>
                </a:lnTo>
                <a:lnTo>
                  <a:pt x="150019" y="216694"/>
                </a:lnTo>
                <a:lnTo>
                  <a:pt x="116681" y="216694"/>
                </a:lnTo>
                <a:lnTo>
                  <a:pt x="116681" y="183356"/>
                </a:lnTo>
                <a:close/>
              </a:path>
            </a:pathLst>
          </a:custGeom>
          <a:solidFill>
            <a:srgbClr val="D9485F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463040" y="192024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告警中心</a:t>
            </a:r>
          </a:p>
        </p:txBody>
      </p:sp>
      <p:sp>
        <p:nvSpPr>
          <p:cNvPr id="17" name="Rectangle 17"/>
          <p:cNvSpPr/>
          <p:nvPr/>
        </p:nvSpPr>
        <p:spPr>
          <a:xfrm>
            <a:off x="1047750" y="2381250"/>
            <a:ext cx="2743200" cy="13906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18" name="Line 18"/>
          <p:cNvSpPr/>
          <p:nvPr/>
        </p:nvSpPr>
        <p:spPr>
          <a:xfrm>
            <a:off x="1295400" y="2781300"/>
            <a:ext cx="2228850" cy="9525"/>
          </a:xfrm>
          <a:custGeom>
            <a:avLst/>
            <a:gdLst/>
            <a:ahLst/>
            <a:cxnLst/>
            <a:rect l="l" t="t" r="r" b="b"/>
            <a:pathLst>
              <a:path w="2228850" h="9525">
                <a:moveTo>
                  <a:pt x="0" y="0"/>
                </a:moveTo>
                <a:lnTo>
                  <a:pt x="2228850" y="0"/>
                </a:lnTo>
              </a:path>
            </a:pathLst>
          </a:custGeom>
          <a:noFill/>
          <a:ln w="38100">
            <a:solidFill>
              <a:srgbClr val="D9485F"/>
            </a:solidFill>
          </a:ln>
        </p:spPr>
      </p:sp>
      <p:sp>
        <p:nvSpPr>
          <p:cNvPr id="19" name="Ellipse 19"/>
          <p:cNvSpPr/>
          <p:nvPr/>
        </p:nvSpPr>
        <p:spPr>
          <a:xfrm>
            <a:off x="1600200" y="2705100"/>
            <a:ext cx="152400" cy="152400"/>
          </a:xfrm>
          <a:prstGeom prst="ellipse">
            <a:avLst/>
          </a:prstGeom>
          <a:solidFill>
            <a:srgbClr val="D9485F"/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2343150" y="2705100"/>
            <a:ext cx="152400" cy="1524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1" name="Ellipse 21"/>
          <p:cNvSpPr/>
          <p:nvPr/>
        </p:nvSpPr>
        <p:spPr>
          <a:xfrm>
            <a:off x="3086100" y="2705100"/>
            <a:ext cx="152400" cy="152400"/>
          </a:xfrm>
          <a:prstGeom prst="ellipse">
            <a:avLst/>
          </a:prstGeom>
          <a:solidFill>
            <a:srgbClr val="1F9D68"/>
          </a:solidFill>
          <a:ln>
            <a:noFill/>
          </a:ln>
        </p:spPr>
      </p:sp>
      <p:sp>
        <p:nvSpPr>
          <p:cNvPr id="22" name="Ellipse 22"/>
          <p:cNvSpPr/>
          <p:nvPr/>
        </p:nvSpPr>
        <p:spPr>
          <a:xfrm>
            <a:off x="1152525" y="4143375"/>
            <a:ext cx="95250" cy="95250"/>
          </a:xfrm>
          <a:prstGeom prst="ellipse">
            <a:avLst/>
          </a:prstGeom>
          <a:solidFill>
            <a:srgbClr val="D9485F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337310" y="4118610"/>
            <a:ext cx="5562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实时流</a:t>
            </a:r>
          </a:p>
        </p:txBody>
      </p:sp>
      <p:sp>
        <p:nvSpPr>
          <p:cNvPr id="24" name="Ellipse 24"/>
          <p:cNvSpPr/>
          <p:nvPr/>
        </p:nvSpPr>
        <p:spPr>
          <a:xfrm>
            <a:off x="1152525" y="4486275"/>
            <a:ext cx="95250" cy="95250"/>
          </a:xfrm>
          <a:prstGeom prst="ellipse">
            <a:avLst/>
          </a:prstGeom>
          <a:solidFill>
            <a:srgbClr val="D9485F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337310" y="446151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今日记录</a:t>
            </a:r>
          </a:p>
        </p:txBody>
      </p:sp>
      <p:sp>
        <p:nvSpPr>
          <p:cNvPr id="26" name="Ellipse 26"/>
          <p:cNvSpPr/>
          <p:nvPr/>
        </p:nvSpPr>
        <p:spPr>
          <a:xfrm>
            <a:off x="1152525" y="4829175"/>
            <a:ext cx="95250" cy="95250"/>
          </a:xfrm>
          <a:prstGeom prst="ellipse">
            <a:avLst/>
          </a:prstGeom>
          <a:solidFill>
            <a:srgbClr val="D9485F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337310" y="480441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历史归档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362450" y="1657350"/>
            <a:ext cx="3238500" cy="43815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4324350" y="1600200"/>
            <a:ext cx="3238500" cy="438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4324350" y="1600200"/>
            <a:ext cx="3238500" cy="57150"/>
          </a:xfrm>
          <a:prstGeom prst="rect">
            <a:avLst/>
          </a:prstGeom>
          <a:solidFill>
            <a:srgbClr val="5B8DEF"/>
          </a:solidFill>
          <a:ln>
            <a:noFill/>
          </a:ln>
        </p:spPr>
      </p:sp>
      <p:grpSp>
        <p:nvGrpSpPr>
          <p:cNvPr id="34" name="Group 34"/>
          <p:cNvGrpSpPr/>
          <p:nvPr/>
        </p:nvGrpSpPr>
        <p:grpSpPr>
          <a:xfrm>
            <a:off x="4624388" y="1905000"/>
            <a:ext cx="200025" cy="266700"/>
            <a:chOff x="4624388" y="1905000"/>
            <a:chExt cx="200025" cy="266700"/>
          </a:xfrm>
        </p:grpSpPr>
        <p:sp>
          <p:nvSpPr>
            <p:cNvPr id="31" name="Freeform 31"/>
            <p:cNvSpPr/>
            <p:nvPr/>
          </p:nvSpPr>
          <p:spPr>
            <a:xfrm>
              <a:off x="4624388" y="2011680"/>
              <a:ext cx="200025" cy="76676"/>
            </a:xfrm>
            <a:custGeom>
              <a:avLst/>
              <a:gdLst/>
              <a:ahLst/>
              <a:cxnLst/>
              <a:rect l="l" t="t" r="r" b="b"/>
              <a:pathLst>
                <a:path w="200025" h="76676">
                  <a:moveTo>
                    <a:pt x="185642" y="8504"/>
                  </a:moveTo>
                  <a:cubicBezTo>
                    <a:pt x="190330" y="6159"/>
                    <a:pt x="195229" y="3330"/>
                    <a:pt x="200025" y="0"/>
                  </a:cubicBezTo>
                  <a:lnTo>
                    <a:pt x="200025" y="26670"/>
                  </a:lnTo>
                  <a:cubicBezTo>
                    <a:pt x="200025" y="54287"/>
                    <a:pt x="155248" y="76676"/>
                    <a:pt x="100012" y="76676"/>
                  </a:cubicBezTo>
                  <a:cubicBezTo>
                    <a:pt x="44777" y="76676"/>
                    <a:pt x="0" y="54287"/>
                    <a:pt x="0" y="26670"/>
                  </a:cubicBezTo>
                  <a:lnTo>
                    <a:pt x="0" y="0"/>
                  </a:lnTo>
                  <a:cubicBezTo>
                    <a:pt x="4796" y="3330"/>
                    <a:pt x="9694" y="6159"/>
                    <a:pt x="14384" y="8504"/>
                  </a:cubicBezTo>
                  <a:cubicBezTo>
                    <a:pt x="38021" y="20322"/>
                    <a:pt x="68342" y="26670"/>
                    <a:pt x="100012" y="26670"/>
                  </a:cubicBezTo>
                  <a:cubicBezTo>
                    <a:pt x="131683" y="26670"/>
                    <a:pt x="162004" y="20322"/>
                    <a:pt x="185642" y="8504"/>
                  </a:cubicBezTo>
                  <a:close/>
                </a:path>
              </a:pathLst>
            </a:custGeom>
            <a:solidFill>
              <a:srgbClr val="5B8DEF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4624388" y="2095024"/>
              <a:ext cx="200025" cy="76676"/>
            </a:xfrm>
            <a:custGeom>
              <a:avLst/>
              <a:gdLst/>
              <a:ahLst/>
              <a:cxnLst/>
              <a:rect l="l" t="t" r="r" b="b"/>
              <a:pathLst>
                <a:path w="200025" h="76676">
                  <a:moveTo>
                    <a:pt x="0" y="0"/>
                  </a:moveTo>
                  <a:lnTo>
                    <a:pt x="0" y="26670"/>
                  </a:lnTo>
                  <a:cubicBezTo>
                    <a:pt x="0" y="54288"/>
                    <a:pt x="44777" y="76676"/>
                    <a:pt x="100012" y="76676"/>
                  </a:cubicBezTo>
                  <a:cubicBezTo>
                    <a:pt x="155248" y="76676"/>
                    <a:pt x="200025" y="54288"/>
                    <a:pt x="200025" y="26670"/>
                  </a:cubicBezTo>
                  <a:lnTo>
                    <a:pt x="200025" y="0"/>
                  </a:lnTo>
                  <a:cubicBezTo>
                    <a:pt x="195229" y="3330"/>
                    <a:pt x="190330" y="6159"/>
                    <a:pt x="185642" y="8504"/>
                  </a:cubicBezTo>
                  <a:cubicBezTo>
                    <a:pt x="162004" y="20323"/>
                    <a:pt x="131683" y="26670"/>
                    <a:pt x="100012" y="26670"/>
                  </a:cubicBezTo>
                  <a:cubicBezTo>
                    <a:pt x="68342" y="26670"/>
                    <a:pt x="38021" y="20323"/>
                    <a:pt x="14384" y="8504"/>
                  </a:cubicBezTo>
                  <a:cubicBezTo>
                    <a:pt x="9694" y="6159"/>
                    <a:pt x="4796" y="3330"/>
                    <a:pt x="0" y="0"/>
                  </a:cubicBezTo>
                  <a:close/>
                </a:path>
              </a:pathLst>
            </a:custGeom>
            <a:solidFill>
              <a:srgbClr val="5B8DEF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4624388" y="1905000"/>
              <a:ext cx="200025" cy="100012"/>
            </a:xfrm>
            <a:custGeom>
              <a:avLst/>
              <a:gdLst/>
              <a:ahLst/>
              <a:cxnLst/>
              <a:rect l="l" t="t" r="r" b="b"/>
              <a:pathLst>
                <a:path w="200025" h="100012">
                  <a:moveTo>
                    <a:pt x="100012" y="0"/>
                  </a:moveTo>
                  <a:cubicBezTo>
                    <a:pt x="155248" y="0"/>
                    <a:pt x="200025" y="22389"/>
                    <a:pt x="200025" y="50006"/>
                  </a:cubicBezTo>
                  <a:cubicBezTo>
                    <a:pt x="200025" y="77624"/>
                    <a:pt x="155248" y="100012"/>
                    <a:pt x="100012" y="100012"/>
                  </a:cubicBezTo>
                  <a:cubicBezTo>
                    <a:pt x="44777" y="100012"/>
                    <a:pt x="0" y="77624"/>
                    <a:pt x="0" y="50006"/>
                  </a:cubicBezTo>
                  <a:cubicBezTo>
                    <a:pt x="0" y="22389"/>
                    <a:pt x="44777" y="0"/>
                    <a:pt x="100012" y="0"/>
                  </a:cubicBezTo>
                  <a:close/>
                </a:path>
              </a:pathLst>
            </a:custGeom>
            <a:solidFill>
              <a:srgbClr val="5B8DEF"/>
            </a:solidFill>
            <a:ln>
              <a:noFill/>
            </a:ln>
          </p:spPr>
        </p:sp>
      </p:grpSp>
      <p:sp>
        <p:nvSpPr>
          <p:cNvPr id="35" name="TextBox 35"/>
          <p:cNvSpPr txBox="1"/>
          <p:nvPr/>
        </p:nvSpPr>
        <p:spPr>
          <a:xfrm>
            <a:off x="4987290" y="192024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任务管理</a:t>
            </a:r>
          </a:p>
        </p:txBody>
      </p:sp>
      <p:sp>
        <p:nvSpPr>
          <p:cNvPr id="36" name="Rectangle 36"/>
          <p:cNvSpPr/>
          <p:nvPr/>
        </p:nvSpPr>
        <p:spPr>
          <a:xfrm>
            <a:off x="4572000" y="2381250"/>
            <a:ext cx="2743200" cy="13906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4819650" y="2647950"/>
            <a:ext cx="2247900" cy="209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4819650" y="3009900"/>
            <a:ext cx="1790700" cy="209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4819650" y="3371850"/>
            <a:ext cx="2152650" cy="209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40" name="Ellipse 40"/>
          <p:cNvSpPr/>
          <p:nvPr/>
        </p:nvSpPr>
        <p:spPr>
          <a:xfrm>
            <a:off x="4676775" y="4143375"/>
            <a:ext cx="95250" cy="9525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4861560" y="411861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训练进程</a:t>
            </a:r>
          </a:p>
        </p:txBody>
      </p:sp>
      <p:sp>
        <p:nvSpPr>
          <p:cNvPr id="42" name="Ellipse 42"/>
          <p:cNvSpPr/>
          <p:nvPr/>
        </p:nvSpPr>
        <p:spPr>
          <a:xfrm>
            <a:off x="4676775" y="4486275"/>
            <a:ext cx="95250" cy="9525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4861560" y="446151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任务状态</a:t>
            </a:r>
          </a:p>
        </p:txBody>
      </p:sp>
      <p:sp>
        <p:nvSpPr>
          <p:cNvPr id="44" name="Ellipse 44"/>
          <p:cNvSpPr/>
          <p:nvPr/>
        </p:nvSpPr>
        <p:spPr>
          <a:xfrm>
            <a:off x="4676775" y="4829175"/>
            <a:ext cx="95250" cy="9525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4861560" y="480441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进程细节</a:t>
            </a:r>
          </a:p>
        </p:txBody>
      </p:sp>
      <p:sp>
        <p:nvSpPr>
          <p:cNvPr id="46" name="Rectangle 46"/>
          <p:cNvSpPr/>
          <p:nvPr/>
        </p:nvSpPr>
        <p:spPr>
          <a:xfrm>
            <a:off x="7886700" y="1657350"/>
            <a:ext cx="3238500" cy="43815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47" name="Rectangle 47"/>
          <p:cNvSpPr/>
          <p:nvPr/>
        </p:nvSpPr>
        <p:spPr>
          <a:xfrm>
            <a:off x="7848600" y="1600200"/>
            <a:ext cx="3238500" cy="438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7848600" y="1600200"/>
            <a:ext cx="3238500" cy="57150"/>
          </a:xfrm>
          <a:prstGeom prst="rect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49" name="Freeform 49"/>
          <p:cNvSpPr/>
          <p:nvPr/>
        </p:nvSpPr>
        <p:spPr>
          <a:xfrm>
            <a:off x="8120664" y="1905000"/>
            <a:ext cx="255972" cy="266700"/>
          </a:xfrm>
          <a:custGeom>
            <a:avLst/>
            <a:gdLst/>
            <a:ahLst/>
            <a:cxnLst/>
            <a:rect l="l" t="t" r="r" b="b"/>
            <a:pathLst>
              <a:path w="255972" h="266700">
                <a:moveTo>
                  <a:pt x="102983" y="0"/>
                </a:moveTo>
                <a:lnTo>
                  <a:pt x="152989" y="0"/>
                </a:lnTo>
                <a:lnTo>
                  <a:pt x="162889" y="39596"/>
                </a:lnTo>
                <a:cubicBezTo>
                  <a:pt x="173452" y="43530"/>
                  <a:pt x="183171" y="49199"/>
                  <a:pt x="191699" y="56255"/>
                </a:cubicBezTo>
                <a:lnTo>
                  <a:pt x="230969" y="45022"/>
                </a:lnTo>
                <a:lnTo>
                  <a:pt x="255972" y="88328"/>
                </a:lnTo>
                <a:lnTo>
                  <a:pt x="226620" y="116709"/>
                </a:lnTo>
                <a:cubicBezTo>
                  <a:pt x="227527" y="122121"/>
                  <a:pt x="227998" y="127680"/>
                  <a:pt x="227998" y="133350"/>
                </a:cubicBezTo>
                <a:cubicBezTo>
                  <a:pt x="227998" y="139020"/>
                  <a:pt x="227527" y="144579"/>
                  <a:pt x="226620" y="149991"/>
                </a:cubicBezTo>
                <a:lnTo>
                  <a:pt x="255972" y="178372"/>
                </a:lnTo>
                <a:lnTo>
                  <a:pt x="230969" y="221678"/>
                </a:lnTo>
                <a:lnTo>
                  <a:pt x="191699" y="210445"/>
                </a:lnTo>
                <a:cubicBezTo>
                  <a:pt x="183171" y="217501"/>
                  <a:pt x="173452" y="223170"/>
                  <a:pt x="162889" y="227103"/>
                </a:cubicBezTo>
                <a:lnTo>
                  <a:pt x="152989" y="266700"/>
                </a:lnTo>
                <a:lnTo>
                  <a:pt x="102983" y="266700"/>
                </a:lnTo>
                <a:lnTo>
                  <a:pt x="93084" y="227103"/>
                </a:lnTo>
                <a:cubicBezTo>
                  <a:pt x="82521" y="223170"/>
                  <a:pt x="72801" y="217501"/>
                  <a:pt x="64273" y="210445"/>
                </a:cubicBezTo>
                <a:lnTo>
                  <a:pt x="25003" y="221678"/>
                </a:lnTo>
                <a:lnTo>
                  <a:pt x="0" y="178372"/>
                </a:lnTo>
                <a:lnTo>
                  <a:pt x="29352" y="149991"/>
                </a:lnTo>
                <a:cubicBezTo>
                  <a:pt x="28445" y="144579"/>
                  <a:pt x="27974" y="139020"/>
                  <a:pt x="27974" y="133350"/>
                </a:cubicBezTo>
                <a:cubicBezTo>
                  <a:pt x="27974" y="127680"/>
                  <a:pt x="28445" y="122121"/>
                  <a:pt x="29352" y="116709"/>
                </a:cubicBezTo>
                <a:lnTo>
                  <a:pt x="0" y="88328"/>
                </a:lnTo>
                <a:lnTo>
                  <a:pt x="25003" y="45022"/>
                </a:lnTo>
                <a:lnTo>
                  <a:pt x="64273" y="56255"/>
                </a:lnTo>
                <a:cubicBezTo>
                  <a:pt x="72801" y="49199"/>
                  <a:pt x="82520" y="43530"/>
                  <a:pt x="93084" y="39596"/>
                </a:cubicBezTo>
                <a:lnTo>
                  <a:pt x="102983" y="0"/>
                </a:lnTo>
                <a:close/>
                <a:moveTo>
                  <a:pt x="127986" y="166688"/>
                </a:moveTo>
                <a:cubicBezTo>
                  <a:pt x="146398" y="166688"/>
                  <a:pt x="161323" y="151762"/>
                  <a:pt x="161323" y="133350"/>
                </a:cubicBezTo>
                <a:cubicBezTo>
                  <a:pt x="161323" y="114938"/>
                  <a:pt x="146398" y="100012"/>
                  <a:pt x="127986" y="100012"/>
                </a:cubicBezTo>
                <a:cubicBezTo>
                  <a:pt x="109574" y="100012"/>
                  <a:pt x="94649" y="114938"/>
                  <a:pt x="94649" y="133350"/>
                </a:cubicBezTo>
                <a:cubicBezTo>
                  <a:pt x="94649" y="151762"/>
                  <a:pt x="109574" y="166688"/>
                  <a:pt x="127986" y="166688"/>
                </a:cubicBezTo>
                <a:close/>
              </a:path>
            </a:pathLst>
          </a:custGeom>
          <a:solidFill>
            <a:srgbClr val="19A38C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8511540" y="1920240"/>
            <a:ext cx="142589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调度与能耗</a:t>
            </a:r>
          </a:p>
        </p:txBody>
      </p:sp>
      <p:sp>
        <p:nvSpPr>
          <p:cNvPr id="51" name="Rectangle 51"/>
          <p:cNvSpPr/>
          <p:nvPr/>
        </p:nvSpPr>
        <p:spPr>
          <a:xfrm>
            <a:off x="8096250" y="2381250"/>
            <a:ext cx="2743200" cy="13906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52" name="Rectangle 52"/>
          <p:cNvSpPr/>
          <p:nvPr/>
        </p:nvSpPr>
        <p:spPr>
          <a:xfrm>
            <a:off x="8401050" y="2667000"/>
            <a:ext cx="2095500" cy="209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53" name="Rectangle 53"/>
          <p:cNvSpPr/>
          <p:nvPr/>
        </p:nvSpPr>
        <p:spPr>
          <a:xfrm>
            <a:off x="8401050" y="3048000"/>
            <a:ext cx="1524000" cy="209550"/>
          </a:xfrm>
          <a:prstGeom prst="rect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54" name="Rectangle 54"/>
          <p:cNvSpPr/>
          <p:nvPr/>
        </p:nvSpPr>
        <p:spPr>
          <a:xfrm>
            <a:off x="8401050" y="3429000"/>
            <a:ext cx="1885950" cy="209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55" name="Ellipse 55"/>
          <p:cNvSpPr/>
          <p:nvPr/>
        </p:nvSpPr>
        <p:spPr>
          <a:xfrm>
            <a:off x="8201025" y="4143375"/>
            <a:ext cx="95250" cy="95250"/>
          </a:xfrm>
          <a:prstGeom prst="ellipse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8385810" y="411861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调度状态</a:t>
            </a:r>
          </a:p>
        </p:txBody>
      </p:sp>
      <p:sp>
        <p:nvSpPr>
          <p:cNvPr id="57" name="Ellipse 57"/>
          <p:cNvSpPr/>
          <p:nvPr/>
        </p:nvSpPr>
        <p:spPr>
          <a:xfrm>
            <a:off x="8201025" y="4486275"/>
            <a:ext cx="95250" cy="95250"/>
          </a:xfrm>
          <a:prstGeom prst="ellipse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8385810" y="446151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功耗治理</a:t>
            </a:r>
          </a:p>
        </p:txBody>
      </p:sp>
      <p:sp>
        <p:nvSpPr>
          <p:cNvPr id="59" name="Ellipse 59"/>
          <p:cNvSpPr/>
          <p:nvPr/>
        </p:nvSpPr>
        <p:spPr>
          <a:xfrm>
            <a:off x="8201025" y="4829175"/>
            <a:ext cx="95250" cy="95250"/>
          </a:xfrm>
          <a:prstGeom prst="ellipse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8385810" y="4804410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长期优化空间</a:t>
            </a:r>
          </a:p>
        </p:txBody>
      </p:sp>
    </p:spTree>
  </p:cSld>
  <p:clrMapOvr>
    <a:masterClrMapping/>
  </p:clrMapOvr>
  <p:transition 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B8DEF">
                  <a:alpha val="8000"/>
                </a:srgbClr>
              </a:gs>
              <a:gs pos="100000">
                <a:srgbClr val="5B8D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7313A"/>
              </a:gs>
              <a:gs pos="100000">
                <a:srgbClr val="19A38C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05778" y="193834"/>
            <a:ext cx="3724204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平台支持桌面化本地交付</a:t>
            </a:r>
          </a:p>
        </p:txBody>
      </p:sp>
      <p:sp>
        <p:nvSpPr>
          <p:cNvPr id="6" name="Rectangle 6"/>
          <p:cNvSpPr/>
          <p:nvPr/>
        </p:nvSpPr>
        <p:spPr>
          <a:xfrm>
            <a:off x="533400" y="609600"/>
            <a:ext cx="11125200" cy="41910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25805" y="730568"/>
            <a:ext cx="59862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除了浏览器形态，项目还具备 Electron 桌面壳和本地运行脚本。</a:t>
            </a:r>
          </a:p>
        </p:txBody>
      </p:sp>
      <p:sp>
        <p:nvSpPr>
          <p:cNvPr id="8" name="Line 8"/>
          <p:cNvSpPr/>
          <p:nvPr/>
        </p:nvSpPr>
        <p:spPr>
          <a:xfrm>
            <a:off x="0" y="66103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D8E0E8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371475" y="6691312"/>
            <a:ext cx="36776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Source: AI DataCenter repository and implemented product features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04886" y="6691312"/>
            <a:ext cx="258222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STRICTLY CONFIDENTIAL | AI DATACENTER SHOWCASE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08368" y="6691312"/>
            <a:ext cx="11215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  <p:sp>
        <p:nvSpPr>
          <p:cNvPr id="12" name="Rectangle 12"/>
          <p:cNvSpPr/>
          <p:nvPr/>
        </p:nvSpPr>
        <p:spPr>
          <a:xfrm>
            <a:off x="838200" y="1676400"/>
            <a:ext cx="4743450" cy="40767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800100" y="1619250"/>
            <a:ext cx="4743450" cy="4076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800100" y="1619250"/>
            <a:ext cx="4743450" cy="5715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045845" y="1764982"/>
            <a:ext cx="181313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桌面化产品形态</a:t>
            </a:r>
          </a:p>
        </p:txBody>
      </p:sp>
      <p:sp>
        <p:nvSpPr>
          <p:cNvPr id="16" name="Rectangle 16"/>
          <p:cNvSpPr/>
          <p:nvPr/>
        </p:nvSpPr>
        <p:spPr>
          <a:xfrm>
            <a:off x="1371600" y="2286000"/>
            <a:ext cx="3600450" cy="2647950"/>
          </a:xfrm>
          <a:prstGeom prst="rect">
            <a:avLst/>
          </a:prstGeom>
          <a:solidFill>
            <a:srgbClr val="F1F5F9"/>
          </a:solidFill>
          <a:ln w="9525">
            <a:solidFill>
              <a:srgbClr val="D8E0E8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1371600" y="2286000"/>
            <a:ext cx="3600450" cy="2857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18" name="Ellipse 18"/>
          <p:cNvSpPr/>
          <p:nvPr/>
        </p:nvSpPr>
        <p:spPr>
          <a:xfrm>
            <a:off x="1495425" y="2381250"/>
            <a:ext cx="95250" cy="95250"/>
          </a:xfrm>
          <a:prstGeom prst="ellipse">
            <a:avLst/>
          </a:prstGeom>
          <a:solidFill>
            <a:srgbClr val="D9485F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1647825" y="2381250"/>
            <a:ext cx="95250" cy="952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1800225" y="2381250"/>
            <a:ext cx="95250" cy="95250"/>
          </a:xfrm>
          <a:prstGeom prst="ellipse">
            <a:avLst/>
          </a:prstGeom>
          <a:solidFill>
            <a:srgbClr val="1F9D68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1581150" y="2762250"/>
            <a:ext cx="87630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2628900" y="2762250"/>
            <a:ext cx="211455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2628900" y="3486150"/>
            <a:ext cx="211455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1697355" y="2864168"/>
            <a:ext cx="89344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Electron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726055" y="2940368"/>
            <a:ext cx="14834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桌面壳承载前端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732246" y="3640693"/>
            <a:ext cx="1917728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2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可用统一入口启动前后端与 Agent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924550" y="1676400"/>
            <a:ext cx="5486400" cy="40767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5886450" y="1619250"/>
            <a:ext cx="5486400" cy="4076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5886450" y="1619250"/>
            <a:ext cx="5486400" cy="57150"/>
          </a:xfrm>
          <a:prstGeom prst="rect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132195" y="1764982"/>
            <a:ext cx="181313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部署与运行链路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248400" y="2476500"/>
            <a:ext cx="1600200" cy="9144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6210300" y="2419350"/>
            <a:ext cx="1600200" cy="91440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6210300" y="2419350"/>
            <a:ext cx="1600200" cy="5715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304355" y="2758440"/>
            <a:ext cx="141209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start-dev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077200" y="2476500"/>
            <a:ext cx="1409700" cy="9144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36" name="Rectangle 36"/>
          <p:cNvSpPr/>
          <p:nvPr/>
        </p:nvSpPr>
        <p:spPr>
          <a:xfrm>
            <a:off x="8039100" y="2419350"/>
            <a:ext cx="1409700" cy="91440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8039100" y="2419350"/>
            <a:ext cx="1409700" cy="57150"/>
          </a:xfrm>
          <a:prstGeom prst="rect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8218837" y="2638425"/>
            <a:ext cx="105022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Frontend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569464" y="2926556"/>
            <a:ext cx="34897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Vite</a:t>
            </a:r>
          </a:p>
        </p:txBody>
      </p:sp>
      <p:sp>
        <p:nvSpPr>
          <p:cNvPr id="40" name="Rectangle 40"/>
          <p:cNvSpPr/>
          <p:nvPr/>
        </p:nvSpPr>
        <p:spPr>
          <a:xfrm>
            <a:off x="9753600" y="2476500"/>
            <a:ext cx="1409700" cy="9144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9715500" y="2419350"/>
            <a:ext cx="1409700" cy="91440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42" name="Rectangle 42"/>
          <p:cNvSpPr/>
          <p:nvPr/>
        </p:nvSpPr>
        <p:spPr>
          <a:xfrm>
            <a:off x="9715500" y="2419350"/>
            <a:ext cx="1409700" cy="57150"/>
          </a:xfrm>
          <a:prstGeom prst="rect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9958495" y="2638425"/>
            <a:ext cx="92371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Backend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110311" y="2926556"/>
            <a:ext cx="6200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FastAPI</a:t>
            </a:r>
          </a:p>
        </p:txBody>
      </p:sp>
      <p:sp>
        <p:nvSpPr>
          <p:cNvPr id="45" name="Rectangle 45"/>
          <p:cNvSpPr/>
          <p:nvPr/>
        </p:nvSpPr>
        <p:spPr>
          <a:xfrm>
            <a:off x="8915400" y="3790950"/>
            <a:ext cx="1409700" cy="9144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46" name="Rectangle 46"/>
          <p:cNvSpPr/>
          <p:nvPr/>
        </p:nvSpPr>
        <p:spPr>
          <a:xfrm>
            <a:off x="8877300" y="3733800"/>
            <a:ext cx="1409700" cy="91440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47" name="Rectangle 47"/>
          <p:cNvSpPr/>
          <p:nvPr/>
        </p:nvSpPr>
        <p:spPr>
          <a:xfrm>
            <a:off x="8877300" y="3733800"/>
            <a:ext cx="1409700" cy="57150"/>
          </a:xfrm>
          <a:prstGeom prst="rect">
            <a:avLst/>
          </a:prstGeom>
          <a:solidFill>
            <a:srgbClr val="1F9D68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9246810" y="3952875"/>
            <a:ext cx="6706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Agent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202281" y="4241006"/>
            <a:ext cx="7597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Collector</a:t>
            </a:r>
          </a:p>
        </p:txBody>
      </p:sp>
      <p:sp>
        <p:nvSpPr>
          <p:cNvPr id="50" name="Line 50"/>
          <p:cNvSpPr/>
          <p:nvPr/>
        </p:nvSpPr>
        <p:spPr>
          <a:xfrm>
            <a:off x="7810500" y="2876550"/>
            <a:ext cx="228600" cy="9525"/>
          </a:xfrm>
          <a:custGeom>
            <a:avLst/>
            <a:gdLst/>
            <a:ahLst/>
            <a:cxnLst/>
            <a:rect l="l" t="t" r="r" b="b"/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/>
          <a:ln w="38100">
            <a:solidFill>
              <a:srgbClr val="5B8DEF"/>
            </a:solidFill>
          </a:ln>
        </p:spPr>
      </p:sp>
      <p:sp>
        <p:nvSpPr>
          <p:cNvPr id="51" name="Polygon 51"/>
          <p:cNvSpPr/>
          <p:nvPr/>
        </p:nvSpPr>
        <p:spPr>
          <a:xfrm>
            <a:off x="7924800" y="28003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14300" y="76200"/>
                </a:move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5B8DEF"/>
          </a:solidFill>
          <a:ln>
            <a:noFill/>
          </a:ln>
        </p:spPr>
      </p:sp>
      <p:sp>
        <p:nvSpPr>
          <p:cNvPr id="52" name="Line 52"/>
          <p:cNvSpPr/>
          <p:nvPr/>
        </p:nvSpPr>
        <p:spPr>
          <a:xfrm>
            <a:off x="9448800" y="2876550"/>
            <a:ext cx="266700" cy="9525"/>
          </a:xfrm>
          <a:custGeom>
            <a:avLst/>
            <a:gdLst/>
            <a:ahLst/>
            <a:cxnLst/>
            <a:rect l="l" t="t" r="r" b="b"/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38100">
            <a:solidFill>
              <a:srgbClr val="5B8DEF"/>
            </a:solidFill>
          </a:ln>
        </p:spPr>
      </p:sp>
      <p:sp>
        <p:nvSpPr>
          <p:cNvPr id="53" name="Polygon 53"/>
          <p:cNvSpPr/>
          <p:nvPr/>
        </p:nvSpPr>
        <p:spPr>
          <a:xfrm>
            <a:off x="9601200" y="28003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14300" y="76200"/>
                </a:move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5B8DEF"/>
          </a:solidFill>
          <a:ln>
            <a:noFill/>
          </a:ln>
        </p:spPr>
      </p:sp>
      <p:sp>
        <p:nvSpPr>
          <p:cNvPr id="54" name="Line 54"/>
          <p:cNvSpPr/>
          <p:nvPr/>
        </p:nvSpPr>
        <p:spPr>
          <a:xfrm>
            <a:off x="9582150" y="3333750"/>
            <a:ext cx="838200" cy="400050"/>
          </a:xfrm>
          <a:custGeom>
            <a:avLst/>
            <a:gdLst/>
            <a:ahLst/>
            <a:cxnLst/>
            <a:rect l="l" t="t" r="r" b="b"/>
            <a:pathLst>
              <a:path w="838200" h="400050">
                <a:moveTo>
                  <a:pt x="838200" y="0"/>
                </a:moveTo>
                <a:lnTo>
                  <a:pt x="0" y="400050"/>
                </a:lnTo>
              </a:path>
            </a:pathLst>
          </a:custGeom>
          <a:noFill/>
          <a:ln w="38100">
            <a:solidFill>
              <a:srgbClr val="1F9D68"/>
            </a:solidFill>
          </a:ln>
        </p:spPr>
      </p:sp>
      <p:sp>
        <p:nvSpPr>
          <p:cNvPr id="55" name="Polygon 55"/>
          <p:cNvSpPr/>
          <p:nvPr/>
        </p:nvSpPr>
        <p:spPr>
          <a:xfrm>
            <a:off x="9582150" y="36004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0" y="133350"/>
                </a:moveTo>
                <a:lnTo>
                  <a:pt x="57150" y="0"/>
                </a:lnTo>
                <a:lnTo>
                  <a:pt x="133350" y="133350"/>
                </a:lnTo>
                <a:close/>
              </a:path>
            </a:pathLst>
          </a:custGeom>
          <a:solidFill>
            <a:srgbClr val="1F9D68"/>
          </a:solidFill>
          <a:ln>
            <a:noFill/>
          </a:ln>
        </p:spPr>
      </p:sp>
      <p:sp>
        <p:nvSpPr>
          <p:cNvPr id="56" name="Ellipse 56"/>
          <p:cNvSpPr/>
          <p:nvPr/>
        </p:nvSpPr>
        <p:spPr>
          <a:xfrm>
            <a:off x="6238875" y="5114925"/>
            <a:ext cx="95250" cy="95250"/>
          </a:xfrm>
          <a:prstGeom prst="ellipse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6424612" y="5098256"/>
            <a:ext cx="25917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适合 Windows 本地演示与内网交付</a:t>
            </a:r>
          </a:p>
        </p:txBody>
      </p:sp>
      <p:sp>
        <p:nvSpPr>
          <p:cNvPr id="58" name="Ellipse 58"/>
          <p:cNvSpPr/>
          <p:nvPr/>
        </p:nvSpPr>
        <p:spPr>
          <a:xfrm>
            <a:off x="6238875" y="5419725"/>
            <a:ext cx="95250" cy="95250"/>
          </a:xfrm>
          <a:prstGeom prst="ellipse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6424612" y="5403056"/>
            <a:ext cx="21645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统一回收残留进程与本地环境</a:t>
            </a:r>
          </a:p>
        </p:txBody>
      </p:sp>
      <p:sp>
        <p:nvSpPr>
          <p:cNvPr id="60" name="Ellipse 60"/>
          <p:cNvSpPr/>
          <p:nvPr/>
        </p:nvSpPr>
        <p:spPr>
          <a:xfrm>
            <a:off x="6238875" y="5724525"/>
            <a:ext cx="95250" cy="95250"/>
          </a:xfrm>
          <a:prstGeom prst="ellipse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424612" y="5707856"/>
            <a:ext cx="24931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便于把项目作为完整产品形态展示</a:t>
            </a:r>
          </a:p>
        </p:txBody>
      </p:sp>
    </p:spTree>
  </p:cSld>
  <p:clrMapOvr>
    <a:masterClrMapping/>
  </p:clrMapOvr>
  <p:transition 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B8DEF">
                  <a:alpha val="8000"/>
                </a:srgbClr>
              </a:gs>
              <a:gs pos="100000">
                <a:srgbClr val="5B8D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7313A"/>
              </a:gs>
              <a:gs pos="100000">
                <a:srgbClr val="19A38C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05778" y="193834"/>
            <a:ext cx="3390662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四层架构支撑产品落地</a:t>
            </a:r>
          </a:p>
        </p:txBody>
      </p:sp>
      <p:sp>
        <p:nvSpPr>
          <p:cNvPr id="6" name="Rectangle 6"/>
          <p:cNvSpPr/>
          <p:nvPr/>
        </p:nvSpPr>
        <p:spPr>
          <a:xfrm>
            <a:off x="533400" y="609600"/>
            <a:ext cx="11125200" cy="41910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25805" y="730568"/>
            <a:ext cx="681438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前端、平台后端、接入 provider 与目标主机之间保持了清晰的职责边界。</a:t>
            </a:r>
          </a:p>
        </p:txBody>
      </p:sp>
      <p:sp>
        <p:nvSpPr>
          <p:cNvPr id="8" name="Line 8"/>
          <p:cNvSpPr/>
          <p:nvPr/>
        </p:nvSpPr>
        <p:spPr>
          <a:xfrm>
            <a:off x="0" y="66103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D8E0E8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371475" y="6691312"/>
            <a:ext cx="36776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Source: AI DataCenter repository and implemented product features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04886" y="6691312"/>
            <a:ext cx="258222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STRICTLY CONFIDENTIAL | AI DATACENTER SHOWCASE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08368" y="6691312"/>
            <a:ext cx="11215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181100" y="1676400"/>
            <a:ext cx="9906000" cy="8382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1143000" y="1619250"/>
            <a:ext cx="99060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1143000" y="1619250"/>
            <a:ext cx="9906000" cy="5715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369695" y="1764982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展示层</a:t>
            </a:r>
          </a:p>
        </p:txBody>
      </p:sp>
      <p:sp>
        <p:nvSpPr>
          <p:cNvPr id="16" name="Rectangle 16"/>
          <p:cNvSpPr/>
          <p:nvPr/>
        </p:nvSpPr>
        <p:spPr>
          <a:xfrm>
            <a:off x="3524250" y="1828800"/>
            <a:ext cx="1257300" cy="4000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3609511" y="1965484"/>
            <a:ext cx="108677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Electron Desktop Shell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953000" y="1828800"/>
            <a:ext cx="1257300" cy="4000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008007" y="1957388"/>
            <a:ext cx="114728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Vue 3 + Vite Frontend</a:t>
            </a:r>
          </a:p>
        </p:txBody>
      </p:sp>
      <p:sp>
        <p:nvSpPr>
          <p:cNvPr id="20" name="Rectangle 20"/>
          <p:cNvSpPr/>
          <p:nvPr/>
        </p:nvSpPr>
        <p:spPr>
          <a:xfrm>
            <a:off x="1181100" y="2800350"/>
            <a:ext cx="9906000" cy="10858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1143000" y="2743200"/>
            <a:ext cx="990600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1143000" y="2743200"/>
            <a:ext cx="9906000" cy="57150"/>
          </a:xfrm>
          <a:prstGeom prst="rect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369695" y="2888932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平台层</a:t>
            </a:r>
          </a:p>
        </p:txBody>
      </p:sp>
      <p:sp>
        <p:nvSpPr>
          <p:cNvPr id="24" name="Rectangle 24"/>
          <p:cNvSpPr/>
          <p:nvPr/>
        </p:nvSpPr>
        <p:spPr>
          <a:xfrm>
            <a:off x="3524250" y="2952750"/>
            <a:ext cx="1257300" cy="4000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3743224" y="3077289"/>
            <a:ext cx="819352" cy="1600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88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Auth / Session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953000" y="2952750"/>
            <a:ext cx="1257300" cy="4000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5255359" y="3077289"/>
            <a:ext cx="652582" cy="1600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88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Import APIs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381750" y="2952750"/>
            <a:ext cx="1257300" cy="4000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6652480" y="3077289"/>
            <a:ext cx="715839" cy="1600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88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Monitor APIs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810500" y="2952750"/>
            <a:ext cx="1257300" cy="4000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7983468" y="3077289"/>
            <a:ext cx="911364" cy="1600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88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Governance APIs</a:t>
            </a:r>
          </a:p>
        </p:txBody>
      </p:sp>
      <p:sp>
        <p:nvSpPr>
          <p:cNvPr id="32" name="Rectangle 32"/>
          <p:cNvSpPr/>
          <p:nvPr/>
        </p:nvSpPr>
        <p:spPr>
          <a:xfrm>
            <a:off x="9239250" y="2952750"/>
            <a:ext cx="1257300" cy="4000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9273230" y="3093482"/>
            <a:ext cx="1189339" cy="1295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38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Runtime Provider Manager</a:t>
            </a:r>
          </a:p>
        </p:txBody>
      </p:sp>
      <p:sp>
        <p:nvSpPr>
          <p:cNvPr id="34" name="Rectangle 34"/>
          <p:cNvSpPr/>
          <p:nvPr/>
        </p:nvSpPr>
        <p:spPr>
          <a:xfrm>
            <a:off x="1181100" y="4171950"/>
            <a:ext cx="9906000" cy="8763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1143000" y="4114800"/>
            <a:ext cx="99060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1143000" y="4114800"/>
            <a:ext cx="9906000" cy="57150"/>
          </a:xfrm>
          <a:prstGeom prst="rect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369695" y="4260532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接入层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524250" y="4324350"/>
            <a:ext cx="1257300" cy="4000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3612118" y="4452938"/>
            <a:ext cx="10815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Http Agent Provider</a:t>
            </a:r>
          </a:p>
        </p:txBody>
      </p:sp>
      <p:sp>
        <p:nvSpPr>
          <p:cNvPr id="40" name="Rectangle 40"/>
          <p:cNvSpPr/>
          <p:nvPr/>
        </p:nvSpPr>
        <p:spPr>
          <a:xfrm>
            <a:off x="4953000" y="4324350"/>
            <a:ext cx="1257300" cy="4000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5084683" y="4452938"/>
            <a:ext cx="99393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SSH Linux Provider</a:t>
            </a:r>
          </a:p>
        </p:txBody>
      </p:sp>
      <p:sp>
        <p:nvSpPr>
          <p:cNvPr id="42" name="Rectangle 42"/>
          <p:cNvSpPr/>
          <p:nvPr/>
        </p:nvSpPr>
        <p:spPr>
          <a:xfrm>
            <a:off x="1181100" y="5314950"/>
            <a:ext cx="9906000" cy="8572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1143000" y="5257800"/>
            <a:ext cx="990600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44" name="Rectangle 44"/>
          <p:cNvSpPr/>
          <p:nvPr/>
        </p:nvSpPr>
        <p:spPr>
          <a:xfrm>
            <a:off x="1143000" y="5257800"/>
            <a:ext cx="9906000" cy="57150"/>
          </a:xfrm>
          <a:prstGeom prst="rect">
            <a:avLst/>
          </a:prstGeom>
          <a:solidFill>
            <a:srgbClr val="1F9D68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1369695" y="5403532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目标与存储</a:t>
            </a:r>
          </a:p>
        </p:txBody>
      </p:sp>
      <p:sp>
        <p:nvSpPr>
          <p:cNvPr id="46" name="Rectangle 46"/>
          <p:cNvSpPr/>
          <p:nvPr/>
        </p:nvSpPr>
        <p:spPr>
          <a:xfrm>
            <a:off x="3524250" y="5467350"/>
            <a:ext cx="1257300" cy="4000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3665589" y="5591889"/>
            <a:ext cx="974622" cy="1600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88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Target GPU Hosts</a:t>
            </a:r>
          </a:p>
        </p:txBody>
      </p:sp>
      <p:sp>
        <p:nvSpPr>
          <p:cNvPr id="48" name="Rectangle 48"/>
          <p:cNvSpPr/>
          <p:nvPr/>
        </p:nvSpPr>
        <p:spPr>
          <a:xfrm>
            <a:off x="4953000" y="5467350"/>
            <a:ext cx="1257300" cy="4000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5238107" y="5591889"/>
            <a:ext cx="687086" cy="1600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88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Saved Hosts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381750" y="5467350"/>
            <a:ext cx="1257300" cy="4000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6537466" y="5591889"/>
            <a:ext cx="945868" cy="1600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88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Credential Store</a:t>
            </a:r>
          </a:p>
        </p:txBody>
      </p:sp>
      <p:sp>
        <p:nvSpPr>
          <p:cNvPr id="52" name="Rectangle 52"/>
          <p:cNvSpPr/>
          <p:nvPr/>
        </p:nvSpPr>
        <p:spPr>
          <a:xfrm>
            <a:off x="7810500" y="5467350"/>
            <a:ext cx="1257300" cy="4000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7844760" y="5599986"/>
            <a:ext cx="1188780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SQLite / Runtime State</a:t>
            </a:r>
          </a:p>
        </p:txBody>
      </p:sp>
      <p:sp>
        <p:nvSpPr>
          <p:cNvPr id="54" name="Line 54"/>
          <p:cNvSpPr/>
          <p:nvPr/>
        </p:nvSpPr>
        <p:spPr>
          <a:xfrm>
            <a:off x="6096000" y="245745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38100">
            <a:solidFill>
              <a:srgbClr val="5B8DEF"/>
            </a:solidFill>
          </a:ln>
        </p:spPr>
      </p:sp>
      <p:sp>
        <p:nvSpPr>
          <p:cNvPr id="55" name="Polygon 55"/>
          <p:cNvSpPr/>
          <p:nvPr/>
        </p:nvSpPr>
        <p:spPr>
          <a:xfrm>
            <a:off x="6019800" y="2628900"/>
            <a:ext cx="152400" cy="114300"/>
          </a:xfrm>
          <a:custGeom>
            <a:avLst/>
            <a:gdLst/>
            <a:ahLst/>
            <a:cxnLst/>
            <a:rect l="l" t="t" r="r" b="b"/>
            <a:pathLst>
              <a:path w="152400" h="114300">
                <a:moveTo>
                  <a:pt x="76200" y="114300"/>
                </a:moveTo>
                <a:lnTo>
                  <a:pt x="0" y="0"/>
                </a:lnTo>
                <a:lnTo>
                  <a:pt x="152400" y="0"/>
                </a:lnTo>
                <a:close/>
              </a:path>
            </a:pathLst>
          </a:custGeom>
          <a:solidFill>
            <a:srgbClr val="5B8DEF"/>
          </a:solidFill>
          <a:ln>
            <a:noFill/>
          </a:ln>
        </p:spPr>
      </p:sp>
      <p:sp>
        <p:nvSpPr>
          <p:cNvPr id="56" name="Line 56"/>
          <p:cNvSpPr/>
          <p:nvPr/>
        </p:nvSpPr>
        <p:spPr>
          <a:xfrm>
            <a:off x="6096000" y="382905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38100">
            <a:solidFill>
              <a:srgbClr val="5B8DEF"/>
            </a:solidFill>
          </a:ln>
        </p:spPr>
      </p:sp>
      <p:sp>
        <p:nvSpPr>
          <p:cNvPr id="57" name="Polygon 57"/>
          <p:cNvSpPr/>
          <p:nvPr/>
        </p:nvSpPr>
        <p:spPr>
          <a:xfrm>
            <a:off x="6019800" y="4000500"/>
            <a:ext cx="152400" cy="114300"/>
          </a:xfrm>
          <a:custGeom>
            <a:avLst/>
            <a:gdLst/>
            <a:ahLst/>
            <a:cxnLst/>
            <a:rect l="l" t="t" r="r" b="b"/>
            <a:pathLst>
              <a:path w="152400" h="114300">
                <a:moveTo>
                  <a:pt x="76200" y="114300"/>
                </a:moveTo>
                <a:lnTo>
                  <a:pt x="0" y="0"/>
                </a:lnTo>
                <a:lnTo>
                  <a:pt x="152400" y="0"/>
                </a:lnTo>
                <a:close/>
              </a:path>
            </a:pathLst>
          </a:custGeom>
          <a:solidFill>
            <a:srgbClr val="5B8DEF"/>
          </a:solidFill>
          <a:ln>
            <a:noFill/>
          </a:ln>
        </p:spPr>
      </p:sp>
      <p:sp>
        <p:nvSpPr>
          <p:cNvPr id="58" name="Line 58"/>
          <p:cNvSpPr/>
          <p:nvPr/>
        </p:nvSpPr>
        <p:spPr>
          <a:xfrm>
            <a:off x="6096000" y="4991100"/>
            <a:ext cx="9525" cy="266700"/>
          </a:xfrm>
          <a:custGeom>
            <a:avLst/>
            <a:gdLst/>
            <a:ahLst/>
            <a:cxnLst/>
            <a:rect l="l" t="t" r="r" b="b"/>
            <a:pathLst>
              <a:path w="952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/>
          <a:ln w="38100">
            <a:solidFill>
              <a:srgbClr val="5B8DEF"/>
            </a:solidFill>
          </a:ln>
        </p:spPr>
      </p:sp>
      <p:sp>
        <p:nvSpPr>
          <p:cNvPr id="59" name="Polygon 59"/>
          <p:cNvSpPr/>
          <p:nvPr/>
        </p:nvSpPr>
        <p:spPr>
          <a:xfrm>
            <a:off x="6019800" y="5143500"/>
            <a:ext cx="152400" cy="114300"/>
          </a:xfrm>
          <a:custGeom>
            <a:avLst/>
            <a:gdLst/>
            <a:ahLst/>
            <a:cxnLst/>
            <a:rect l="l" t="t" r="r" b="b"/>
            <a:pathLst>
              <a:path w="152400" h="114300">
                <a:moveTo>
                  <a:pt x="76200" y="114300"/>
                </a:moveTo>
                <a:lnTo>
                  <a:pt x="0" y="0"/>
                </a:lnTo>
                <a:lnTo>
                  <a:pt x="152400" y="0"/>
                </a:lnTo>
                <a:close/>
              </a:path>
            </a:pathLst>
          </a:custGeom>
          <a:solidFill>
            <a:srgbClr val="5B8DEF"/>
          </a:solidFill>
          <a:ln>
            <a:noFill/>
          </a:ln>
        </p:spPr>
      </p:sp>
    </p:spTree>
  </p:cSld>
  <p:clrMapOvr>
    <a:masterClrMapping/>
  </p:clrMapOvr>
  <p:transition 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B8DEF">
                  <a:alpha val="8000"/>
                </a:srgbClr>
              </a:gs>
              <a:gs pos="100000">
                <a:srgbClr val="5B8D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7313A"/>
              </a:gs>
              <a:gs pos="100000">
                <a:srgbClr val="19A38C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05778" y="193834"/>
            <a:ext cx="3724204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导入层是运行时范围入口</a:t>
            </a:r>
          </a:p>
        </p:txBody>
      </p:sp>
      <p:sp>
        <p:nvSpPr>
          <p:cNvPr id="6" name="Rectangle 6"/>
          <p:cNvSpPr/>
          <p:nvPr/>
        </p:nvSpPr>
        <p:spPr>
          <a:xfrm>
            <a:off x="533400" y="609600"/>
            <a:ext cx="11125200" cy="41910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25805" y="730568"/>
            <a:ext cx="830497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import context 把接入来源和导入 GPU 索引固定下来，控制台随后只消费过滤后的数据。</a:t>
            </a:r>
          </a:p>
        </p:txBody>
      </p:sp>
      <p:sp>
        <p:nvSpPr>
          <p:cNvPr id="8" name="Line 8"/>
          <p:cNvSpPr/>
          <p:nvPr/>
        </p:nvSpPr>
        <p:spPr>
          <a:xfrm>
            <a:off x="0" y="66103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D8E0E8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371475" y="6691312"/>
            <a:ext cx="36776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Source: AI DataCenter repository and implemented product features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04886" y="6691312"/>
            <a:ext cx="258222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STRICTLY CONFIDENTIAL | AI DATACENTER SHOWCASE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08368" y="6691312"/>
            <a:ext cx="11215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  <p:sp>
        <p:nvSpPr>
          <p:cNvPr id="12" name="Rectangle 12"/>
          <p:cNvSpPr/>
          <p:nvPr/>
        </p:nvSpPr>
        <p:spPr>
          <a:xfrm>
            <a:off x="914400" y="2438400"/>
            <a:ext cx="1619250" cy="8763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876300" y="2381250"/>
            <a:ext cx="16192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876300" y="2381250"/>
            <a:ext cx="1619250" cy="5715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254728" y="26355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用户登录</a:t>
            </a:r>
          </a:p>
        </p:txBody>
      </p:sp>
      <p:sp>
        <p:nvSpPr>
          <p:cNvPr id="16" name="Rectangle 16"/>
          <p:cNvSpPr/>
          <p:nvPr/>
        </p:nvSpPr>
        <p:spPr>
          <a:xfrm>
            <a:off x="3028950" y="2438400"/>
            <a:ext cx="1809750" cy="8763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2990850" y="2381250"/>
            <a:ext cx="18097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2990850" y="2381250"/>
            <a:ext cx="1809750" cy="57150"/>
          </a:xfrm>
          <a:prstGeom prst="rect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3361015" y="2635568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导入准备页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334000" y="2438400"/>
            <a:ext cx="1905000" cy="8763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5295900" y="2381250"/>
            <a:ext cx="19050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5295900" y="2381250"/>
            <a:ext cx="1905000" cy="57150"/>
          </a:xfrm>
          <a:prstGeom prst="rect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5713690" y="2635568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扫描与选卡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734300" y="2438400"/>
            <a:ext cx="2000250" cy="8763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7696200" y="2381250"/>
            <a:ext cx="20002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7696200" y="2381250"/>
            <a:ext cx="2000250" cy="57150"/>
          </a:xfrm>
          <a:prstGeom prst="rect">
            <a:avLst/>
          </a:prstGeom>
          <a:solidFill>
            <a:srgbClr val="1F9D68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902042" y="2648902"/>
            <a:ext cx="15885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提交 import context</a:t>
            </a:r>
          </a:p>
        </p:txBody>
      </p:sp>
      <p:sp>
        <p:nvSpPr>
          <p:cNvPr id="28" name="Rectangle 28"/>
          <p:cNvSpPr/>
          <p:nvPr/>
        </p:nvSpPr>
        <p:spPr>
          <a:xfrm>
            <a:off x="10039350" y="2438400"/>
            <a:ext cx="1428750" cy="8763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10001250" y="2381250"/>
            <a:ext cx="14287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10001250" y="2381250"/>
            <a:ext cx="1428750" cy="5715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0387941" y="2635568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控制台</a:t>
            </a:r>
          </a:p>
        </p:txBody>
      </p:sp>
      <p:sp>
        <p:nvSpPr>
          <p:cNvPr id="32" name="Line 32"/>
          <p:cNvSpPr/>
          <p:nvPr/>
        </p:nvSpPr>
        <p:spPr>
          <a:xfrm>
            <a:off x="2590800" y="2819400"/>
            <a:ext cx="304800" cy="9525"/>
          </a:xfrm>
          <a:custGeom>
            <a:avLst/>
            <a:gdLst/>
            <a:ahLst/>
            <a:cxnLst/>
            <a:rect l="l" t="t" r="r" b="b"/>
            <a:pathLst>
              <a:path w="304800" h="9525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5B8DEF"/>
            </a:solidFill>
          </a:ln>
        </p:spPr>
      </p:sp>
      <p:sp>
        <p:nvSpPr>
          <p:cNvPr id="33" name="Polygon 33"/>
          <p:cNvSpPr/>
          <p:nvPr/>
        </p:nvSpPr>
        <p:spPr>
          <a:xfrm>
            <a:off x="2762250" y="27432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76200"/>
                </a:move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5B8DEF"/>
          </a:solidFill>
          <a:ln>
            <a:noFill/>
          </a:ln>
        </p:spPr>
      </p:sp>
      <p:sp>
        <p:nvSpPr>
          <p:cNvPr id="34" name="Line 34"/>
          <p:cNvSpPr/>
          <p:nvPr/>
        </p:nvSpPr>
        <p:spPr>
          <a:xfrm>
            <a:off x="4895850" y="2819400"/>
            <a:ext cx="304800" cy="9525"/>
          </a:xfrm>
          <a:custGeom>
            <a:avLst/>
            <a:gdLst/>
            <a:ahLst/>
            <a:cxnLst/>
            <a:rect l="l" t="t" r="r" b="b"/>
            <a:pathLst>
              <a:path w="304800" h="9525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5B8DEF"/>
            </a:solidFill>
          </a:ln>
        </p:spPr>
      </p:sp>
      <p:sp>
        <p:nvSpPr>
          <p:cNvPr id="35" name="Polygon 35"/>
          <p:cNvSpPr/>
          <p:nvPr/>
        </p:nvSpPr>
        <p:spPr>
          <a:xfrm>
            <a:off x="5067300" y="27432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76200"/>
                </a:move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5B8DEF"/>
          </a:solidFill>
          <a:ln>
            <a:noFill/>
          </a:ln>
        </p:spPr>
      </p:sp>
      <p:sp>
        <p:nvSpPr>
          <p:cNvPr id="36" name="Line 36"/>
          <p:cNvSpPr/>
          <p:nvPr/>
        </p:nvSpPr>
        <p:spPr>
          <a:xfrm>
            <a:off x="7296150" y="2819400"/>
            <a:ext cx="304800" cy="9525"/>
          </a:xfrm>
          <a:custGeom>
            <a:avLst/>
            <a:gdLst/>
            <a:ahLst/>
            <a:cxnLst/>
            <a:rect l="l" t="t" r="r" b="b"/>
            <a:pathLst>
              <a:path w="304800" h="9525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5B8DEF"/>
            </a:solidFill>
          </a:ln>
        </p:spPr>
      </p:sp>
      <p:sp>
        <p:nvSpPr>
          <p:cNvPr id="37" name="Polygon 37"/>
          <p:cNvSpPr/>
          <p:nvPr/>
        </p:nvSpPr>
        <p:spPr>
          <a:xfrm>
            <a:off x="7467600" y="27432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76200"/>
                </a:move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5B8DEF"/>
          </a:solidFill>
          <a:ln>
            <a:noFill/>
          </a:ln>
        </p:spPr>
      </p:sp>
      <p:sp>
        <p:nvSpPr>
          <p:cNvPr id="38" name="Line 38"/>
          <p:cNvSpPr/>
          <p:nvPr/>
        </p:nvSpPr>
        <p:spPr>
          <a:xfrm>
            <a:off x="9791700" y="2819400"/>
            <a:ext cx="114300" cy="9525"/>
          </a:xfrm>
          <a:custGeom>
            <a:avLst/>
            <a:gdLst/>
            <a:ahLst/>
            <a:cxnLst/>
            <a:rect l="l" t="t" r="r" b="b"/>
            <a:pathLst>
              <a:path w="114300" h="952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/>
          <a:ln w="47625">
            <a:solidFill>
              <a:srgbClr val="5B8DEF"/>
            </a:solidFill>
          </a:ln>
        </p:spPr>
      </p:sp>
      <p:sp>
        <p:nvSpPr>
          <p:cNvPr id="39" name="Polygon 39"/>
          <p:cNvSpPr/>
          <p:nvPr/>
        </p:nvSpPr>
        <p:spPr>
          <a:xfrm>
            <a:off x="9772650" y="27432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76200"/>
                </a:move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5B8DEF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1562100" y="4038600"/>
            <a:ext cx="9144000" cy="16573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1524000" y="3981450"/>
            <a:ext cx="9144000" cy="1657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42" name="Rectangle 42"/>
          <p:cNvSpPr/>
          <p:nvPr/>
        </p:nvSpPr>
        <p:spPr>
          <a:xfrm>
            <a:off x="1524000" y="3981450"/>
            <a:ext cx="9144000" cy="5715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1769745" y="4127182"/>
            <a:ext cx="181313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运行时范围控制</a:t>
            </a:r>
          </a:p>
        </p:txBody>
      </p:sp>
      <p:sp>
        <p:nvSpPr>
          <p:cNvPr id="44" name="Rectangle 44"/>
          <p:cNvSpPr/>
          <p:nvPr/>
        </p:nvSpPr>
        <p:spPr>
          <a:xfrm>
            <a:off x="2000250" y="4705350"/>
            <a:ext cx="2286000" cy="5143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2411866" y="4883468"/>
            <a:ext cx="146276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provider_type</a:t>
            </a:r>
          </a:p>
        </p:txBody>
      </p:sp>
      <p:sp>
        <p:nvSpPr>
          <p:cNvPr id="46" name="Rectangle 46"/>
          <p:cNvSpPr/>
          <p:nvPr/>
        </p:nvSpPr>
        <p:spPr>
          <a:xfrm>
            <a:off x="4762500" y="4705350"/>
            <a:ext cx="2286000" cy="5143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5326204" y="4831556"/>
            <a:ext cx="115859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imported_gpu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580674" y="5003006"/>
            <a:ext cx="64965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indexes</a:t>
            </a:r>
          </a:p>
        </p:txBody>
      </p:sp>
      <p:sp>
        <p:nvSpPr>
          <p:cNvPr id="49" name="Rectangle 49"/>
          <p:cNvSpPr/>
          <p:nvPr/>
        </p:nvSpPr>
        <p:spPr>
          <a:xfrm>
            <a:off x="7524750" y="4705350"/>
            <a:ext cx="2667000" cy="5143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8291894" y="4831556"/>
            <a:ext cx="113271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filtered GPUs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416972" y="5003006"/>
            <a:ext cx="88255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processes</a:t>
            </a:r>
          </a:p>
        </p:txBody>
      </p:sp>
      <p:sp>
        <p:nvSpPr>
          <p:cNvPr id="52" name="Line 52"/>
          <p:cNvSpPr/>
          <p:nvPr/>
        </p:nvSpPr>
        <p:spPr>
          <a:xfrm>
            <a:off x="4286250" y="4962525"/>
            <a:ext cx="476250" cy="9525"/>
          </a:xfrm>
          <a:custGeom>
            <a:avLst/>
            <a:gdLst/>
            <a:ahLst/>
            <a:cxnLst/>
            <a:rect l="l" t="t" r="r" b="b"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38100">
            <a:solidFill>
              <a:srgbClr val="19A38C"/>
            </a:solidFill>
          </a:ln>
        </p:spPr>
      </p:sp>
      <p:sp>
        <p:nvSpPr>
          <p:cNvPr id="53" name="Polygon 53"/>
          <p:cNvSpPr/>
          <p:nvPr/>
        </p:nvSpPr>
        <p:spPr>
          <a:xfrm>
            <a:off x="4629150" y="48863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76200"/>
                </a:move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19A38C"/>
          </a:solidFill>
          <a:ln>
            <a:noFill/>
          </a:ln>
        </p:spPr>
      </p:sp>
      <p:sp>
        <p:nvSpPr>
          <p:cNvPr id="54" name="Line 54"/>
          <p:cNvSpPr/>
          <p:nvPr/>
        </p:nvSpPr>
        <p:spPr>
          <a:xfrm>
            <a:off x="7048500" y="4962525"/>
            <a:ext cx="476250" cy="9525"/>
          </a:xfrm>
          <a:custGeom>
            <a:avLst/>
            <a:gdLst/>
            <a:ahLst/>
            <a:cxnLst/>
            <a:rect l="l" t="t" r="r" b="b"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38100">
            <a:solidFill>
              <a:srgbClr val="19A38C"/>
            </a:solidFill>
          </a:ln>
        </p:spPr>
      </p:sp>
      <p:sp>
        <p:nvSpPr>
          <p:cNvPr id="55" name="Polygon 55"/>
          <p:cNvSpPr/>
          <p:nvPr/>
        </p:nvSpPr>
        <p:spPr>
          <a:xfrm>
            <a:off x="7391400" y="48863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76200"/>
                </a:move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19A38C"/>
          </a:solidFill>
          <a:ln>
            <a:noFill/>
          </a:ln>
        </p:spPr>
      </p:sp>
    </p:spTree>
  </p:cSld>
  <p:clrMapOvr>
    <a:masterClrMapping/>
  </p:clrMapOvr>
  <p:transition 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B8DEF">
                  <a:alpha val="8000"/>
                </a:srgbClr>
              </a:gs>
              <a:gs pos="100000">
                <a:srgbClr val="5B8D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7313A"/>
              </a:gs>
              <a:gs pos="100000">
                <a:srgbClr val="19A38C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05778" y="193834"/>
            <a:ext cx="4758183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Agent 与 SSH Linux 双路径并行</a:t>
            </a:r>
          </a:p>
        </p:txBody>
      </p:sp>
      <p:sp>
        <p:nvSpPr>
          <p:cNvPr id="6" name="Rectangle 6"/>
          <p:cNvSpPr/>
          <p:nvPr/>
        </p:nvSpPr>
        <p:spPr>
          <a:xfrm>
            <a:off x="533400" y="609600"/>
            <a:ext cx="11125200" cy="41910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25805" y="730568"/>
            <a:ext cx="66073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系统对外是一套产品流程，对内则由不同 provider 承担不同协议能力。</a:t>
            </a:r>
          </a:p>
        </p:txBody>
      </p:sp>
      <p:sp>
        <p:nvSpPr>
          <p:cNvPr id="8" name="Line 8"/>
          <p:cNvSpPr/>
          <p:nvPr/>
        </p:nvSpPr>
        <p:spPr>
          <a:xfrm>
            <a:off x="0" y="66103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D8E0E8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371475" y="6691312"/>
            <a:ext cx="36776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Source: AI DataCenter repository and implemented product features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04886" y="6691312"/>
            <a:ext cx="258222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STRICTLY CONFIDENTIAL | AI DATACENTER SHOWCASE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680984" y="6691312"/>
            <a:ext cx="13954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sp>
        <p:nvSpPr>
          <p:cNvPr id="12" name="Rectangle 12"/>
          <p:cNvSpPr/>
          <p:nvPr/>
        </p:nvSpPr>
        <p:spPr>
          <a:xfrm>
            <a:off x="838200" y="1676400"/>
            <a:ext cx="4953000" cy="40005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800100" y="1619250"/>
            <a:ext cx="49530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800100" y="1619250"/>
            <a:ext cx="4953000" cy="57150"/>
          </a:xfrm>
          <a:prstGeom prst="rect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6115050" y="1676400"/>
            <a:ext cx="5295900" cy="40005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6076950" y="1619250"/>
            <a:ext cx="52959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6076950" y="1619250"/>
            <a:ext cx="5295900" cy="57150"/>
          </a:xfrm>
          <a:prstGeom prst="rect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045845" y="176498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接入定位矩阵</a:t>
            </a:r>
          </a:p>
        </p:txBody>
      </p:sp>
      <p:sp>
        <p:nvSpPr>
          <p:cNvPr id="19" name="Line 19"/>
          <p:cNvSpPr/>
          <p:nvPr/>
        </p:nvSpPr>
        <p:spPr>
          <a:xfrm>
            <a:off x="1619250" y="4953000"/>
            <a:ext cx="3543300" cy="9525"/>
          </a:xfrm>
          <a:custGeom>
            <a:avLst/>
            <a:gdLst/>
            <a:ahLst/>
            <a:cxnLst/>
            <a:rect l="l" t="t" r="r" b="b"/>
            <a:pathLst>
              <a:path w="3543300" h="9525">
                <a:moveTo>
                  <a:pt x="0" y="0"/>
                </a:moveTo>
                <a:lnTo>
                  <a:pt x="3543300" y="0"/>
                </a:lnTo>
              </a:path>
            </a:pathLst>
          </a:custGeom>
          <a:noFill/>
          <a:ln w="19050">
            <a:solidFill>
              <a:srgbClr val="8A94A3"/>
            </a:solidFill>
          </a:ln>
        </p:spPr>
      </p:sp>
      <p:sp>
        <p:nvSpPr>
          <p:cNvPr id="20" name="Line 20"/>
          <p:cNvSpPr/>
          <p:nvPr/>
        </p:nvSpPr>
        <p:spPr>
          <a:xfrm>
            <a:off x="1619250" y="2266950"/>
            <a:ext cx="9525" cy="2686050"/>
          </a:xfrm>
          <a:custGeom>
            <a:avLst/>
            <a:gdLst/>
            <a:ahLst/>
            <a:cxnLst/>
            <a:rect l="l" t="t" r="r" b="b"/>
            <a:pathLst>
              <a:path w="9525" h="2686050">
                <a:moveTo>
                  <a:pt x="0" y="268605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8A94A3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2932986" y="5136356"/>
            <a:ext cx="91582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部署负担 -&gt;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33450" y="3498056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治理深度</a:t>
            </a:r>
          </a:p>
        </p:txBody>
      </p:sp>
      <p:sp>
        <p:nvSpPr>
          <p:cNvPr id="23" name="Ellipse 23"/>
          <p:cNvSpPr/>
          <p:nvPr/>
        </p:nvSpPr>
        <p:spPr>
          <a:xfrm>
            <a:off x="2362200" y="2971800"/>
            <a:ext cx="266700" cy="266700"/>
          </a:xfrm>
          <a:prstGeom prst="ellipse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2123611" y="3333274"/>
            <a:ext cx="7438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本机 Agent</a:t>
            </a:r>
          </a:p>
        </p:txBody>
      </p:sp>
      <p:sp>
        <p:nvSpPr>
          <p:cNvPr id="25" name="Ellipse 25"/>
          <p:cNvSpPr/>
          <p:nvPr/>
        </p:nvSpPr>
        <p:spPr>
          <a:xfrm>
            <a:off x="3352800" y="2590800"/>
            <a:ext cx="266700" cy="26670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3114211" y="2952274"/>
            <a:ext cx="7438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B8DEF"/>
                </a:solidFill>
                <a:latin typeface="Arial"/>
                <a:ea typeface="Microsoft YaHei"/>
                <a:cs typeface="Arial"/>
              </a:rPr>
              <a:t>远程 Agent</a:t>
            </a:r>
          </a:p>
        </p:txBody>
      </p:sp>
      <p:sp>
        <p:nvSpPr>
          <p:cNvPr id="27" name="Ellipse 27"/>
          <p:cNvSpPr/>
          <p:nvPr/>
        </p:nvSpPr>
        <p:spPr>
          <a:xfrm>
            <a:off x="4324350" y="3448050"/>
            <a:ext cx="266700" cy="266700"/>
          </a:xfrm>
          <a:prstGeom prst="ellipse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4128480" y="3809524"/>
            <a:ext cx="6584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9A38C"/>
                </a:solidFill>
                <a:latin typeface="Arial"/>
                <a:ea typeface="Microsoft YaHei"/>
                <a:cs typeface="Arial"/>
              </a:rPr>
              <a:t>SSH Linux</a:t>
            </a:r>
          </a:p>
        </p:txBody>
      </p:sp>
      <p:sp>
        <p:nvSpPr>
          <p:cNvPr id="29" name="Line 29"/>
          <p:cNvSpPr/>
          <p:nvPr/>
        </p:nvSpPr>
        <p:spPr>
          <a:xfrm>
            <a:off x="1619250" y="3600450"/>
            <a:ext cx="3543300" cy="9525"/>
          </a:xfrm>
          <a:custGeom>
            <a:avLst/>
            <a:gdLst/>
            <a:ahLst/>
            <a:cxnLst/>
            <a:rect l="l" t="t" r="r" b="b"/>
            <a:pathLst>
              <a:path w="3543300" h="9525">
                <a:moveTo>
                  <a:pt x="0" y="0"/>
                </a:moveTo>
                <a:lnTo>
                  <a:pt x="3543300" y="0"/>
                </a:lnTo>
              </a:path>
            </a:pathLst>
          </a:custGeom>
          <a:noFill/>
          <a:ln w="9525">
            <a:solidFill>
              <a:srgbClr val="D8E0E8"/>
            </a:solidFill>
            <a:custDash>
              <a:ds d="600000" sp="400000"/>
            </a:custDash>
          </a:ln>
        </p:spPr>
      </p:sp>
      <p:sp>
        <p:nvSpPr>
          <p:cNvPr id="30" name="Line 30"/>
          <p:cNvSpPr/>
          <p:nvPr/>
        </p:nvSpPr>
        <p:spPr>
          <a:xfrm>
            <a:off x="3390900" y="2266950"/>
            <a:ext cx="9525" cy="2686050"/>
          </a:xfrm>
          <a:custGeom>
            <a:avLst/>
            <a:gdLst/>
            <a:ahLst/>
            <a:cxnLst/>
            <a:rect l="l" t="t" r="r" b="b"/>
            <a:pathLst>
              <a:path w="9525" h="2686050">
                <a:moveTo>
                  <a:pt x="0" y="0"/>
                </a:moveTo>
                <a:lnTo>
                  <a:pt x="0" y="2686050"/>
                </a:lnTo>
              </a:path>
            </a:pathLst>
          </a:custGeom>
          <a:noFill/>
          <a:ln w="9525">
            <a:solidFill>
              <a:srgbClr val="D8E0E8"/>
            </a:solidFill>
            <a:custDash>
              <a:ds d="600000" sp="400000"/>
            </a:custDash>
          </a:ln>
        </p:spPr>
      </p:sp>
      <p:sp>
        <p:nvSpPr>
          <p:cNvPr id="31" name="TextBox 31"/>
          <p:cNvSpPr txBox="1"/>
          <p:nvPr/>
        </p:nvSpPr>
        <p:spPr>
          <a:xfrm>
            <a:off x="6322695" y="1764982"/>
            <a:ext cx="206616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两条真实接入链路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419850" y="2438400"/>
            <a:ext cx="2209800" cy="16192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6381750" y="2381250"/>
            <a:ext cx="2209800" cy="16192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6381750" y="2381250"/>
            <a:ext cx="2209800" cy="5715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grpSp>
        <p:nvGrpSpPr>
          <p:cNvPr id="37" name="Group 37"/>
          <p:cNvGrpSpPr/>
          <p:nvPr/>
        </p:nvGrpSpPr>
        <p:grpSpPr>
          <a:xfrm>
            <a:off x="6667500" y="2681288"/>
            <a:ext cx="266700" cy="200025"/>
            <a:chOff x="6667500" y="2681288"/>
            <a:chExt cx="266700" cy="200025"/>
          </a:xfrm>
        </p:grpSpPr>
        <p:sp>
          <p:nvSpPr>
            <p:cNvPr id="35" name="Freeform 35"/>
            <p:cNvSpPr/>
            <p:nvPr/>
          </p:nvSpPr>
          <p:spPr>
            <a:xfrm>
              <a:off x="6667500" y="2681288"/>
              <a:ext cx="266700" cy="83344"/>
            </a:xfrm>
            <a:custGeom>
              <a:avLst/>
              <a:gdLst/>
              <a:ahLst/>
              <a:cxnLst/>
              <a:rect l="l" t="t" r="r" b="b"/>
              <a:pathLst>
                <a:path w="266700" h="83344">
                  <a:moveTo>
                    <a:pt x="266700" y="0"/>
                  </a:moveTo>
                  <a:lnTo>
                    <a:pt x="0" y="0"/>
                  </a:lnTo>
                  <a:lnTo>
                    <a:pt x="0" y="83344"/>
                  </a:lnTo>
                  <a:lnTo>
                    <a:pt x="266700" y="83344"/>
                  </a:lnTo>
                  <a:lnTo>
                    <a:pt x="266700" y="0"/>
                  </a:lnTo>
                  <a:close/>
                  <a:moveTo>
                    <a:pt x="66675" y="41672"/>
                  </a:moveTo>
                  <a:cubicBezTo>
                    <a:pt x="66675" y="50878"/>
                    <a:pt x="59212" y="58341"/>
                    <a:pt x="50006" y="58341"/>
                  </a:cubicBezTo>
                  <a:cubicBezTo>
                    <a:pt x="40800" y="58341"/>
                    <a:pt x="33338" y="50878"/>
                    <a:pt x="33338" y="41672"/>
                  </a:cubicBezTo>
                  <a:cubicBezTo>
                    <a:pt x="33338" y="32466"/>
                    <a:pt x="40800" y="25003"/>
                    <a:pt x="50006" y="25003"/>
                  </a:cubicBezTo>
                  <a:cubicBezTo>
                    <a:pt x="59212" y="25003"/>
                    <a:pt x="66675" y="32466"/>
                    <a:pt x="66675" y="41672"/>
                  </a:cubicBezTo>
                  <a:close/>
                </a:path>
              </a:pathLst>
            </a:custGeom>
            <a:solidFill>
              <a:srgbClr val="17313A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6667500" y="2797969"/>
              <a:ext cx="266700" cy="83344"/>
            </a:xfrm>
            <a:custGeom>
              <a:avLst/>
              <a:gdLst/>
              <a:ahLst/>
              <a:cxnLst/>
              <a:rect l="l" t="t" r="r" b="b"/>
              <a:pathLst>
                <a:path w="266700" h="83344">
                  <a:moveTo>
                    <a:pt x="266700" y="0"/>
                  </a:moveTo>
                  <a:lnTo>
                    <a:pt x="0" y="0"/>
                  </a:lnTo>
                  <a:lnTo>
                    <a:pt x="0" y="83344"/>
                  </a:lnTo>
                  <a:lnTo>
                    <a:pt x="266700" y="83344"/>
                  </a:lnTo>
                  <a:lnTo>
                    <a:pt x="266700" y="0"/>
                  </a:lnTo>
                  <a:close/>
                  <a:moveTo>
                    <a:pt x="50006" y="58341"/>
                  </a:moveTo>
                  <a:cubicBezTo>
                    <a:pt x="59212" y="58341"/>
                    <a:pt x="66675" y="50878"/>
                    <a:pt x="66675" y="41672"/>
                  </a:cubicBezTo>
                  <a:cubicBezTo>
                    <a:pt x="66675" y="32466"/>
                    <a:pt x="59212" y="25003"/>
                    <a:pt x="50006" y="25003"/>
                  </a:cubicBezTo>
                  <a:cubicBezTo>
                    <a:pt x="40800" y="25003"/>
                    <a:pt x="33338" y="32466"/>
                    <a:pt x="33338" y="41672"/>
                  </a:cubicBezTo>
                  <a:cubicBezTo>
                    <a:pt x="33338" y="50878"/>
                    <a:pt x="40800" y="58341"/>
                    <a:pt x="50006" y="58341"/>
                  </a:cubicBezTo>
                  <a:close/>
                </a:path>
              </a:pathLst>
            </a:custGeom>
            <a:solidFill>
              <a:srgbClr val="17313A"/>
            </a:solidFill>
            <a:ln>
              <a:noFill/>
            </a:ln>
          </p:spPr>
        </p:sp>
      </p:grpSp>
      <p:sp>
        <p:nvSpPr>
          <p:cNvPr id="38" name="TextBox 38"/>
          <p:cNvSpPr txBox="1"/>
          <p:nvPr/>
        </p:nvSpPr>
        <p:spPr>
          <a:xfrm>
            <a:off x="7048500" y="2695575"/>
            <a:ext cx="119974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Agent 模式</a:t>
            </a:r>
          </a:p>
        </p:txBody>
      </p:sp>
      <p:sp>
        <p:nvSpPr>
          <p:cNvPr id="39" name="Ellipse 39"/>
          <p:cNvSpPr/>
          <p:nvPr/>
        </p:nvSpPr>
        <p:spPr>
          <a:xfrm>
            <a:off x="6657975" y="3114675"/>
            <a:ext cx="95250" cy="95250"/>
          </a:xfrm>
          <a:prstGeom prst="ellipse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844665" y="3106102"/>
            <a:ext cx="71675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HTTP 接入</a:t>
            </a:r>
          </a:p>
        </p:txBody>
      </p:sp>
      <p:sp>
        <p:nvSpPr>
          <p:cNvPr id="41" name="Ellipse 41"/>
          <p:cNvSpPr/>
          <p:nvPr/>
        </p:nvSpPr>
        <p:spPr>
          <a:xfrm>
            <a:off x="6657975" y="3362325"/>
            <a:ext cx="95250" cy="95250"/>
          </a:xfrm>
          <a:prstGeom prst="ellipse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6844665" y="3353752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适合长期驻留采集</a:t>
            </a:r>
          </a:p>
        </p:txBody>
      </p:sp>
      <p:sp>
        <p:nvSpPr>
          <p:cNvPr id="43" name="Ellipse 43"/>
          <p:cNvSpPr/>
          <p:nvPr/>
        </p:nvSpPr>
        <p:spPr>
          <a:xfrm>
            <a:off x="6657975" y="3609975"/>
            <a:ext cx="95250" cy="95250"/>
          </a:xfrm>
          <a:prstGeom prst="ellipse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844665" y="360140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控制动作更自然</a:t>
            </a:r>
          </a:p>
        </p:txBody>
      </p:sp>
      <p:sp>
        <p:nvSpPr>
          <p:cNvPr id="45" name="Rectangle 45"/>
          <p:cNvSpPr/>
          <p:nvPr/>
        </p:nvSpPr>
        <p:spPr>
          <a:xfrm>
            <a:off x="8915400" y="2438400"/>
            <a:ext cx="2209800" cy="16192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46" name="Rectangle 46"/>
          <p:cNvSpPr/>
          <p:nvPr/>
        </p:nvSpPr>
        <p:spPr>
          <a:xfrm>
            <a:off x="8877300" y="2381250"/>
            <a:ext cx="2209800" cy="16192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47" name="Rectangle 47"/>
          <p:cNvSpPr/>
          <p:nvPr/>
        </p:nvSpPr>
        <p:spPr>
          <a:xfrm>
            <a:off x="8877300" y="2381250"/>
            <a:ext cx="2209800" cy="57150"/>
          </a:xfrm>
          <a:prstGeom prst="rect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48" name="Freeform 48"/>
          <p:cNvSpPr/>
          <p:nvPr/>
        </p:nvSpPr>
        <p:spPr>
          <a:xfrm>
            <a:off x="9163050" y="264795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700" y="91678"/>
                </a:moveTo>
                <a:cubicBezTo>
                  <a:pt x="266700" y="142311"/>
                  <a:pt x="225655" y="183356"/>
                  <a:pt x="175022" y="183356"/>
                </a:cubicBezTo>
                <a:lnTo>
                  <a:pt x="116681" y="183356"/>
                </a:lnTo>
                <a:lnTo>
                  <a:pt x="116681" y="216694"/>
                </a:lnTo>
                <a:lnTo>
                  <a:pt x="83344" y="216694"/>
                </a:lnTo>
                <a:lnTo>
                  <a:pt x="83344" y="250031"/>
                </a:lnTo>
                <a:lnTo>
                  <a:pt x="66675" y="266700"/>
                </a:lnTo>
                <a:lnTo>
                  <a:pt x="0" y="266700"/>
                </a:lnTo>
                <a:lnTo>
                  <a:pt x="0" y="200025"/>
                </a:lnTo>
                <a:lnTo>
                  <a:pt x="86069" y="113956"/>
                </a:lnTo>
                <a:cubicBezTo>
                  <a:pt x="84289" y="106824"/>
                  <a:pt x="83344" y="99361"/>
                  <a:pt x="83344" y="91678"/>
                </a:cubicBezTo>
                <a:cubicBezTo>
                  <a:pt x="83344" y="41046"/>
                  <a:pt x="124389" y="0"/>
                  <a:pt x="175022" y="0"/>
                </a:cubicBezTo>
                <a:cubicBezTo>
                  <a:pt x="225655" y="0"/>
                  <a:pt x="266700" y="41046"/>
                  <a:pt x="266700" y="91678"/>
                </a:cubicBezTo>
                <a:close/>
                <a:moveTo>
                  <a:pt x="216694" y="66675"/>
                </a:moveTo>
                <a:cubicBezTo>
                  <a:pt x="216694" y="75881"/>
                  <a:pt x="209231" y="83344"/>
                  <a:pt x="200025" y="83344"/>
                </a:cubicBezTo>
                <a:cubicBezTo>
                  <a:pt x="190819" y="83344"/>
                  <a:pt x="183356" y="75881"/>
                  <a:pt x="183356" y="66675"/>
                </a:cubicBezTo>
                <a:cubicBezTo>
                  <a:pt x="183356" y="57469"/>
                  <a:pt x="190819" y="50006"/>
                  <a:pt x="200025" y="50006"/>
                </a:cubicBezTo>
                <a:cubicBezTo>
                  <a:pt x="209231" y="50006"/>
                  <a:pt x="216694" y="57469"/>
                  <a:pt x="216694" y="66675"/>
                </a:cubicBezTo>
                <a:close/>
              </a:path>
            </a:pathLst>
          </a:custGeom>
          <a:solidFill>
            <a:srgbClr val="19A38C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9544050" y="2695575"/>
            <a:ext cx="106172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SSH Linux</a:t>
            </a:r>
          </a:p>
        </p:txBody>
      </p:sp>
      <p:sp>
        <p:nvSpPr>
          <p:cNvPr id="50" name="Ellipse 50"/>
          <p:cNvSpPr/>
          <p:nvPr/>
        </p:nvSpPr>
        <p:spPr>
          <a:xfrm>
            <a:off x="9153525" y="3114675"/>
            <a:ext cx="95250" cy="95250"/>
          </a:xfrm>
          <a:prstGeom prst="ellipse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9340215" y="310610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零部署</a:t>
            </a:r>
          </a:p>
        </p:txBody>
      </p:sp>
      <p:sp>
        <p:nvSpPr>
          <p:cNvPr id="52" name="Ellipse 52"/>
          <p:cNvSpPr/>
          <p:nvPr/>
        </p:nvSpPr>
        <p:spPr>
          <a:xfrm>
            <a:off x="9153525" y="3362325"/>
            <a:ext cx="95250" cy="95250"/>
          </a:xfrm>
          <a:prstGeom prst="ellipse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9340215" y="3353752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直接执行系统命令</a:t>
            </a:r>
          </a:p>
        </p:txBody>
      </p:sp>
      <p:sp>
        <p:nvSpPr>
          <p:cNvPr id="54" name="Ellipse 54"/>
          <p:cNvSpPr/>
          <p:nvPr/>
        </p:nvSpPr>
        <p:spPr>
          <a:xfrm>
            <a:off x="9153525" y="3609975"/>
            <a:ext cx="95250" cy="95250"/>
          </a:xfrm>
          <a:prstGeom prst="ellipse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9340215" y="360140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适合快速接入目标机</a:t>
            </a:r>
          </a:p>
        </p:txBody>
      </p:sp>
      <p:sp>
        <p:nvSpPr>
          <p:cNvPr id="56" name="Rectangle 56"/>
          <p:cNvSpPr/>
          <p:nvPr/>
        </p:nvSpPr>
        <p:spPr>
          <a:xfrm>
            <a:off x="6419850" y="4381500"/>
            <a:ext cx="4705350" cy="9525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57" name="Rectangle 57"/>
          <p:cNvSpPr/>
          <p:nvPr/>
        </p:nvSpPr>
        <p:spPr>
          <a:xfrm>
            <a:off x="6381750" y="4324350"/>
            <a:ext cx="47053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58" name="Rectangle 58"/>
          <p:cNvSpPr/>
          <p:nvPr/>
        </p:nvSpPr>
        <p:spPr>
          <a:xfrm>
            <a:off x="6381750" y="4324350"/>
            <a:ext cx="4705350" cy="57150"/>
          </a:xfrm>
          <a:prstGeom prst="rect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6614160" y="4556760"/>
            <a:ext cx="33604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两种模式在前端都被抽象成同一套导入语义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614160" y="4785360"/>
            <a:ext cx="33604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先扫描、再选卡、最后进入同一个控制台。</a:t>
            </a:r>
          </a:p>
        </p:txBody>
      </p:sp>
    </p:spTree>
  </p:cSld>
  <p:clrMapOvr>
    <a:masterClrMapping/>
  </p:clrMapOvr>
  <p:transition 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B8DEF">
                  <a:alpha val="8000"/>
                </a:srgbClr>
              </a:gs>
              <a:gs pos="100000">
                <a:srgbClr val="5B8D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7313A"/>
              </a:gs>
              <a:gs pos="100000">
                <a:srgbClr val="19A38C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05778" y="193834"/>
            <a:ext cx="3807589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平台登录与 SSH 认证解耦</a:t>
            </a:r>
          </a:p>
        </p:txBody>
      </p:sp>
      <p:sp>
        <p:nvSpPr>
          <p:cNvPr id="6" name="Rectangle 6"/>
          <p:cNvSpPr/>
          <p:nvPr/>
        </p:nvSpPr>
        <p:spPr>
          <a:xfrm>
            <a:off x="533400" y="609600"/>
            <a:ext cx="11125200" cy="41910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25805" y="730568"/>
            <a:ext cx="753897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平台用户身份决定 API 与主机可见范围，目标主机连接则继续使用独立 SSH 凭据。</a:t>
            </a:r>
          </a:p>
        </p:txBody>
      </p:sp>
      <p:sp>
        <p:nvSpPr>
          <p:cNvPr id="8" name="Line 8"/>
          <p:cNvSpPr/>
          <p:nvPr/>
        </p:nvSpPr>
        <p:spPr>
          <a:xfrm>
            <a:off x="0" y="66103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D8E0E8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371475" y="6691312"/>
            <a:ext cx="36776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Source: AI DataCenter repository and implemented product features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04886" y="6691312"/>
            <a:ext cx="258222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STRICTLY CONFIDENTIAL | AI DATACENTER SHOWCASE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08368" y="6691312"/>
            <a:ext cx="11215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  <p:sp>
        <p:nvSpPr>
          <p:cNvPr id="12" name="Rectangle 12"/>
          <p:cNvSpPr/>
          <p:nvPr/>
        </p:nvSpPr>
        <p:spPr>
          <a:xfrm>
            <a:off x="838200" y="1657350"/>
            <a:ext cx="4895850" cy="40957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800100" y="1600200"/>
            <a:ext cx="4895850" cy="409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800100" y="1600200"/>
            <a:ext cx="4895850" cy="5715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045845" y="174593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两条认证链路</a:t>
            </a:r>
          </a:p>
        </p:txBody>
      </p:sp>
      <p:sp>
        <p:nvSpPr>
          <p:cNvPr id="16" name="Rectangle 16"/>
          <p:cNvSpPr/>
          <p:nvPr/>
        </p:nvSpPr>
        <p:spPr>
          <a:xfrm>
            <a:off x="1143000" y="2400300"/>
            <a:ext cx="1790700" cy="10477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1104900" y="2343150"/>
            <a:ext cx="1790700" cy="10477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1104900" y="2343150"/>
            <a:ext cx="1790700" cy="5715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1383506" y="2625328"/>
            <a:ext cx="185738" cy="216694"/>
            <a:chOff x="1383506" y="2625328"/>
            <a:chExt cx="185738" cy="216694"/>
          </a:xfrm>
        </p:grpSpPr>
        <p:sp>
          <p:nvSpPr>
            <p:cNvPr id="19" name="Freeform 19"/>
            <p:cNvSpPr/>
            <p:nvPr/>
          </p:nvSpPr>
          <p:spPr>
            <a:xfrm>
              <a:off x="1429941" y="2625328"/>
              <a:ext cx="92869" cy="92869"/>
            </a:xfrm>
            <a:custGeom>
              <a:avLst/>
              <a:gdLst/>
              <a:ahLst/>
              <a:cxnLst/>
              <a:rect l="l" t="t" r="r" b="b"/>
              <a:pathLst>
                <a:path w="92869" h="92869">
                  <a:moveTo>
                    <a:pt x="46434" y="92869"/>
                  </a:moveTo>
                  <a:cubicBezTo>
                    <a:pt x="72079" y="92869"/>
                    <a:pt x="92869" y="72079"/>
                    <a:pt x="92869" y="46434"/>
                  </a:cubicBezTo>
                  <a:cubicBezTo>
                    <a:pt x="92869" y="20789"/>
                    <a:pt x="72079" y="0"/>
                    <a:pt x="46434" y="0"/>
                  </a:cubicBezTo>
                  <a:cubicBezTo>
                    <a:pt x="20789" y="0"/>
                    <a:pt x="0" y="20789"/>
                    <a:pt x="0" y="46434"/>
                  </a:cubicBezTo>
                  <a:cubicBezTo>
                    <a:pt x="0" y="72079"/>
                    <a:pt x="20789" y="92869"/>
                    <a:pt x="46434" y="92869"/>
                  </a:cubicBezTo>
                  <a:close/>
                </a:path>
              </a:pathLst>
            </a:custGeom>
            <a:solidFill>
              <a:srgbClr val="17313A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1383506" y="2749153"/>
              <a:ext cx="185738" cy="92869"/>
            </a:xfrm>
            <a:custGeom>
              <a:avLst/>
              <a:gdLst/>
              <a:ahLst/>
              <a:cxnLst/>
              <a:rect l="l" t="t" r="r" b="b"/>
              <a:pathLst>
                <a:path w="185738" h="92869">
                  <a:moveTo>
                    <a:pt x="185738" y="46434"/>
                  </a:moveTo>
                  <a:cubicBezTo>
                    <a:pt x="185738" y="20789"/>
                    <a:pt x="164949" y="0"/>
                    <a:pt x="139303" y="0"/>
                  </a:cubicBezTo>
                  <a:lnTo>
                    <a:pt x="46434" y="0"/>
                  </a:lnTo>
                  <a:cubicBezTo>
                    <a:pt x="20789" y="0"/>
                    <a:pt x="0" y="20789"/>
                    <a:pt x="0" y="46434"/>
                  </a:cubicBezTo>
                  <a:lnTo>
                    <a:pt x="0" y="92869"/>
                  </a:lnTo>
                  <a:lnTo>
                    <a:pt x="185738" y="92869"/>
                  </a:lnTo>
                  <a:lnTo>
                    <a:pt x="185738" y="46434"/>
                  </a:lnTo>
                  <a:close/>
                </a:path>
              </a:pathLst>
            </a:custGeom>
            <a:solidFill>
              <a:srgbClr val="17313A"/>
            </a:solidFill>
            <a:ln>
              <a:noFill/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1714500" y="265747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平台用户</a:t>
            </a:r>
          </a:p>
        </p:txBody>
      </p:sp>
      <p:sp>
        <p:nvSpPr>
          <p:cNvPr id="23" name="Rectangle 23"/>
          <p:cNvSpPr/>
          <p:nvPr/>
        </p:nvSpPr>
        <p:spPr>
          <a:xfrm>
            <a:off x="3181350" y="2400300"/>
            <a:ext cx="2095500" cy="10477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3143250" y="2343150"/>
            <a:ext cx="2095500" cy="10477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3143250" y="2343150"/>
            <a:ext cx="2095500" cy="57150"/>
          </a:xfrm>
          <a:prstGeom prst="rect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26" name="Freeform 26"/>
          <p:cNvSpPr/>
          <p:nvPr/>
        </p:nvSpPr>
        <p:spPr>
          <a:xfrm>
            <a:off x="3425428" y="2609850"/>
            <a:ext cx="216694" cy="247650"/>
          </a:xfrm>
          <a:custGeom>
            <a:avLst/>
            <a:gdLst/>
            <a:ahLst/>
            <a:cxnLst/>
            <a:rect l="l" t="t" r="r" b="b"/>
            <a:pathLst>
              <a:path w="216694" h="247650">
                <a:moveTo>
                  <a:pt x="51853" y="207297"/>
                </a:moveTo>
                <a:lnTo>
                  <a:pt x="108347" y="247650"/>
                </a:lnTo>
                <a:lnTo>
                  <a:pt x="164840" y="207297"/>
                </a:lnTo>
                <a:cubicBezTo>
                  <a:pt x="197382" y="184053"/>
                  <a:pt x="216694" y="146526"/>
                  <a:pt x="216694" y="106537"/>
                </a:cubicBezTo>
                <a:lnTo>
                  <a:pt x="216694" y="46434"/>
                </a:lnTo>
                <a:lnTo>
                  <a:pt x="108347" y="0"/>
                </a:lnTo>
                <a:lnTo>
                  <a:pt x="0" y="46434"/>
                </a:lnTo>
                <a:lnTo>
                  <a:pt x="0" y="106537"/>
                </a:lnTo>
                <a:cubicBezTo>
                  <a:pt x="0" y="146526"/>
                  <a:pt x="19313" y="184053"/>
                  <a:pt x="51853" y="207297"/>
                </a:cubicBezTo>
                <a:close/>
              </a:path>
            </a:pathLst>
          </a:custGeom>
          <a:solidFill>
            <a:srgbClr val="5B8DEF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3773805" y="2673668"/>
            <a:ext cx="186646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平台会话 / API 鉴权</a:t>
            </a:r>
          </a:p>
        </p:txBody>
      </p:sp>
      <p:sp>
        <p:nvSpPr>
          <p:cNvPr id="28" name="Rectangle 28"/>
          <p:cNvSpPr/>
          <p:nvPr/>
        </p:nvSpPr>
        <p:spPr>
          <a:xfrm>
            <a:off x="2171700" y="4000500"/>
            <a:ext cx="2076450" cy="10477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2133600" y="3943350"/>
            <a:ext cx="2076450" cy="10477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2133600" y="3943350"/>
            <a:ext cx="2076450" cy="57150"/>
          </a:xfrm>
          <a:prstGeom prst="rect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31" name="Freeform 31"/>
          <p:cNvSpPr/>
          <p:nvPr/>
        </p:nvSpPr>
        <p:spPr>
          <a:xfrm>
            <a:off x="2400300" y="4210050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247650" y="85130"/>
                </a:moveTo>
                <a:cubicBezTo>
                  <a:pt x="247650" y="132146"/>
                  <a:pt x="209537" y="170259"/>
                  <a:pt x="162520" y="170259"/>
                </a:cubicBezTo>
                <a:lnTo>
                  <a:pt x="108347" y="170259"/>
                </a:lnTo>
                <a:lnTo>
                  <a:pt x="108347" y="201216"/>
                </a:lnTo>
                <a:lnTo>
                  <a:pt x="77391" y="201216"/>
                </a:lnTo>
                <a:lnTo>
                  <a:pt x="77391" y="232172"/>
                </a:lnTo>
                <a:lnTo>
                  <a:pt x="61912" y="247650"/>
                </a:lnTo>
                <a:lnTo>
                  <a:pt x="0" y="247650"/>
                </a:lnTo>
                <a:lnTo>
                  <a:pt x="0" y="185738"/>
                </a:lnTo>
                <a:lnTo>
                  <a:pt x="79921" y="105816"/>
                </a:lnTo>
                <a:cubicBezTo>
                  <a:pt x="78268" y="99194"/>
                  <a:pt x="77391" y="92264"/>
                  <a:pt x="77391" y="85130"/>
                </a:cubicBezTo>
                <a:cubicBezTo>
                  <a:pt x="77391" y="38114"/>
                  <a:pt x="115504" y="0"/>
                  <a:pt x="162520" y="0"/>
                </a:cubicBezTo>
                <a:cubicBezTo>
                  <a:pt x="209537" y="0"/>
                  <a:pt x="247650" y="38114"/>
                  <a:pt x="247650" y="85130"/>
                </a:cubicBezTo>
                <a:close/>
                <a:moveTo>
                  <a:pt x="201216" y="61912"/>
                </a:moveTo>
                <a:cubicBezTo>
                  <a:pt x="201216" y="70461"/>
                  <a:pt x="194286" y="77391"/>
                  <a:pt x="185738" y="77391"/>
                </a:cubicBezTo>
                <a:cubicBezTo>
                  <a:pt x="177189" y="77391"/>
                  <a:pt x="170259" y="70461"/>
                  <a:pt x="170259" y="61912"/>
                </a:cubicBezTo>
                <a:cubicBezTo>
                  <a:pt x="170259" y="53364"/>
                  <a:pt x="177189" y="46434"/>
                  <a:pt x="185738" y="46434"/>
                </a:cubicBezTo>
                <a:cubicBezTo>
                  <a:pt x="194286" y="46434"/>
                  <a:pt x="201216" y="53364"/>
                  <a:pt x="201216" y="61912"/>
                </a:cubicBezTo>
                <a:close/>
              </a:path>
            </a:pathLst>
          </a:custGeom>
          <a:solidFill>
            <a:srgbClr val="19A38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2764155" y="4273868"/>
            <a:ext cx="1742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目标主机 SSH 认证</a:t>
            </a:r>
          </a:p>
        </p:txBody>
      </p:sp>
      <p:sp>
        <p:nvSpPr>
          <p:cNvPr id="33" name="Line 33"/>
          <p:cNvSpPr/>
          <p:nvPr/>
        </p:nvSpPr>
        <p:spPr>
          <a:xfrm>
            <a:off x="2895600" y="2876550"/>
            <a:ext cx="247650" cy="9525"/>
          </a:xfrm>
          <a:custGeom>
            <a:avLst/>
            <a:gdLst/>
            <a:ahLst/>
            <a:cxnLst/>
            <a:rect l="l" t="t" r="r" b="b"/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38100">
            <a:solidFill>
              <a:srgbClr val="5B8DEF"/>
            </a:solidFill>
          </a:ln>
        </p:spPr>
      </p:sp>
      <p:sp>
        <p:nvSpPr>
          <p:cNvPr id="34" name="Polygon 34"/>
          <p:cNvSpPr/>
          <p:nvPr/>
        </p:nvSpPr>
        <p:spPr>
          <a:xfrm>
            <a:off x="3028950" y="28003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14300" y="76200"/>
                </a:move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5B8DEF"/>
          </a:solidFill>
          <a:ln>
            <a:noFill/>
          </a:ln>
        </p:spPr>
      </p:sp>
      <p:sp>
        <p:nvSpPr>
          <p:cNvPr id="35" name="Line 35"/>
          <p:cNvSpPr/>
          <p:nvPr/>
        </p:nvSpPr>
        <p:spPr>
          <a:xfrm>
            <a:off x="3181350" y="3390900"/>
            <a:ext cx="781050" cy="552450"/>
          </a:xfrm>
          <a:custGeom>
            <a:avLst/>
            <a:gdLst/>
            <a:ahLst/>
            <a:cxnLst/>
            <a:rect l="l" t="t" r="r" b="b"/>
            <a:pathLst>
              <a:path w="781050" h="552450">
                <a:moveTo>
                  <a:pt x="781050" y="0"/>
                </a:moveTo>
                <a:lnTo>
                  <a:pt x="0" y="552450"/>
                </a:lnTo>
              </a:path>
            </a:pathLst>
          </a:custGeom>
          <a:noFill/>
          <a:ln w="38100">
            <a:solidFill>
              <a:srgbClr val="19A38C"/>
            </a:solidFill>
          </a:ln>
        </p:spPr>
      </p:sp>
      <p:sp>
        <p:nvSpPr>
          <p:cNvPr id="36" name="Polygon 36"/>
          <p:cNvSpPr/>
          <p:nvPr/>
        </p:nvSpPr>
        <p:spPr>
          <a:xfrm>
            <a:off x="3181350" y="3810000"/>
            <a:ext cx="152400" cy="133350"/>
          </a:xfrm>
          <a:custGeom>
            <a:avLst/>
            <a:gdLst/>
            <a:ahLst/>
            <a:cxnLst/>
            <a:rect l="l" t="t" r="r" b="b"/>
            <a:pathLst>
              <a:path w="152400" h="133350">
                <a:moveTo>
                  <a:pt x="0" y="133350"/>
                </a:moveTo>
                <a:lnTo>
                  <a:pt x="57150" y="0"/>
                </a:lnTo>
                <a:lnTo>
                  <a:pt x="152400" y="133350"/>
                </a:lnTo>
                <a:close/>
              </a:path>
            </a:pathLst>
          </a:custGeom>
          <a:solidFill>
            <a:srgbClr val="19A38C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6076950" y="1657350"/>
            <a:ext cx="5334000" cy="40957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6038850" y="1600200"/>
            <a:ext cx="5334000" cy="409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6038850" y="1600200"/>
            <a:ext cx="5334000" cy="57150"/>
          </a:xfrm>
          <a:prstGeom prst="rect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284595" y="174593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权限可见范围</a:t>
            </a:r>
          </a:p>
        </p:txBody>
      </p:sp>
      <p:sp>
        <p:nvSpPr>
          <p:cNvPr id="41" name="Rectangle 41"/>
          <p:cNvSpPr/>
          <p:nvPr/>
        </p:nvSpPr>
        <p:spPr>
          <a:xfrm>
            <a:off x="6305550" y="2343150"/>
            <a:ext cx="4800600" cy="51435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6868287" y="2537460"/>
            <a:ext cx="3985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角色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821168" y="2537460"/>
            <a:ext cx="15026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主机记录可见范围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903714" y="253746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典型动作</a:t>
            </a:r>
          </a:p>
        </p:txBody>
      </p:sp>
      <p:sp>
        <p:nvSpPr>
          <p:cNvPr id="45" name="Rectangle 45"/>
          <p:cNvSpPr/>
          <p:nvPr/>
        </p:nvSpPr>
        <p:spPr>
          <a:xfrm>
            <a:off x="6305550" y="3048000"/>
            <a:ext cx="48006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6776276" y="3280410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管理员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031480" y="3280410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全部用户主机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430226" y="3296602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创建用户、查看全部记录</a:t>
            </a:r>
          </a:p>
        </p:txBody>
      </p:sp>
      <p:sp>
        <p:nvSpPr>
          <p:cNvPr id="49" name="Rectangle 49"/>
          <p:cNvSpPr/>
          <p:nvPr/>
        </p:nvSpPr>
        <p:spPr>
          <a:xfrm>
            <a:off x="6305550" y="3867150"/>
            <a:ext cx="48006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6684264" y="409956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普通用户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031480" y="4099560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仅自己的主机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506902" y="411575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复用自己的已保存主机</a:t>
            </a:r>
          </a:p>
        </p:txBody>
      </p:sp>
      <p:sp>
        <p:nvSpPr>
          <p:cNvPr id="53" name="Rectangle 53"/>
          <p:cNvSpPr/>
          <p:nvPr/>
        </p:nvSpPr>
        <p:spPr>
          <a:xfrm>
            <a:off x="6343650" y="4876800"/>
            <a:ext cx="4800600" cy="6096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54" name="Rectangle 54"/>
          <p:cNvSpPr/>
          <p:nvPr/>
        </p:nvSpPr>
        <p:spPr>
          <a:xfrm>
            <a:off x="6305550" y="4819650"/>
            <a:ext cx="4800600" cy="609600"/>
          </a:xfrm>
          <a:prstGeom prst="rect">
            <a:avLst/>
          </a:prstGeom>
          <a:solidFill>
            <a:srgbClr val="EDF2F6"/>
          </a:solidFill>
          <a:ln w="9525">
            <a:solidFill>
              <a:srgbClr val="D8E0E8"/>
            </a:solidFill>
          </a:ln>
        </p:spPr>
      </p:sp>
      <p:sp>
        <p:nvSpPr>
          <p:cNvPr id="55" name="Rectangle 55"/>
          <p:cNvSpPr/>
          <p:nvPr/>
        </p:nvSpPr>
        <p:spPr>
          <a:xfrm>
            <a:off x="6305550" y="4819650"/>
            <a:ext cx="4800600" cy="5715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538912" y="4926806"/>
            <a:ext cx="23452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平台登录负责“谁在使用平台”，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538912" y="5155406"/>
            <a:ext cx="414444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SSH 认证负责“如何连接目标机器”，两者职责完全解耦。</a:t>
            </a:r>
          </a:p>
        </p:txBody>
      </p:sp>
    </p:spTree>
  </p:cSld>
  <p:clrMapOvr>
    <a:masterClrMapping/>
  </p:clrMapOvr>
  <p:transition 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B8DEF">
                  <a:alpha val="8000"/>
                </a:srgbClr>
              </a:gs>
              <a:gs pos="100000">
                <a:srgbClr val="5B8D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7313A"/>
              </a:gs>
              <a:gs pos="100000">
                <a:srgbClr val="19A38C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05778" y="193834"/>
            <a:ext cx="3724204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主密钥保障凭据加密复用</a:t>
            </a:r>
          </a:p>
        </p:txBody>
      </p:sp>
      <p:sp>
        <p:nvSpPr>
          <p:cNvPr id="6" name="Rectangle 6"/>
          <p:cNvSpPr/>
          <p:nvPr/>
        </p:nvSpPr>
        <p:spPr>
          <a:xfrm>
            <a:off x="533400" y="609600"/>
            <a:ext cx="11125200" cy="41910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25805" y="730568"/>
            <a:ext cx="748722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凭据可以被复用，但前提是它们在平台侧始终以受控、加密和可追溯的方式保存。</a:t>
            </a:r>
          </a:p>
        </p:txBody>
      </p:sp>
      <p:sp>
        <p:nvSpPr>
          <p:cNvPr id="8" name="Line 8"/>
          <p:cNvSpPr/>
          <p:nvPr/>
        </p:nvSpPr>
        <p:spPr>
          <a:xfrm>
            <a:off x="0" y="66103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D8E0E8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371475" y="6691312"/>
            <a:ext cx="36776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Source: AI DataCenter repository and implemented product features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04886" y="6691312"/>
            <a:ext cx="258222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STRICTLY CONFIDENTIAL | AI DATACENTER SHOWCASE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680984" y="6691312"/>
            <a:ext cx="13954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22</a:t>
            </a:r>
          </a:p>
        </p:txBody>
      </p:sp>
      <p:sp>
        <p:nvSpPr>
          <p:cNvPr id="12" name="Rectangle 12"/>
          <p:cNvSpPr/>
          <p:nvPr/>
        </p:nvSpPr>
        <p:spPr>
          <a:xfrm>
            <a:off x="876300" y="2495550"/>
            <a:ext cx="2343150" cy="13335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838200" y="2438400"/>
            <a:ext cx="2343150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838200" y="2438400"/>
            <a:ext cx="2343150" cy="5715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482757" y="27555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录入凭据</a:t>
            </a:r>
          </a:p>
        </p:txBody>
      </p:sp>
      <p:sp>
        <p:nvSpPr>
          <p:cNvPr id="16" name="Rectangle 16"/>
          <p:cNvSpPr/>
          <p:nvPr/>
        </p:nvSpPr>
        <p:spPr>
          <a:xfrm>
            <a:off x="3600450" y="2495550"/>
            <a:ext cx="2343150" cy="13335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3562350" y="2438400"/>
            <a:ext cx="2343150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3562350" y="2438400"/>
            <a:ext cx="2343150" cy="57150"/>
          </a:xfrm>
          <a:prstGeom prst="rect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4080391" y="2755582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主密钥加密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324600" y="2495550"/>
            <a:ext cx="2343150" cy="13335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6286500" y="2438400"/>
            <a:ext cx="2343150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6286500" y="2438400"/>
            <a:ext cx="2343150" cy="57150"/>
          </a:xfrm>
          <a:prstGeom prst="rect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931057" y="27555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凭据仓库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048750" y="2495550"/>
            <a:ext cx="2343150" cy="13335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9010650" y="2438400"/>
            <a:ext cx="2343150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9010650" y="2438400"/>
            <a:ext cx="2343150" cy="57150"/>
          </a:xfrm>
          <a:prstGeom prst="rect">
            <a:avLst/>
          </a:prstGeom>
          <a:solidFill>
            <a:srgbClr val="1F9D68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655207" y="27555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自动复用</a:t>
            </a:r>
          </a:p>
        </p:txBody>
      </p:sp>
      <p:sp>
        <p:nvSpPr>
          <p:cNvPr id="28" name="Freeform 28"/>
          <p:cNvSpPr/>
          <p:nvPr/>
        </p:nvSpPr>
        <p:spPr>
          <a:xfrm>
            <a:off x="1771650" y="3181350"/>
            <a:ext cx="323850" cy="323850"/>
          </a:xfrm>
          <a:custGeom>
            <a:avLst/>
            <a:gdLst/>
            <a:ahLst/>
            <a:cxnLst/>
            <a:rect l="l" t="t" r="r" b="b"/>
            <a:pathLst>
              <a:path w="323850" h="323850">
                <a:moveTo>
                  <a:pt x="323850" y="111323"/>
                </a:moveTo>
                <a:cubicBezTo>
                  <a:pt x="323850" y="172806"/>
                  <a:pt x="274009" y="222647"/>
                  <a:pt x="212527" y="222647"/>
                </a:cubicBezTo>
                <a:lnTo>
                  <a:pt x="141684" y="222647"/>
                </a:lnTo>
                <a:lnTo>
                  <a:pt x="141684" y="263128"/>
                </a:lnTo>
                <a:lnTo>
                  <a:pt x="101203" y="263128"/>
                </a:lnTo>
                <a:lnTo>
                  <a:pt x="101203" y="303609"/>
                </a:lnTo>
                <a:lnTo>
                  <a:pt x="80962" y="323850"/>
                </a:lnTo>
                <a:lnTo>
                  <a:pt x="0" y="323850"/>
                </a:lnTo>
                <a:lnTo>
                  <a:pt x="0" y="242888"/>
                </a:lnTo>
                <a:lnTo>
                  <a:pt x="104513" y="138375"/>
                </a:lnTo>
                <a:cubicBezTo>
                  <a:pt x="102351" y="129715"/>
                  <a:pt x="101203" y="120653"/>
                  <a:pt x="101203" y="111323"/>
                </a:cubicBezTo>
                <a:cubicBezTo>
                  <a:pt x="101203" y="49841"/>
                  <a:pt x="151044" y="0"/>
                  <a:pt x="212527" y="0"/>
                </a:cubicBezTo>
                <a:cubicBezTo>
                  <a:pt x="274009" y="0"/>
                  <a:pt x="323850" y="49841"/>
                  <a:pt x="323850" y="111323"/>
                </a:cubicBezTo>
                <a:close/>
                <a:moveTo>
                  <a:pt x="263128" y="80962"/>
                </a:moveTo>
                <a:cubicBezTo>
                  <a:pt x="263128" y="92141"/>
                  <a:pt x="254066" y="101203"/>
                  <a:pt x="242888" y="101203"/>
                </a:cubicBezTo>
                <a:cubicBezTo>
                  <a:pt x="231709" y="101203"/>
                  <a:pt x="222647" y="92141"/>
                  <a:pt x="222647" y="80962"/>
                </a:cubicBezTo>
                <a:cubicBezTo>
                  <a:pt x="222647" y="69784"/>
                  <a:pt x="231709" y="60722"/>
                  <a:pt x="242888" y="60722"/>
                </a:cubicBezTo>
                <a:cubicBezTo>
                  <a:pt x="254066" y="60722"/>
                  <a:pt x="263128" y="69784"/>
                  <a:pt x="263128" y="80962"/>
                </a:cubicBezTo>
                <a:close/>
              </a:path>
            </a:pathLst>
          </a:custGeom>
          <a:solidFill>
            <a:srgbClr val="17313A"/>
          </a:solidFill>
          <a:ln>
            <a:noFill/>
          </a:ln>
        </p:spPr>
      </p:sp>
      <p:sp>
        <p:nvSpPr>
          <p:cNvPr id="29" name="Freeform 29"/>
          <p:cNvSpPr/>
          <p:nvPr/>
        </p:nvSpPr>
        <p:spPr>
          <a:xfrm>
            <a:off x="4536281" y="3181350"/>
            <a:ext cx="242888" cy="323850"/>
          </a:xfrm>
          <a:custGeom>
            <a:avLst/>
            <a:gdLst/>
            <a:ahLst/>
            <a:cxnLst/>
            <a:rect l="l" t="t" r="r" b="b"/>
            <a:pathLst>
              <a:path w="242888" h="323850">
                <a:moveTo>
                  <a:pt x="40481" y="121444"/>
                </a:moveTo>
                <a:lnTo>
                  <a:pt x="40481" y="80962"/>
                </a:lnTo>
                <a:cubicBezTo>
                  <a:pt x="40481" y="36248"/>
                  <a:pt x="76729" y="0"/>
                  <a:pt x="121444" y="0"/>
                </a:cubicBezTo>
                <a:cubicBezTo>
                  <a:pt x="166157" y="0"/>
                  <a:pt x="202406" y="36248"/>
                  <a:pt x="202406" y="80962"/>
                </a:cubicBezTo>
                <a:lnTo>
                  <a:pt x="202406" y="121444"/>
                </a:lnTo>
                <a:lnTo>
                  <a:pt x="242888" y="121444"/>
                </a:lnTo>
                <a:lnTo>
                  <a:pt x="242888" y="323850"/>
                </a:lnTo>
                <a:lnTo>
                  <a:pt x="0" y="323850"/>
                </a:lnTo>
                <a:lnTo>
                  <a:pt x="0" y="121444"/>
                </a:lnTo>
                <a:lnTo>
                  <a:pt x="40481" y="121444"/>
                </a:lnTo>
                <a:close/>
                <a:moveTo>
                  <a:pt x="80962" y="80962"/>
                </a:moveTo>
                <a:cubicBezTo>
                  <a:pt x="80962" y="58605"/>
                  <a:pt x="99087" y="40481"/>
                  <a:pt x="121444" y="40481"/>
                </a:cubicBezTo>
                <a:cubicBezTo>
                  <a:pt x="143801" y="40481"/>
                  <a:pt x="161925" y="58605"/>
                  <a:pt x="161925" y="80962"/>
                </a:cubicBezTo>
                <a:lnTo>
                  <a:pt x="161925" y="121444"/>
                </a:lnTo>
                <a:lnTo>
                  <a:pt x="80962" y="121444"/>
                </a:lnTo>
                <a:lnTo>
                  <a:pt x="80962" y="80962"/>
                </a:lnTo>
                <a:close/>
                <a:moveTo>
                  <a:pt x="101203" y="263128"/>
                </a:moveTo>
                <a:lnTo>
                  <a:pt x="101203" y="182166"/>
                </a:lnTo>
                <a:lnTo>
                  <a:pt x="141684" y="182166"/>
                </a:lnTo>
                <a:lnTo>
                  <a:pt x="141684" y="263128"/>
                </a:lnTo>
                <a:lnTo>
                  <a:pt x="101203" y="263128"/>
                </a:lnTo>
                <a:close/>
              </a:path>
            </a:pathLst>
          </a:custGeom>
          <a:solidFill>
            <a:srgbClr val="5B8DEF"/>
          </a:solidFill>
          <a:ln>
            <a:noFill/>
          </a:ln>
        </p:spPr>
      </p:sp>
      <p:grpSp>
        <p:nvGrpSpPr>
          <p:cNvPr id="33" name="Group 33"/>
          <p:cNvGrpSpPr/>
          <p:nvPr/>
        </p:nvGrpSpPr>
        <p:grpSpPr>
          <a:xfrm>
            <a:off x="7260431" y="3181350"/>
            <a:ext cx="242888" cy="323850"/>
            <a:chOff x="7260431" y="3181350"/>
            <a:chExt cx="242888" cy="323850"/>
          </a:xfrm>
        </p:grpSpPr>
        <p:sp>
          <p:nvSpPr>
            <p:cNvPr id="30" name="Freeform 30"/>
            <p:cNvSpPr/>
            <p:nvPr/>
          </p:nvSpPr>
          <p:spPr>
            <a:xfrm>
              <a:off x="7260431" y="3310890"/>
              <a:ext cx="242888" cy="93107"/>
            </a:xfrm>
            <a:custGeom>
              <a:avLst/>
              <a:gdLst/>
              <a:ahLst/>
              <a:cxnLst/>
              <a:rect l="l" t="t" r="r" b="b"/>
              <a:pathLst>
                <a:path w="242888" h="93107">
                  <a:moveTo>
                    <a:pt x="225422" y="10326"/>
                  </a:moveTo>
                  <a:cubicBezTo>
                    <a:pt x="231116" y="7479"/>
                    <a:pt x="237064" y="4044"/>
                    <a:pt x="242888" y="0"/>
                  </a:cubicBezTo>
                  <a:lnTo>
                    <a:pt x="242888" y="32385"/>
                  </a:lnTo>
                  <a:cubicBezTo>
                    <a:pt x="242888" y="65920"/>
                    <a:pt x="188515" y="93107"/>
                    <a:pt x="121444" y="93107"/>
                  </a:cubicBezTo>
                  <a:cubicBezTo>
                    <a:pt x="54372" y="93107"/>
                    <a:pt x="0" y="65920"/>
                    <a:pt x="0" y="32385"/>
                  </a:cubicBezTo>
                  <a:lnTo>
                    <a:pt x="0" y="0"/>
                  </a:lnTo>
                  <a:cubicBezTo>
                    <a:pt x="5824" y="4044"/>
                    <a:pt x="11772" y="7479"/>
                    <a:pt x="17466" y="10326"/>
                  </a:cubicBezTo>
                  <a:cubicBezTo>
                    <a:pt x="46168" y="24677"/>
                    <a:pt x="82986" y="32385"/>
                    <a:pt x="121444" y="32385"/>
                  </a:cubicBezTo>
                  <a:cubicBezTo>
                    <a:pt x="159901" y="32385"/>
                    <a:pt x="196719" y="24677"/>
                    <a:pt x="225422" y="10326"/>
                  </a:cubicBezTo>
                  <a:close/>
                </a:path>
              </a:pathLst>
            </a:custGeom>
            <a:solidFill>
              <a:srgbClr val="19A38C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7260431" y="3412093"/>
              <a:ext cx="242888" cy="93107"/>
            </a:xfrm>
            <a:custGeom>
              <a:avLst/>
              <a:gdLst/>
              <a:ahLst/>
              <a:cxnLst/>
              <a:rect l="l" t="t" r="r" b="b"/>
              <a:pathLst>
                <a:path w="242888" h="93107">
                  <a:moveTo>
                    <a:pt x="0" y="0"/>
                  </a:moveTo>
                  <a:lnTo>
                    <a:pt x="0" y="32385"/>
                  </a:lnTo>
                  <a:cubicBezTo>
                    <a:pt x="0" y="65922"/>
                    <a:pt x="54372" y="93107"/>
                    <a:pt x="121444" y="93107"/>
                  </a:cubicBezTo>
                  <a:cubicBezTo>
                    <a:pt x="188515" y="93107"/>
                    <a:pt x="242888" y="65922"/>
                    <a:pt x="242888" y="32385"/>
                  </a:cubicBezTo>
                  <a:lnTo>
                    <a:pt x="242888" y="0"/>
                  </a:lnTo>
                  <a:cubicBezTo>
                    <a:pt x="237064" y="4044"/>
                    <a:pt x="231116" y="7479"/>
                    <a:pt x="225422" y="10327"/>
                  </a:cubicBezTo>
                  <a:cubicBezTo>
                    <a:pt x="196719" y="24677"/>
                    <a:pt x="159901" y="32385"/>
                    <a:pt x="121444" y="32385"/>
                  </a:cubicBezTo>
                  <a:cubicBezTo>
                    <a:pt x="82986" y="32385"/>
                    <a:pt x="46168" y="24677"/>
                    <a:pt x="17466" y="10327"/>
                  </a:cubicBezTo>
                  <a:cubicBezTo>
                    <a:pt x="11772" y="7479"/>
                    <a:pt x="5824" y="4044"/>
                    <a:pt x="0" y="0"/>
                  </a:cubicBezTo>
                  <a:close/>
                </a:path>
              </a:pathLst>
            </a:custGeom>
            <a:solidFill>
              <a:srgbClr val="19A38C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7260431" y="3181350"/>
              <a:ext cx="242888" cy="121444"/>
            </a:xfrm>
            <a:custGeom>
              <a:avLst/>
              <a:gdLst/>
              <a:ahLst/>
              <a:cxnLst/>
              <a:rect l="l" t="t" r="r" b="b"/>
              <a:pathLst>
                <a:path w="242888" h="121444">
                  <a:moveTo>
                    <a:pt x="121444" y="0"/>
                  </a:moveTo>
                  <a:cubicBezTo>
                    <a:pt x="188515" y="0"/>
                    <a:pt x="242888" y="27186"/>
                    <a:pt x="242888" y="60722"/>
                  </a:cubicBezTo>
                  <a:cubicBezTo>
                    <a:pt x="242888" y="94258"/>
                    <a:pt x="188515" y="121444"/>
                    <a:pt x="121444" y="121444"/>
                  </a:cubicBezTo>
                  <a:cubicBezTo>
                    <a:pt x="54372" y="121444"/>
                    <a:pt x="0" y="94258"/>
                    <a:pt x="0" y="60722"/>
                  </a:cubicBezTo>
                  <a:cubicBezTo>
                    <a:pt x="0" y="27186"/>
                    <a:pt x="54372" y="0"/>
                    <a:pt x="121444" y="0"/>
                  </a:cubicBezTo>
                  <a:close/>
                </a:path>
              </a:pathLst>
            </a:custGeom>
            <a:solidFill>
              <a:srgbClr val="19A38C"/>
            </a:solidFill>
            <a:ln>
              <a:noFill/>
            </a:ln>
          </p:spPr>
        </p:sp>
      </p:grpSp>
      <p:sp>
        <p:nvSpPr>
          <p:cNvPr id="34" name="Freeform 34"/>
          <p:cNvSpPr/>
          <p:nvPr/>
        </p:nvSpPr>
        <p:spPr>
          <a:xfrm>
            <a:off x="9944100" y="3181350"/>
            <a:ext cx="323850" cy="323850"/>
          </a:xfrm>
          <a:custGeom>
            <a:avLst/>
            <a:gdLst/>
            <a:ahLst/>
            <a:cxnLst/>
            <a:rect l="l" t="t" r="r" b="b"/>
            <a:pathLst>
              <a:path w="323850" h="323850">
                <a:moveTo>
                  <a:pt x="202406" y="141684"/>
                </a:moveTo>
                <a:lnTo>
                  <a:pt x="182166" y="121444"/>
                </a:lnTo>
                <a:lnTo>
                  <a:pt x="228575" y="75034"/>
                </a:lnTo>
                <a:lnTo>
                  <a:pt x="218625" y="65084"/>
                </a:lnTo>
                <a:cubicBezTo>
                  <a:pt x="202872" y="49331"/>
                  <a:pt x="181507" y="40481"/>
                  <a:pt x="159228" y="40481"/>
                </a:cubicBezTo>
                <a:cubicBezTo>
                  <a:pt x="93897" y="40481"/>
                  <a:pt x="40481" y="94729"/>
                  <a:pt x="40481" y="160564"/>
                </a:cubicBezTo>
                <a:cubicBezTo>
                  <a:pt x="40481" y="227887"/>
                  <a:pt x="95104" y="283369"/>
                  <a:pt x="161925" y="283369"/>
                </a:cubicBezTo>
                <a:cubicBezTo>
                  <a:pt x="193036" y="283369"/>
                  <a:pt x="224082" y="271516"/>
                  <a:pt x="247798" y="247798"/>
                </a:cubicBezTo>
                <a:lnTo>
                  <a:pt x="276424" y="276424"/>
                </a:lnTo>
                <a:cubicBezTo>
                  <a:pt x="244810" y="308038"/>
                  <a:pt x="203333" y="323850"/>
                  <a:pt x="161925" y="323850"/>
                </a:cubicBezTo>
                <a:cubicBezTo>
                  <a:pt x="72245" y="323850"/>
                  <a:pt x="0" y="249739"/>
                  <a:pt x="0" y="160564"/>
                </a:cubicBezTo>
                <a:cubicBezTo>
                  <a:pt x="0" y="72877"/>
                  <a:pt x="71038" y="0"/>
                  <a:pt x="159228" y="0"/>
                </a:cubicBezTo>
                <a:cubicBezTo>
                  <a:pt x="192243" y="0"/>
                  <a:pt x="223906" y="13115"/>
                  <a:pt x="247249" y="36460"/>
                </a:cubicBezTo>
                <a:lnTo>
                  <a:pt x="257200" y="46410"/>
                </a:lnTo>
                <a:lnTo>
                  <a:pt x="303609" y="0"/>
                </a:lnTo>
                <a:lnTo>
                  <a:pt x="323850" y="20241"/>
                </a:lnTo>
                <a:lnTo>
                  <a:pt x="323850" y="141684"/>
                </a:lnTo>
                <a:lnTo>
                  <a:pt x="202406" y="141684"/>
                </a:lnTo>
                <a:close/>
              </a:path>
            </a:pathLst>
          </a:custGeom>
          <a:solidFill>
            <a:srgbClr val="1F9D68"/>
          </a:solidFill>
          <a:ln>
            <a:noFill/>
          </a:ln>
        </p:spPr>
      </p:sp>
      <p:sp>
        <p:nvSpPr>
          <p:cNvPr id="35" name="Line 35"/>
          <p:cNvSpPr/>
          <p:nvPr/>
        </p:nvSpPr>
        <p:spPr>
          <a:xfrm>
            <a:off x="3276600" y="310515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47625">
            <a:solidFill>
              <a:srgbClr val="5B8DEF"/>
            </a:solidFill>
          </a:ln>
        </p:spPr>
      </p:sp>
      <p:sp>
        <p:nvSpPr>
          <p:cNvPr id="36" name="Polygon 36"/>
          <p:cNvSpPr/>
          <p:nvPr/>
        </p:nvSpPr>
        <p:spPr>
          <a:xfrm>
            <a:off x="3333750" y="30289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76200"/>
                </a:move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5B8DEF"/>
          </a:solidFill>
          <a:ln>
            <a:noFill/>
          </a:ln>
        </p:spPr>
      </p:sp>
      <p:sp>
        <p:nvSpPr>
          <p:cNvPr id="37" name="Line 37"/>
          <p:cNvSpPr/>
          <p:nvPr/>
        </p:nvSpPr>
        <p:spPr>
          <a:xfrm>
            <a:off x="6000750" y="310515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47625">
            <a:solidFill>
              <a:srgbClr val="5B8DEF"/>
            </a:solidFill>
          </a:ln>
        </p:spPr>
      </p:sp>
      <p:sp>
        <p:nvSpPr>
          <p:cNvPr id="38" name="Polygon 38"/>
          <p:cNvSpPr/>
          <p:nvPr/>
        </p:nvSpPr>
        <p:spPr>
          <a:xfrm>
            <a:off x="6057900" y="30289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76200"/>
                </a:move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5B8DEF"/>
          </a:solidFill>
          <a:ln>
            <a:noFill/>
          </a:ln>
        </p:spPr>
      </p:sp>
      <p:sp>
        <p:nvSpPr>
          <p:cNvPr id="39" name="Line 39"/>
          <p:cNvSpPr/>
          <p:nvPr/>
        </p:nvSpPr>
        <p:spPr>
          <a:xfrm>
            <a:off x="8724900" y="310515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47625">
            <a:solidFill>
              <a:srgbClr val="5B8DEF"/>
            </a:solidFill>
          </a:ln>
        </p:spPr>
      </p:sp>
      <p:sp>
        <p:nvSpPr>
          <p:cNvPr id="40" name="Polygon 40"/>
          <p:cNvSpPr/>
          <p:nvPr/>
        </p:nvSpPr>
        <p:spPr>
          <a:xfrm>
            <a:off x="8782050" y="30289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76200"/>
                </a:move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5B8DEF"/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1466850" y="4324350"/>
            <a:ext cx="9334500" cy="14097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42" name="Rectangle 42"/>
          <p:cNvSpPr/>
          <p:nvPr/>
        </p:nvSpPr>
        <p:spPr>
          <a:xfrm>
            <a:off x="1428750" y="4267200"/>
            <a:ext cx="9334500" cy="1409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1428750" y="4267200"/>
            <a:ext cx="9334500" cy="57150"/>
          </a:xfrm>
          <a:prstGeom prst="rect">
            <a:avLst/>
          </a:prstGeom>
          <a:solidFill>
            <a:srgbClr val="D9485F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1693545" y="443198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显式失败原则</a:t>
            </a:r>
          </a:p>
        </p:txBody>
      </p:sp>
      <p:sp>
        <p:nvSpPr>
          <p:cNvPr id="45" name="Ellipse 45"/>
          <p:cNvSpPr/>
          <p:nvPr/>
        </p:nvSpPr>
        <p:spPr>
          <a:xfrm>
            <a:off x="1819275" y="4962525"/>
            <a:ext cx="95250" cy="95250"/>
          </a:xfrm>
          <a:prstGeom prst="ellipse">
            <a:avLst/>
          </a:prstGeom>
          <a:solidFill>
            <a:srgbClr val="D9485F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2004060" y="4937760"/>
            <a:ext cx="37109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主密钥只由启动环境提供，不写入源码或数据库</a:t>
            </a:r>
          </a:p>
        </p:txBody>
      </p:sp>
      <p:sp>
        <p:nvSpPr>
          <p:cNvPr id="47" name="Ellipse 47"/>
          <p:cNvSpPr/>
          <p:nvPr/>
        </p:nvSpPr>
        <p:spPr>
          <a:xfrm>
            <a:off x="1819275" y="5248275"/>
            <a:ext cx="95250" cy="95250"/>
          </a:xfrm>
          <a:prstGeom prst="ellipse">
            <a:avLst/>
          </a:prstGeom>
          <a:solidFill>
            <a:srgbClr val="D9485F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2004060" y="5223510"/>
            <a:ext cx="37109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主密钥缺失或解密失败时接口直接返回明确错误</a:t>
            </a:r>
          </a:p>
        </p:txBody>
      </p:sp>
      <p:sp>
        <p:nvSpPr>
          <p:cNvPr id="49" name="Ellipse 49"/>
          <p:cNvSpPr/>
          <p:nvPr/>
        </p:nvSpPr>
        <p:spPr>
          <a:xfrm>
            <a:off x="1819275" y="5534025"/>
            <a:ext cx="95250" cy="95250"/>
          </a:xfrm>
          <a:prstGeom prst="ellipse">
            <a:avLst/>
          </a:prstGeom>
          <a:solidFill>
            <a:srgbClr val="D9485F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2004060" y="5509260"/>
            <a:ext cx="33779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系统不做静默降级，也不伪造“可连接”状态</a:t>
            </a:r>
          </a:p>
        </p:txBody>
      </p:sp>
    </p:spTree>
  </p:cSld>
  <p:clrMapOvr>
    <a:masterClrMapping/>
  </p:clrMapOvr>
  <p:transition 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B8DEF">
                  <a:alpha val="8000"/>
                </a:srgbClr>
              </a:gs>
              <a:gs pos="100000">
                <a:srgbClr val="5B8D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7313A"/>
              </a:gs>
              <a:gs pos="100000">
                <a:srgbClr val="19A38C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05778" y="193834"/>
            <a:ext cx="3724204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工程化链路让系统可交付</a:t>
            </a:r>
          </a:p>
        </p:txBody>
      </p:sp>
      <p:sp>
        <p:nvSpPr>
          <p:cNvPr id="6" name="Rectangle 6"/>
          <p:cNvSpPr/>
          <p:nvPr/>
        </p:nvSpPr>
        <p:spPr>
          <a:xfrm>
            <a:off x="533400" y="609600"/>
            <a:ext cx="11125200" cy="41910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25805" y="730568"/>
            <a:ext cx="64520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脚本、测试和桌面化运行能力共同提高了系统的稳定性和展示完成度。</a:t>
            </a:r>
          </a:p>
        </p:txBody>
      </p:sp>
      <p:sp>
        <p:nvSpPr>
          <p:cNvPr id="8" name="Line 8"/>
          <p:cNvSpPr/>
          <p:nvPr/>
        </p:nvSpPr>
        <p:spPr>
          <a:xfrm>
            <a:off x="0" y="66103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D8E0E8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371475" y="6691312"/>
            <a:ext cx="36776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Source: AI DataCenter repository and implemented product features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04886" y="6691312"/>
            <a:ext cx="258222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STRICTLY CONFIDENTIAL | AI DATACENTER SHOWCASE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680984" y="6691312"/>
            <a:ext cx="13954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  <p:sp>
        <p:nvSpPr>
          <p:cNvPr id="12" name="Rectangle 12"/>
          <p:cNvSpPr/>
          <p:nvPr/>
        </p:nvSpPr>
        <p:spPr>
          <a:xfrm>
            <a:off x="838200" y="1809750"/>
            <a:ext cx="2381250" cy="37147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800100" y="1752600"/>
            <a:ext cx="2381250" cy="3714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800100" y="1752600"/>
            <a:ext cx="2381250" cy="5715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1015014" y="2038350"/>
            <a:ext cx="255972" cy="266700"/>
          </a:xfrm>
          <a:custGeom>
            <a:avLst/>
            <a:gdLst/>
            <a:ahLst/>
            <a:cxnLst/>
            <a:rect l="l" t="t" r="r" b="b"/>
            <a:pathLst>
              <a:path w="255972" h="266700">
                <a:moveTo>
                  <a:pt x="102983" y="0"/>
                </a:moveTo>
                <a:lnTo>
                  <a:pt x="152989" y="0"/>
                </a:lnTo>
                <a:lnTo>
                  <a:pt x="162889" y="39596"/>
                </a:lnTo>
                <a:cubicBezTo>
                  <a:pt x="173452" y="43530"/>
                  <a:pt x="183171" y="49199"/>
                  <a:pt x="191699" y="56255"/>
                </a:cubicBezTo>
                <a:lnTo>
                  <a:pt x="230969" y="45022"/>
                </a:lnTo>
                <a:lnTo>
                  <a:pt x="255972" y="88328"/>
                </a:lnTo>
                <a:lnTo>
                  <a:pt x="226620" y="116709"/>
                </a:lnTo>
                <a:cubicBezTo>
                  <a:pt x="227527" y="122121"/>
                  <a:pt x="227998" y="127680"/>
                  <a:pt x="227998" y="133350"/>
                </a:cubicBezTo>
                <a:cubicBezTo>
                  <a:pt x="227998" y="139020"/>
                  <a:pt x="227527" y="144579"/>
                  <a:pt x="226620" y="149991"/>
                </a:cubicBezTo>
                <a:lnTo>
                  <a:pt x="255972" y="178372"/>
                </a:lnTo>
                <a:lnTo>
                  <a:pt x="230969" y="221678"/>
                </a:lnTo>
                <a:lnTo>
                  <a:pt x="191699" y="210445"/>
                </a:lnTo>
                <a:cubicBezTo>
                  <a:pt x="183171" y="217501"/>
                  <a:pt x="173452" y="223170"/>
                  <a:pt x="162889" y="227103"/>
                </a:cubicBezTo>
                <a:lnTo>
                  <a:pt x="152989" y="266700"/>
                </a:lnTo>
                <a:lnTo>
                  <a:pt x="102983" y="266700"/>
                </a:lnTo>
                <a:lnTo>
                  <a:pt x="93084" y="227103"/>
                </a:lnTo>
                <a:cubicBezTo>
                  <a:pt x="82521" y="223170"/>
                  <a:pt x="72801" y="217501"/>
                  <a:pt x="64273" y="210445"/>
                </a:cubicBezTo>
                <a:lnTo>
                  <a:pt x="25003" y="221678"/>
                </a:lnTo>
                <a:lnTo>
                  <a:pt x="0" y="178372"/>
                </a:lnTo>
                <a:lnTo>
                  <a:pt x="29352" y="149991"/>
                </a:lnTo>
                <a:cubicBezTo>
                  <a:pt x="28445" y="144579"/>
                  <a:pt x="27974" y="139020"/>
                  <a:pt x="27974" y="133350"/>
                </a:cubicBezTo>
                <a:cubicBezTo>
                  <a:pt x="27974" y="127680"/>
                  <a:pt x="28445" y="122121"/>
                  <a:pt x="29352" y="116709"/>
                </a:cubicBezTo>
                <a:lnTo>
                  <a:pt x="0" y="88328"/>
                </a:lnTo>
                <a:lnTo>
                  <a:pt x="25003" y="45022"/>
                </a:lnTo>
                <a:lnTo>
                  <a:pt x="64273" y="56255"/>
                </a:lnTo>
                <a:cubicBezTo>
                  <a:pt x="72801" y="49199"/>
                  <a:pt x="82520" y="43530"/>
                  <a:pt x="93084" y="39596"/>
                </a:cubicBezTo>
                <a:lnTo>
                  <a:pt x="102983" y="0"/>
                </a:lnTo>
                <a:close/>
                <a:moveTo>
                  <a:pt x="127986" y="166688"/>
                </a:moveTo>
                <a:cubicBezTo>
                  <a:pt x="146398" y="166688"/>
                  <a:pt x="161323" y="151762"/>
                  <a:pt x="161323" y="133350"/>
                </a:cubicBezTo>
                <a:cubicBezTo>
                  <a:pt x="161323" y="114938"/>
                  <a:pt x="146398" y="100012"/>
                  <a:pt x="127986" y="100012"/>
                </a:cubicBezTo>
                <a:cubicBezTo>
                  <a:pt x="109574" y="100012"/>
                  <a:pt x="94649" y="114938"/>
                  <a:pt x="94649" y="133350"/>
                </a:cubicBezTo>
                <a:cubicBezTo>
                  <a:pt x="94649" y="151762"/>
                  <a:pt x="109574" y="166688"/>
                  <a:pt x="127986" y="166688"/>
                </a:cubicBezTo>
                <a:close/>
              </a:path>
            </a:pathLst>
          </a:custGeom>
          <a:solidFill>
            <a:srgbClr val="17313A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369695" y="20697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启动治理</a:t>
            </a:r>
          </a:p>
        </p:txBody>
      </p:sp>
      <p:sp>
        <p:nvSpPr>
          <p:cNvPr id="17" name="Ellipse 17"/>
          <p:cNvSpPr/>
          <p:nvPr/>
        </p:nvSpPr>
        <p:spPr>
          <a:xfrm>
            <a:off x="1057275" y="2619375"/>
            <a:ext cx="95250" cy="95250"/>
          </a:xfrm>
          <a:prstGeom prst="ellipse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244918" y="2618899"/>
            <a:ext cx="14843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start-dev 清理旧进程</a:t>
            </a:r>
          </a:p>
        </p:txBody>
      </p:sp>
      <p:sp>
        <p:nvSpPr>
          <p:cNvPr id="19" name="Ellipse 19"/>
          <p:cNvSpPr/>
          <p:nvPr/>
        </p:nvSpPr>
        <p:spPr>
          <a:xfrm>
            <a:off x="1057275" y="2943225"/>
            <a:ext cx="95250" cy="95250"/>
          </a:xfrm>
          <a:prstGeom prst="ellipse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247775" y="2967038"/>
            <a:ext cx="181546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重新拉起 agent/backend/frontend</a:t>
            </a:r>
          </a:p>
        </p:txBody>
      </p:sp>
      <p:sp>
        <p:nvSpPr>
          <p:cNvPr id="21" name="Rectangle 21"/>
          <p:cNvSpPr/>
          <p:nvPr/>
        </p:nvSpPr>
        <p:spPr>
          <a:xfrm>
            <a:off x="3486150" y="1809750"/>
            <a:ext cx="2381250" cy="37147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3448050" y="1752600"/>
            <a:ext cx="2381250" cy="3714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3448050" y="1752600"/>
            <a:ext cx="2381250" cy="57150"/>
          </a:xfrm>
          <a:prstGeom prst="rect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24" name="Freeform 24"/>
          <p:cNvSpPr/>
          <p:nvPr/>
        </p:nvSpPr>
        <p:spPr>
          <a:xfrm>
            <a:off x="3657600" y="203835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700" y="91678"/>
                </a:moveTo>
                <a:cubicBezTo>
                  <a:pt x="266700" y="142311"/>
                  <a:pt x="225655" y="183356"/>
                  <a:pt x="175022" y="183356"/>
                </a:cubicBezTo>
                <a:lnTo>
                  <a:pt x="116681" y="183356"/>
                </a:lnTo>
                <a:lnTo>
                  <a:pt x="116681" y="216694"/>
                </a:lnTo>
                <a:lnTo>
                  <a:pt x="83344" y="216694"/>
                </a:lnTo>
                <a:lnTo>
                  <a:pt x="83344" y="250031"/>
                </a:lnTo>
                <a:lnTo>
                  <a:pt x="66675" y="266700"/>
                </a:lnTo>
                <a:lnTo>
                  <a:pt x="0" y="266700"/>
                </a:lnTo>
                <a:lnTo>
                  <a:pt x="0" y="200025"/>
                </a:lnTo>
                <a:lnTo>
                  <a:pt x="86069" y="113956"/>
                </a:lnTo>
                <a:cubicBezTo>
                  <a:pt x="84289" y="106824"/>
                  <a:pt x="83344" y="99361"/>
                  <a:pt x="83344" y="91678"/>
                </a:cubicBezTo>
                <a:cubicBezTo>
                  <a:pt x="83344" y="41046"/>
                  <a:pt x="124389" y="0"/>
                  <a:pt x="175022" y="0"/>
                </a:cubicBezTo>
                <a:cubicBezTo>
                  <a:pt x="225655" y="0"/>
                  <a:pt x="266700" y="41046"/>
                  <a:pt x="266700" y="91678"/>
                </a:cubicBezTo>
                <a:close/>
                <a:moveTo>
                  <a:pt x="216694" y="66675"/>
                </a:moveTo>
                <a:cubicBezTo>
                  <a:pt x="216694" y="75881"/>
                  <a:pt x="209231" y="83344"/>
                  <a:pt x="200025" y="83344"/>
                </a:cubicBezTo>
                <a:cubicBezTo>
                  <a:pt x="190819" y="83344"/>
                  <a:pt x="183356" y="75881"/>
                  <a:pt x="183356" y="66675"/>
                </a:cubicBezTo>
                <a:cubicBezTo>
                  <a:pt x="183356" y="57469"/>
                  <a:pt x="190819" y="50006"/>
                  <a:pt x="200025" y="50006"/>
                </a:cubicBezTo>
                <a:cubicBezTo>
                  <a:pt x="209231" y="50006"/>
                  <a:pt x="216694" y="57469"/>
                  <a:pt x="216694" y="66675"/>
                </a:cubicBezTo>
                <a:close/>
              </a:path>
            </a:pathLst>
          </a:custGeom>
          <a:solidFill>
            <a:srgbClr val="5B8DEF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017645" y="20697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依赖治理</a:t>
            </a:r>
          </a:p>
        </p:txBody>
      </p:sp>
      <p:sp>
        <p:nvSpPr>
          <p:cNvPr id="26" name="Ellipse 26"/>
          <p:cNvSpPr/>
          <p:nvPr/>
        </p:nvSpPr>
        <p:spPr>
          <a:xfrm>
            <a:off x="3705225" y="2619375"/>
            <a:ext cx="95250" cy="9525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3893820" y="2626995"/>
            <a:ext cx="179736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install-deps 处理 .venv 占用</a:t>
            </a:r>
          </a:p>
        </p:txBody>
      </p:sp>
      <p:sp>
        <p:nvSpPr>
          <p:cNvPr id="28" name="Ellipse 28"/>
          <p:cNvSpPr/>
          <p:nvPr/>
        </p:nvSpPr>
        <p:spPr>
          <a:xfrm>
            <a:off x="3705225" y="2943225"/>
            <a:ext cx="95250" cy="9525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3893820" y="2950845"/>
            <a:ext cx="18828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修复 Windows optional binding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134100" y="1809750"/>
            <a:ext cx="2381250" cy="37147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6096000" y="1752600"/>
            <a:ext cx="2381250" cy="3714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6096000" y="1752600"/>
            <a:ext cx="2381250" cy="57150"/>
          </a:xfrm>
          <a:prstGeom prst="rect">
            <a:avLst/>
          </a:prstGeom>
          <a:solidFill>
            <a:srgbClr val="19A38C"/>
          </a:solidFill>
          <a:ln>
            <a:noFill/>
          </a:ln>
        </p:spPr>
      </p:sp>
      <p:grpSp>
        <p:nvGrpSpPr>
          <p:cNvPr id="36" name="Group 36"/>
          <p:cNvGrpSpPr/>
          <p:nvPr/>
        </p:nvGrpSpPr>
        <p:grpSpPr>
          <a:xfrm>
            <a:off x="6305550" y="2055019"/>
            <a:ext cx="266700" cy="233363"/>
            <a:chOff x="6305550" y="2055019"/>
            <a:chExt cx="266700" cy="233363"/>
          </a:xfrm>
        </p:grpSpPr>
        <p:sp>
          <p:nvSpPr>
            <p:cNvPr id="33" name="Freeform 33"/>
            <p:cNvSpPr/>
            <p:nvPr/>
          </p:nvSpPr>
          <p:spPr>
            <a:xfrm>
              <a:off x="6505575" y="2055019"/>
              <a:ext cx="66675" cy="233362"/>
            </a:xfrm>
            <a:custGeom>
              <a:avLst/>
              <a:gdLst/>
              <a:ahLst/>
              <a:cxnLst/>
              <a:rect l="l" t="t" r="r" b="b"/>
              <a:pathLst>
                <a:path w="66675" h="233362">
                  <a:moveTo>
                    <a:pt x="66675" y="0"/>
                  </a:moveTo>
                  <a:lnTo>
                    <a:pt x="0" y="0"/>
                  </a:lnTo>
                  <a:lnTo>
                    <a:pt x="0" y="233362"/>
                  </a:lnTo>
                  <a:lnTo>
                    <a:pt x="66675" y="233362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19A38C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6405562" y="2121694"/>
              <a:ext cx="66675" cy="166688"/>
            </a:xfrm>
            <a:custGeom>
              <a:avLst/>
              <a:gdLst/>
              <a:ahLst/>
              <a:cxnLst/>
              <a:rect l="l" t="t" r="r" b="b"/>
              <a:pathLst>
                <a:path w="66675" h="166688">
                  <a:moveTo>
                    <a:pt x="0" y="0"/>
                  </a:moveTo>
                  <a:lnTo>
                    <a:pt x="66675" y="0"/>
                  </a:lnTo>
                  <a:lnTo>
                    <a:pt x="66675" y="166688"/>
                  </a:lnTo>
                  <a:lnTo>
                    <a:pt x="0" y="1666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A38C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6305550" y="2188369"/>
              <a:ext cx="66675" cy="100012"/>
            </a:xfrm>
            <a:custGeom>
              <a:avLst/>
              <a:gdLst/>
              <a:ahLst/>
              <a:cxnLst/>
              <a:rect l="l" t="t" r="r" b="b"/>
              <a:pathLst>
                <a:path w="66675" h="100012">
                  <a:moveTo>
                    <a:pt x="0" y="0"/>
                  </a:moveTo>
                  <a:lnTo>
                    <a:pt x="66675" y="0"/>
                  </a:lnTo>
                  <a:lnTo>
                    <a:pt x="66675" y="100012"/>
                  </a:lnTo>
                  <a:lnTo>
                    <a:pt x="0" y="1000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A38C"/>
            </a:solidFill>
            <a:ln>
              <a:noFill/>
            </a:ln>
          </p:spPr>
        </p:sp>
      </p:grpSp>
      <p:sp>
        <p:nvSpPr>
          <p:cNvPr id="37" name="TextBox 37"/>
          <p:cNvSpPr txBox="1"/>
          <p:nvPr/>
        </p:nvSpPr>
        <p:spPr>
          <a:xfrm>
            <a:off x="6665595" y="20697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验证链路</a:t>
            </a:r>
          </a:p>
        </p:txBody>
      </p:sp>
      <p:sp>
        <p:nvSpPr>
          <p:cNvPr id="38" name="Ellipse 38"/>
          <p:cNvSpPr/>
          <p:nvPr/>
        </p:nvSpPr>
        <p:spPr>
          <a:xfrm>
            <a:off x="6353175" y="2619375"/>
            <a:ext cx="95250" cy="95250"/>
          </a:xfrm>
          <a:prstGeom prst="ellipse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6538912" y="2602706"/>
            <a:ext cx="19756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npm test / npm run build</a:t>
            </a:r>
          </a:p>
        </p:txBody>
      </p:sp>
      <p:sp>
        <p:nvSpPr>
          <p:cNvPr id="40" name="Ellipse 40"/>
          <p:cNvSpPr/>
          <p:nvPr/>
        </p:nvSpPr>
        <p:spPr>
          <a:xfrm>
            <a:off x="6353175" y="2943225"/>
            <a:ext cx="95250" cy="95250"/>
          </a:xfrm>
          <a:prstGeom prst="ellipse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538912" y="2926556"/>
            <a:ext cx="10883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根级 unittest</a:t>
            </a:r>
          </a:p>
        </p:txBody>
      </p:sp>
      <p:sp>
        <p:nvSpPr>
          <p:cNvPr id="42" name="Rectangle 42"/>
          <p:cNvSpPr/>
          <p:nvPr/>
        </p:nvSpPr>
        <p:spPr>
          <a:xfrm>
            <a:off x="8782050" y="1809750"/>
            <a:ext cx="2381250" cy="37147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8743950" y="1752600"/>
            <a:ext cx="2381250" cy="3714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44" name="Rectangle 44"/>
          <p:cNvSpPr/>
          <p:nvPr/>
        </p:nvSpPr>
        <p:spPr>
          <a:xfrm>
            <a:off x="8743950" y="1752600"/>
            <a:ext cx="2381250" cy="57150"/>
          </a:xfrm>
          <a:prstGeom prst="rect">
            <a:avLst/>
          </a:prstGeom>
          <a:solidFill>
            <a:srgbClr val="1F9D68"/>
          </a:solidFill>
          <a:ln>
            <a:noFill/>
          </a:ln>
        </p:spPr>
      </p:sp>
      <p:grpSp>
        <p:nvGrpSpPr>
          <p:cNvPr id="47" name="Group 47"/>
          <p:cNvGrpSpPr/>
          <p:nvPr/>
        </p:nvGrpSpPr>
        <p:grpSpPr>
          <a:xfrm>
            <a:off x="8953500" y="2071688"/>
            <a:ext cx="266700" cy="200025"/>
            <a:chOff x="8953500" y="2071688"/>
            <a:chExt cx="266700" cy="200025"/>
          </a:xfrm>
        </p:grpSpPr>
        <p:sp>
          <p:nvSpPr>
            <p:cNvPr id="45" name="Freeform 45"/>
            <p:cNvSpPr/>
            <p:nvPr/>
          </p:nvSpPr>
          <p:spPr>
            <a:xfrm>
              <a:off x="8953500" y="2071688"/>
              <a:ext cx="266700" cy="83344"/>
            </a:xfrm>
            <a:custGeom>
              <a:avLst/>
              <a:gdLst/>
              <a:ahLst/>
              <a:cxnLst/>
              <a:rect l="l" t="t" r="r" b="b"/>
              <a:pathLst>
                <a:path w="266700" h="83344">
                  <a:moveTo>
                    <a:pt x="266700" y="0"/>
                  </a:moveTo>
                  <a:lnTo>
                    <a:pt x="0" y="0"/>
                  </a:lnTo>
                  <a:lnTo>
                    <a:pt x="0" y="83344"/>
                  </a:lnTo>
                  <a:lnTo>
                    <a:pt x="266700" y="83344"/>
                  </a:lnTo>
                  <a:lnTo>
                    <a:pt x="266700" y="0"/>
                  </a:lnTo>
                  <a:close/>
                  <a:moveTo>
                    <a:pt x="66675" y="41672"/>
                  </a:moveTo>
                  <a:cubicBezTo>
                    <a:pt x="66675" y="50878"/>
                    <a:pt x="59212" y="58341"/>
                    <a:pt x="50006" y="58341"/>
                  </a:cubicBezTo>
                  <a:cubicBezTo>
                    <a:pt x="40800" y="58341"/>
                    <a:pt x="33338" y="50878"/>
                    <a:pt x="33338" y="41672"/>
                  </a:cubicBezTo>
                  <a:cubicBezTo>
                    <a:pt x="33338" y="32466"/>
                    <a:pt x="40800" y="25003"/>
                    <a:pt x="50006" y="25003"/>
                  </a:cubicBezTo>
                  <a:cubicBezTo>
                    <a:pt x="59212" y="25003"/>
                    <a:pt x="66675" y="32466"/>
                    <a:pt x="66675" y="41672"/>
                  </a:cubicBezTo>
                  <a:close/>
                </a:path>
              </a:pathLst>
            </a:custGeom>
            <a:solidFill>
              <a:srgbClr val="1F9D68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8953500" y="2188369"/>
              <a:ext cx="266700" cy="83344"/>
            </a:xfrm>
            <a:custGeom>
              <a:avLst/>
              <a:gdLst/>
              <a:ahLst/>
              <a:cxnLst/>
              <a:rect l="l" t="t" r="r" b="b"/>
              <a:pathLst>
                <a:path w="266700" h="83344">
                  <a:moveTo>
                    <a:pt x="266700" y="0"/>
                  </a:moveTo>
                  <a:lnTo>
                    <a:pt x="0" y="0"/>
                  </a:lnTo>
                  <a:lnTo>
                    <a:pt x="0" y="83344"/>
                  </a:lnTo>
                  <a:lnTo>
                    <a:pt x="266700" y="83344"/>
                  </a:lnTo>
                  <a:lnTo>
                    <a:pt x="266700" y="0"/>
                  </a:lnTo>
                  <a:close/>
                  <a:moveTo>
                    <a:pt x="50006" y="58341"/>
                  </a:moveTo>
                  <a:cubicBezTo>
                    <a:pt x="59212" y="58341"/>
                    <a:pt x="66675" y="50878"/>
                    <a:pt x="66675" y="41672"/>
                  </a:cubicBezTo>
                  <a:cubicBezTo>
                    <a:pt x="66675" y="32466"/>
                    <a:pt x="59212" y="25003"/>
                    <a:pt x="50006" y="25003"/>
                  </a:cubicBezTo>
                  <a:cubicBezTo>
                    <a:pt x="40800" y="25003"/>
                    <a:pt x="33338" y="32466"/>
                    <a:pt x="33338" y="41672"/>
                  </a:cubicBezTo>
                  <a:cubicBezTo>
                    <a:pt x="33338" y="50878"/>
                    <a:pt x="40800" y="58341"/>
                    <a:pt x="50006" y="58341"/>
                  </a:cubicBezTo>
                  <a:close/>
                </a:path>
              </a:pathLst>
            </a:custGeom>
            <a:solidFill>
              <a:srgbClr val="1F9D68"/>
            </a:solidFill>
            <a:ln>
              <a:noFill/>
            </a:ln>
          </p:spPr>
        </p:sp>
      </p:grpSp>
      <p:sp>
        <p:nvSpPr>
          <p:cNvPr id="48" name="TextBox 48"/>
          <p:cNvSpPr txBox="1"/>
          <p:nvPr/>
        </p:nvSpPr>
        <p:spPr>
          <a:xfrm>
            <a:off x="9313545" y="20697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交付形态</a:t>
            </a:r>
          </a:p>
        </p:txBody>
      </p:sp>
      <p:sp>
        <p:nvSpPr>
          <p:cNvPr id="49" name="Ellipse 49"/>
          <p:cNvSpPr/>
          <p:nvPr/>
        </p:nvSpPr>
        <p:spPr>
          <a:xfrm>
            <a:off x="9001125" y="2619375"/>
            <a:ext cx="95250" cy="95250"/>
          </a:xfrm>
          <a:prstGeom prst="ellipse">
            <a:avLst/>
          </a:prstGeom>
          <a:solidFill>
            <a:srgbClr val="1F9D68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9188768" y="2618899"/>
            <a:ext cx="10856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Electron 桌面壳</a:t>
            </a:r>
          </a:p>
        </p:txBody>
      </p:sp>
      <p:sp>
        <p:nvSpPr>
          <p:cNvPr id="51" name="Ellipse 51"/>
          <p:cNvSpPr/>
          <p:nvPr/>
        </p:nvSpPr>
        <p:spPr>
          <a:xfrm>
            <a:off x="9001125" y="2943225"/>
            <a:ext cx="95250" cy="95250"/>
          </a:xfrm>
          <a:prstGeom prst="ellipse">
            <a:avLst/>
          </a:prstGeom>
          <a:solidFill>
            <a:srgbClr val="1F9D68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9189720" y="2950845"/>
            <a:ext cx="15081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Windows 开发与打包脚本</a:t>
            </a:r>
          </a:p>
        </p:txBody>
      </p:sp>
      <p:sp>
        <p:nvSpPr>
          <p:cNvPr id="53" name="Rectangle 53"/>
          <p:cNvSpPr/>
          <p:nvPr/>
        </p:nvSpPr>
        <p:spPr>
          <a:xfrm>
            <a:off x="838200" y="5734050"/>
            <a:ext cx="10591800" cy="4953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54" name="Rectangle 54"/>
          <p:cNvSpPr/>
          <p:nvPr/>
        </p:nvSpPr>
        <p:spPr>
          <a:xfrm>
            <a:off x="800100" y="5676900"/>
            <a:ext cx="105918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55" name="Rectangle 55"/>
          <p:cNvSpPr/>
          <p:nvPr/>
        </p:nvSpPr>
        <p:spPr>
          <a:xfrm>
            <a:off x="800100" y="5676900"/>
            <a:ext cx="10591800" cy="5715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1068705" y="5845492"/>
            <a:ext cx="814970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这些脚本和校验链路的意义，是把项目从“能跑起来”提升到“可持续开发和可稳定展示”。</a:t>
            </a:r>
          </a:p>
        </p:txBody>
      </p:sp>
    </p:spTree>
  </p:cSld>
  <p:clrMapOvr>
    <a:masterClrMapping/>
  </p:clrMapOvr>
  <p:transition 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B8DEF">
                  <a:alpha val="8000"/>
                </a:srgbClr>
              </a:gs>
              <a:gs pos="100000">
                <a:srgbClr val="5B8D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7313A"/>
              </a:gs>
              <a:gs pos="100000">
                <a:srgbClr val="19A38C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05778" y="193834"/>
            <a:ext cx="3390662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三重边界形成项目优势</a:t>
            </a:r>
          </a:p>
        </p:txBody>
      </p:sp>
      <p:sp>
        <p:nvSpPr>
          <p:cNvPr id="6" name="Rectangle 6"/>
          <p:cNvSpPr/>
          <p:nvPr/>
        </p:nvSpPr>
        <p:spPr>
          <a:xfrm>
            <a:off x="533400" y="609600"/>
            <a:ext cx="11125200" cy="41910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25805" y="730568"/>
            <a:ext cx="769424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产品、技术与工程三条边界同时成立，让这套系统具备可展示、可解释和可扩展性。</a:t>
            </a:r>
          </a:p>
        </p:txBody>
      </p:sp>
      <p:sp>
        <p:nvSpPr>
          <p:cNvPr id="8" name="Line 8"/>
          <p:cNvSpPr/>
          <p:nvPr/>
        </p:nvSpPr>
        <p:spPr>
          <a:xfrm>
            <a:off x="0" y="66103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D8E0E8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371475" y="6691312"/>
            <a:ext cx="36776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Source: AI DataCenter repository and implemented product features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04886" y="6691312"/>
            <a:ext cx="258222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STRICTLY CONFIDENTIAL | AI DATACENTER SHOWCASE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680984" y="6691312"/>
            <a:ext cx="13954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  <p:sp>
        <p:nvSpPr>
          <p:cNvPr id="12" name="Rectangle 12"/>
          <p:cNvSpPr/>
          <p:nvPr/>
        </p:nvSpPr>
        <p:spPr>
          <a:xfrm>
            <a:off x="838200" y="1657350"/>
            <a:ext cx="2381250" cy="13906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800100" y="1600200"/>
            <a:ext cx="2381250" cy="13906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800100" y="1600200"/>
            <a:ext cx="2381250" cy="5715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61072" y="1777841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接入模式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9165" y="2010728"/>
            <a:ext cx="279847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0120" y="2417445"/>
            <a:ext cx="10744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覆盖不同目标环境</a:t>
            </a:r>
          </a:p>
        </p:txBody>
      </p:sp>
      <p:sp>
        <p:nvSpPr>
          <p:cNvPr id="18" name="Rectangle 18"/>
          <p:cNvSpPr/>
          <p:nvPr/>
        </p:nvSpPr>
        <p:spPr>
          <a:xfrm>
            <a:off x="3486150" y="1657350"/>
            <a:ext cx="2381250" cy="13906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3448050" y="1600200"/>
            <a:ext cx="2381250" cy="13906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3448050" y="1600200"/>
            <a:ext cx="2381250" cy="57150"/>
          </a:xfrm>
          <a:prstGeom prst="rect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3609022" y="1777841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导入阶段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587115" y="2010728"/>
            <a:ext cx="279847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9A38C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608070" y="241744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接入逻辑前置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134100" y="1657350"/>
            <a:ext cx="2381250" cy="13906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6096000" y="1600200"/>
            <a:ext cx="2381250" cy="13906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6096000" y="1600200"/>
            <a:ext cx="2381250" cy="57150"/>
          </a:xfrm>
          <a:prstGeom prst="rect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256972" y="1777841"/>
            <a:ext cx="6535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控制台模块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235065" y="2010728"/>
            <a:ext cx="49492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5B8DEF"/>
                </a:solidFill>
                <a:latin typeface="Arial"/>
                <a:ea typeface="Microsoft YaHei"/>
                <a:cs typeface="Arial"/>
              </a:rPr>
              <a:t>6+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256020" y="2417445"/>
            <a:ext cx="10744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治理场景已成体系</a:t>
            </a:r>
          </a:p>
        </p:txBody>
      </p:sp>
      <p:sp>
        <p:nvSpPr>
          <p:cNvPr id="30" name="Rectangle 30"/>
          <p:cNvSpPr/>
          <p:nvPr/>
        </p:nvSpPr>
        <p:spPr>
          <a:xfrm>
            <a:off x="8782050" y="1657350"/>
            <a:ext cx="2381250" cy="13906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8743950" y="1600200"/>
            <a:ext cx="2381250" cy="13906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8743950" y="1600200"/>
            <a:ext cx="2381250" cy="57150"/>
          </a:xfrm>
          <a:prstGeom prst="rect">
            <a:avLst/>
          </a:prstGeom>
          <a:solidFill>
            <a:srgbClr val="1F9D68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904922" y="1777841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安全链路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883015" y="2010728"/>
            <a:ext cx="182085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F9D68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903970" y="2417445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B6776"/>
                </a:solidFill>
                <a:latin typeface="Arial"/>
                <a:ea typeface="Microsoft YaHei"/>
                <a:cs typeface="Arial"/>
              </a:rPr>
              <a:t>主密钥统一托底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38200" y="3448050"/>
            <a:ext cx="3238500" cy="24193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800100" y="3390900"/>
            <a:ext cx="3238500" cy="2419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800100" y="3390900"/>
            <a:ext cx="3238500" cy="5715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1024890" y="353949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产品边界</a:t>
            </a:r>
          </a:p>
        </p:txBody>
      </p:sp>
      <p:sp>
        <p:nvSpPr>
          <p:cNvPr id="40" name="Ellipse 40"/>
          <p:cNvSpPr/>
          <p:nvPr/>
        </p:nvSpPr>
        <p:spPr>
          <a:xfrm>
            <a:off x="1114425" y="4124325"/>
            <a:ext cx="95250" cy="95250"/>
          </a:xfrm>
          <a:prstGeom prst="ellipse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299210" y="4099560"/>
            <a:ext cx="26593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登录、导入、控制台三层职责清晰</a:t>
            </a:r>
          </a:p>
        </p:txBody>
      </p:sp>
      <p:sp>
        <p:nvSpPr>
          <p:cNvPr id="42" name="Ellipse 42"/>
          <p:cNvSpPr/>
          <p:nvPr/>
        </p:nvSpPr>
        <p:spPr>
          <a:xfrm>
            <a:off x="1114425" y="4524375"/>
            <a:ext cx="95250" cy="95250"/>
          </a:xfrm>
          <a:prstGeom prst="ellipse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1299210" y="4499610"/>
            <a:ext cx="1607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只治理本次导入范围</a:t>
            </a:r>
          </a:p>
        </p:txBody>
      </p:sp>
      <p:sp>
        <p:nvSpPr>
          <p:cNvPr id="44" name="Rectangle 44"/>
          <p:cNvSpPr/>
          <p:nvPr/>
        </p:nvSpPr>
        <p:spPr>
          <a:xfrm>
            <a:off x="4381500" y="3448050"/>
            <a:ext cx="3238500" cy="24193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4343400" y="3390900"/>
            <a:ext cx="3238500" cy="2419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4343400" y="3390900"/>
            <a:ext cx="3238500" cy="57150"/>
          </a:xfrm>
          <a:prstGeom prst="rect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4568190" y="353949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技术边界</a:t>
            </a:r>
          </a:p>
        </p:txBody>
      </p:sp>
      <p:sp>
        <p:nvSpPr>
          <p:cNvPr id="48" name="Ellipse 48"/>
          <p:cNvSpPr/>
          <p:nvPr/>
        </p:nvSpPr>
        <p:spPr>
          <a:xfrm>
            <a:off x="4657725" y="4124325"/>
            <a:ext cx="95250" cy="9525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4842510" y="4099560"/>
            <a:ext cx="147637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Agent/SSH 双接入</a:t>
            </a:r>
          </a:p>
        </p:txBody>
      </p:sp>
      <p:sp>
        <p:nvSpPr>
          <p:cNvPr id="50" name="Ellipse 50"/>
          <p:cNvSpPr/>
          <p:nvPr/>
        </p:nvSpPr>
        <p:spPr>
          <a:xfrm>
            <a:off x="4657725" y="4524375"/>
            <a:ext cx="95250" cy="9525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4842510" y="4499610"/>
            <a:ext cx="198462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Runtime scope 统一抽象</a:t>
            </a:r>
          </a:p>
        </p:txBody>
      </p:sp>
      <p:sp>
        <p:nvSpPr>
          <p:cNvPr id="52" name="Rectangle 52"/>
          <p:cNvSpPr/>
          <p:nvPr/>
        </p:nvSpPr>
        <p:spPr>
          <a:xfrm>
            <a:off x="7924800" y="3448050"/>
            <a:ext cx="3238500" cy="241935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53" name="Rectangle 53"/>
          <p:cNvSpPr/>
          <p:nvPr/>
        </p:nvSpPr>
        <p:spPr>
          <a:xfrm>
            <a:off x="7886700" y="3390900"/>
            <a:ext cx="3238500" cy="2419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54" name="Rectangle 54"/>
          <p:cNvSpPr/>
          <p:nvPr/>
        </p:nvSpPr>
        <p:spPr>
          <a:xfrm>
            <a:off x="7886700" y="3390900"/>
            <a:ext cx="3238500" cy="57150"/>
          </a:xfrm>
          <a:prstGeom prst="rect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8111490" y="353949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工程边界</a:t>
            </a:r>
          </a:p>
        </p:txBody>
      </p:sp>
      <p:sp>
        <p:nvSpPr>
          <p:cNvPr id="56" name="Ellipse 56"/>
          <p:cNvSpPr/>
          <p:nvPr/>
        </p:nvSpPr>
        <p:spPr>
          <a:xfrm>
            <a:off x="8201025" y="4124325"/>
            <a:ext cx="95250" cy="95250"/>
          </a:xfrm>
          <a:prstGeom prst="ellipse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8385810" y="409956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主密钥凭据保护</a:t>
            </a:r>
          </a:p>
        </p:txBody>
      </p:sp>
      <p:sp>
        <p:nvSpPr>
          <p:cNvPr id="58" name="Ellipse 58"/>
          <p:cNvSpPr/>
          <p:nvPr/>
        </p:nvSpPr>
        <p:spPr>
          <a:xfrm>
            <a:off x="8201025" y="4524375"/>
            <a:ext cx="95250" cy="95250"/>
          </a:xfrm>
          <a:prstGeom prst="ellipse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8385810" y="4499610"/>
            <a:ext cx="1607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脚本与测试链路完善</a:t>
            </a:r>
          </a:p>
        </p:txBody>
      </p:sp>
    </p:spTree>
  </p:cSld>
  <p:clrMapOvr>
    <a:masterClrMapping/>
  </p:clrMapOvr>
  <p:transition 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B8DEF">
                  <a:alpha val="8000"/>
                </a:srgbClr>
              </a:gs>
              <a:gs pos="100000">
                <a:srgbClr val="5B8D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7313A"/>
              </a:gs>
              <a:gs pos="100000">
                <a:srgbClr val="19A38C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05778" y="193834"/>
            <a:ext cx="4391287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平台可向多机与智能调度演进</a:t>
            </a:r>
          </a:p>
        </p:txBody>
      </p:sp>
      <p:sp>
        <p:nvSpPr>
          <p:cNvPr id="6" name="Rectangle 6"/>
          <p:cNvSpPr/>
          <p:nvPr/>
        </p:nvSpPr>
        <p:spPr>
          <a:xfrm>
            <a:off x="533400" y="609600"/>
            <a:ext cx="11125200" cy="41910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25805" y="730568"/>
            <a:ext cx="70731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当前版本已经完成治理闭环，后续扩展空间则指向更大范围的资源协同能力。</a:t>
            </a:r>
          </a:p>
        </p:txBody>
      </p:sp>
      <p:sp>
        <p:nvSpPr>
          <p:cNvPr id="8" name="Line 8"/>
          <p:cNvSpPr/>
          <p:nvPr/>
        </p:nvSpPr>
        <p:spPr>
          <a:xfrm>
            <a:off x="0" y="66103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D8E0E8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371475" y="6691312"/>
            <a:ext cx="36776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Source: AI DataCenter repository and implemented product features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04886" y="6691312"/>
            <a:ext cx="258222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STRICTLY CONFIDENTIAL | AI DATACENTER SHOWCASE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680984" y="6691312"/>
            <a:ext cx="13954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8A94A3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  <p:sp>
        <p:nvSpPr>
          <p:cNvPr id="12" name="Rectangle 12"/>
          <p:cNvSpPr/>
          <p:nvPr/>
        </p:nvSpPr>
        <p:spPr>
          <a:xfrm>
            <a:off x="838200" y="1790700"/>
            <a:ext cx="10591800" cy="26670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800100" y="1733550"/>
            <a:ext cx="105918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800100" y="1733550"/>
            <a:ext cx="10591800" cy="57150"/>
          </a:xfrm>
          <a:prstGeom prst="rect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1447800" y="2781300"/>
            <a:ext cx="533400" cy="533400"/>
          </a:xfrm>
          <a:prstGeom prst="ellipse">
            <a:avLst/>
          </a:prstGeom>
          <a:solidFill>
            <a:srgbClr val="17313A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490329" y="2978468"/>
            <a:ext cx="4483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当前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99395" y="3627310"/>
            <a:ext cx="2830211" cy="1645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10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完成登录、导入层、SSH Linux 接入与控制台治理闭环</a:t>
            </a:r>
          </a:p>
        </p:txBody>
      </p:sp>
      <p:sp>
        <p:nvSpPr>
          <p:cNvPr id="18" name="Ellipse 18"/>
          <p:cNvSpPr/>
          <p:nvPr/>
        </p:nvSpPr>
        <p:spPr>
          <a:xfrm>
            <a:off x="5829300" y="2781300"/>
            <a:ext cx="533400" cy="533400"/>
          </a:xfrm>
          <a:prstGeom prst="ellipse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5768316" y="2978468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下一步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88431" y="3609499"/>
            <a:ext cx="30151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扩展多机导入、组织级资源视图与更多治理动作</a:t>
            </a:r>
          </a:p>
        </p:txBody>
      </p:sp>
      <p:sp>
        <p:nvSpPr>
          <p:cNvPr id="21" name="Ellipse 21"/>
          <p:cNvSpPr/>
          <p:nvPr/>
        </p:nvSpPr>
        <p:spPr>
          <a:xfrm>
            <a:off x="10191750" y="2781300"/>
            <a:ext cx="533400" cy="53340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0234279" y="2978468"/>
            <a:ext cx="4483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长期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093279" y="3609499"/>
            <a:ext cx="27303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引入智能调度、策略推荐和组织级运营能力</a:t>
            </a:r>
          </a:p>
        </p:txBody>
      </p:sp>
      <p:sp>
        <p:nvSpPr>
          <p:cNvPr id="24" name="Line 24"/>
          <p:cNvSpPr/>
          <p:nvPr/>
        </p:nvSpPr>
        <p:spPr>
          <a:xfrm>
            <a:off x="1981200" y="3048000"/>
            <a:ext cx="3848100" cy="9525"/>
          </a:xfrm>
          <a:custGeom>
            <a:avLst/>
            <a:gdLst/>
            <a:ahLst/>
            <a:cxnLst/>
            <a:rect l="l" t="t" r="r" b="b"/>
            <a:pathLst>
              <a:path w="3848100" h="9525">
                <a:moveTo>
                  <a:pt x="0" y="0"/>
                </a:moveTo>
                <a:lnTo>
                  <a:pt x="3848100" y="0"/>
                </a:lnTo>
              </a:path>
            </a:pathLst>
          </a:custGeom>
          <a:noFill/>
          <a:ln w="47625">
            <a:solidFill>
              <a:srgbClr val="5B8DEF"/>
            </a:solidFill>
          </a:ln>
        </p:spPr>
      </p:sp>
      <p:sp>
        <p:nvSpPr>
          <p:cNvPr id="25" name="Polygon 25"/>
          <p:cNvSpPr/>
          <p:nvPr/>
        </p:nvSpPr>
        <p:spPr>
          <a:xfrm>
            <a:off x="5676900" y="2971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76200"/>
                </a:move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5B8DEF"/>
          </a:solidFill>
          <a:ln>
            <a:noFill/>
          </a:ln>
        </p:spPr>
      </p:sp>
      <p:sp>
        <p:nvSpPr>
          <p:cNvPr id="26" name="Line 26"/>
          <p:cNvSpPr/>
          <p:nvPr/>
        </p:nvSpPr>
        <p:spPr>
          <a:xfrm>
            <a:off x="6362700" y="3048000"/>
            <a:ext cx="3829050" cy="9525"/>
          </a:xfrm>
          <a:custGeom>
            <a:avLst/>
            <a:gdLst/>
            <a:ahLst/>
            <a:cxnLst/>
            <a:rect l="l" t="t" r="r" b="b"/>
            <a:pathLst>
              <a:path w="3829050" h="9525">
                <a:moveTo>
                  <a:pt x="0" y="0"/>
                </a:moveTo>
                <a:lnTo>
                  <a:pt x="3829050" y="0"/>
                </a:lnTo>
              </a:path>
            </a:pathLst>
          </a:custGeom>
          <a:noFill/>
          <a:ln w="47625">
            <a:solidFill>
              <a:srgbClr val="5B8DEF"/>
            </a:solidFill>
          </a:ln>
        </p:spPr>
      </p:sp>
      <p:sp>
        <p:nvSpPr>
          <p:cNvPr id="27" name="Polygon 27"/>
          <p:cNvSpPr/>
          <p:nvPr/>
        </p:nvSpPr>
        <p:spPr>
          <a:xfrm>
            <a:off x="10039350" y="2971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76200"/>
                </a:move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5B8DEF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838200" y="4819650"/>
            <a:ext cx="10591800" cy="1104900"/>
          </a:xfrm>
          <a:prstGeom prst="rect">
            <a:avLst/>
          </a:prstGeom>
          <a:solidFill>
            <a:srgbClr val="17313A">
              <a:alpha val="5000"/>
            </a:srgbClr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800100" y="4762500"/>
            <a:ext cx="105918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800100" y="4762500"/>
            <a:ext cx="10591800" cy="57150"/>
          </a:xfrm>
          <a:prstGeom prst="rect">
            <a:avLst/>
          </a:prstGeom>
          <a:solidFill>
            <a:srgbClr val="19A38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3437370" y="4981575"/>
            <a:ext cx="531726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AI DataCenter 的核心价值，不只是把状态读出来，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650147" y="5248275"/>
            <a:ext cx="489170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而是把“谁来接入、导入哪些卡、如何安全治理”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006691" y="5514975"/>
            <a:ext cx="417861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7313A"/>
                </a:solidFill>
                <a:latin typeface="Arial"/>
                <a:ea typeface="Microsoft YaHei"/>
                <a:cs typeface="Arial"/>
              </a:rPr>
              <a:t>这三件事产品化、工程化并且可展示化。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571642" y="5626418"/>
            <a:ext cx="104871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9A38C"/>
                </a:solidFill>
                <a:latin typeface="Arial"/>
                <a:ea typeface="Microsoft YaHei"/>
                <a:cs typeface="Arial"/>
              </a:rPr>
              <a:t>THANK YOU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